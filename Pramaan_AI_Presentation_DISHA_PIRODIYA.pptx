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62"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46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India runs the world's most ambitious plastic recycling law. It has also paid for seventeen million tonnes of plastic to be recycled in four years, while the drains stay full. We want to propose a fix for that gap. Pramaan means proof: an independent layer that turns the paper trail behind an EPR credit into evidence a regulator can audit. I want to be upfront about one thing before I start. This is a proposal. We have not run this on real tonneage, and we have not sold anything to anyone. What we have done is build a small model of the problem to test whether the idea holds up, and that is what the numbers in this deck come from. If you select us, the first thing we do is put it in front of real paperwork.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Goal 12 asks the world to produce and consume responsibly. Two targets matter to us. Target 12.5 is about actually reducing and recycling waste. Target 12.6 is subtler and it is the one we chose: it asks companies to integrate sustainability information into their reporting cycle. The problem is that in India's plastic regime, reporting means self-declaration. So we asked a narrow question - what would it take to make that reporting verifiable? That question is specific, it has a deadline attached, and unlike most sustainability problems it can be measured to the rupee. That is why we chose it over the more familiar SDGs.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arithmetic that made us choose this problem. A brand owner must recycle its packaging. Real recycling of flexible plastic costs four to six thousand rupees a tonne. The government-mandated credit price is fifteen hundred. And if you miss your target you pay a penalty of about five thousand. So the brand faces three prices - four thousand for honest recycling, fifteen hundred for a certificate, five thousand for the fine. The middle option wins every time. That is not a morality problem, it is a price-signal problem, and it explains why CPCB's audits keep finding hundreds of thousands of invalid certificates. And as of June this year, the portal that let outsiders inspect any of this closed to the public.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existing option fails for a different reason. The compliance consultants and PROs actually sell the credits, so asking them to verify is asking the fox to audit the henhouse. The regulator's portal takes your word for it. Manual audits sample a handful of files and report weeks later. Big-4 assurance is excellent but built for a different job. So there is a position in this market nobody occupies: an independent verifier that sells no credits at all. That is the gap, and it is unusually clean, because an incumbent cannot move into it without closing its own revenue line.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Pramaan AI is not another dashboard. It is a verification engine with five specialists working behind one supervisor. The ingestion agent reads the messy reality - weighbridge slips, e-way bills, invoices, scanned Hindi documents, geotagged photos. The mass-balance agent checks something no human can check at scale: that a plant did not sell more pellets than it had feedstock to process. The capacity agent looks across thousands of certificates at once. The field-truth agent does image forensics and GPS plausibility. And the dossier agent assembles it into something a regulator or a court can follow. Every verdict comes with its evidence chain and its confidence score.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Architecturally there are three bands. The evidence band is deliberately boring - it accepts the artefacts that actually exist in this industry, including the badly scanned ones. The agent band is where the judgement happens: a supervisor routes each case to the specialist that can test it, and every agent has its own tools and guardrails. One design choice I want to highlight: all arithmetic and structural checks are deterministic code, not model output. The language models read documents; they do not decide whether thirty-two tonnes fit into a forty-tonne licence. That separation is what makes the verdict defensible. And everything is written to a hash-chained store, so no finding can be quietly changed after the fact.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I would point a sceptical reviewer to. We pre-registered eight ways to fake an EPR certificate, then measured which check catches each. Look at capacity breach: the paperwork is perfect, every document is internally consistent, and no document-parsing tool on earth will flag it. We catch fifteen out of fifteen, purely because we look across a facility's certificates and ask whether the monthly total exceeds what the plant can physically process. That is portfolio reasoning, and it is the hardest thing here for a competitor to copy. Equally important is the last row: a completely forged but self-consistent chain is not something documents can disprove. We miss it. We say so, and the roadmap addresses it with physical evidence.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Methodology in one line: we built the detector first, then built the test we could fail. The scope is deliberately cut to what one person can actually ship in twelve weeks - two agents and three checks on one category in one state - rather than describing five agents and twenty-five thousand live tonnes we could not deliver. The benchmark is sealed, so the engine never sees labels, and the weights inside it are domain priors, not values we tuned until the numbers looked good. We also deliberately included benign messiness: bills submitted late, photographs legitimately reused at one site, duplicate filings. That is why we can report an honest false-positive rate rather than a flattering zero. A classmate authors the held-out cases without seeing the engine, an independent auditor adjudicates our disagreements blind, and at the end we publish everything, including the parts that do not flatter us.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numbers, and I want to be precise about what they are and what they are not. They come from a synthetic benchmark we generated ourselves, of eleven hundred and fifty-three certificates. They are evidence that the method works, not evidence that we can catch real fraud. Two people outside the team have not seen this data. On our own benchmark we caught ninety-nine point three percent of the fraud the documents themselves contradict. Three quarters of certificates cleared without a human looking, which is what makes the economics work. The chart on the left is the result I would defend hardest: at any review budget, the engine finds several times more fraud than random sampling. The honest caveat is the second evaluation, where an independently written case set dropped us to sixty-four percent, and on twenty-five cases that number is a range, not a figure.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pricing is anchored to value, not cost. A PIBO is spending fifteen hundred rupees a tonne on credits and risking five thousand a tonne in penalties; twenty-five rupees a tonne to know the credit is real is one point seven percent of the value being assured. Our modelled cost is seven-fifty a tonne, and the honest line item in that table is field-truth sampling at five rupees - physical evidence is expensive, which is exactly why we apply it only to residual-risk cases rather than to everything. That gives roughly a seventy percent gross margin on a spend that is legally mandatory and recurs every year.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Lean Canvas in one slide. The problem is a ₹2,500 crore credit market resting on self-declaration. Our value proposition is that we make those claims provable - and the word independent is doing real work, because it is the one thing a credit-selling incumbent cannot say. Our unfair advantage compounds: every facility-month we verify makes the integrity map richer and the next verdict better. Revenue is per verified tonne plus subscriptions, and critically it attaches to a legal obligation rather than discretionary budget. And the key metrics are not aspirations - four of the five are already measured.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end on the limitation, because it is the most credible thing we can say. Our engine cannot catch a forgery that is internally perfect. Physical evidence can, and that is in the plan, but we will not pretend documents do a job they cannot do. What we have shown is that everything else - capacity fraud, mass-balance breaches, duplicate claims, credit cycles, reused photographs - can be caught automatically and cheaply, at a fifth of the review effort of sampling. In the next twelve months we want to prove that on live tonnes with an independent auditor checking our work. What we need is one pilot partner and one audit partner. If India is going to trade these certificates on an exchange, somebody has to rate them first. Thank you - I am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841248"/>
            <a:ext cx="7772400" cy="320040"/>
          </a:xfrm>
          <a:prstGeom prst="rect">
            <a:avLst/>
          </a:prstGeom>
          <a:noFill/>
        </p:spPr>
        <p:txBody>
          <a:bodyPr wrap="square" lIns="0" tIns="0" rIns="0" bIns="0" anchor="t">
            <a:spAutoFit/>
          </a:bodyPr>
          <a:lstStyle/>
          <a:p>
            <a:pPr algn="l">
              <a:lnSpc>
                <a:spcPct val="100000"/>
              </a:lnSpc>
              <a:spcAft>
                <a:spcPts val="0"/>
              </a:spcAft>
            </a:pPr>
            <a:r>
              <a:rPr sz="1250" b="1">
                <a:solidFill>
                  <a:srgbClr val="8A3FFC"/>
                </a:solidFill>
                <a:latin typeface="Segoe UI"/>
              </a:rPr>
              <a:t>IBM SKILLSBUILD INTERNSHIP · PROJECT PROPOSAL</a:t>
            </a:r>
          </a:p>
        </p:txBody>
      </p:sp>
      <p:sp>
        <p:nvSpPr>
          <p:cNvPr id="4" name="TextBox 3"/>
          <p:cNvSpPr txBox="1"/>
          <p:nvPr/>
        </p:nvSpPr>
        <p:spPr>
          <a:xfrm>
            <a:off x="822960" y="1298448"/>
            <a:ext cx="7315200" cy="1280160"/>
          </a:xfrm>
          <a:prstGeom prst="rect">
            <a:avLst/>
          </a:prstGeom>
          <a:noFill/>
        </p:spPr>
        <p:txBody>
          <a:bodyPr wrap="square" lIns="0" tIns="0" rIns="0" bIns="0" anchor="t">
            <a:spAutoFit/>
          </a:bodyPr>
          <a:lstStyle/>
          <a:p>
            <a:pPr algn="l">
              <a:lnSpc>
                <a:spcPct val="100000"/>
              </a:lnSpc>
              <a:spcAft>
                <a:spcPts val="0"/>
              </a:spcAft>
            </a:pPr>
            <a:r>
              <a:rPr sz="5200" b="1">
                <a:solidFill>
                  <a:srgbClr val="FFFFFF"/>
                </a:solidFill>
                <a:latin typeface="Segoe UI"/>
              </a:rPr>
              <a:t>Pramaan </a:t>
            </a:r>
            <a:r>
              <a:rPr sz="5200" b="1">
                <a:solidFill>
                  <a:srgbClr val="0F62FE"/>
                </a:solidFill>
                <a:latin typeface="Segoe UI"/>
              </a:rPr>
              <a:t>AI</a:t>
            </a:r>
          </a:p>
        </p:txBody>
      </p:sp>
      <p:sp>
        <p:nvSpPr>
          <p:cNvPr id="5" name="TextBox 4"/>
          <p:cNvSpPr txBox="1"/>
          <p:nvPr/>
        </p:nvSpPr>
        <p:spPr>
          <a:xfrm>
            <a:off x="822960" y="2340864"/>
            <a:ext cx="7955279" cy="1143000"/>
          </a:xfrm>
          <a:prstGeom prst="rect">
            <a:avLst/>
          </a:prstGeom>
          <a:noFill/>
        </p:spPr>
        <p:txBody>
          <a:bodyPr wrap="square" lIns="0" tIns="0" rIns="0" bIns="0" anchor="t">
            <a:spAutoFit/>
          </a:bodyPr>
          <a:lstStyle/>
          <a:p>
            <a:pPr algn="l">
              <a:lnSpc>
                <a:spcPct val="120000"/>
              </a:lnSpc>
              <a:spcAft>
                <a:spcPts val="0"/>
              </a:spcAft>
            </a:pPr>
            <a:r>
              <a:rPr sz="1600" b="0" dirty="0">
                <a:solidFill>
                  <a:srgbClr val="C6C6C6"/>
                </a:solidFill>
                <a:latin typeface="Segoe UI"/>
              </a:rPr>
              <a:t>An independent Proof-of-Recycling verification layer for India's plastic EPR credits</a:t>
            </a:r>
          </a:p>
          <a:p>
            <a:pPr algn="l">
              <a:lnSpc>
                <a:spcPct val="120000"/>
              </a:lnSpc>
              <a:spcAft>
                <a:spcPts val="0"/>
              </a:spcAft>
            </a:pPr>
            <a:r>
              <a:rPr sz="1150" b="0" dirty="0">
                <a:solidFill>
                  <a:srgbClr val="8D8D8D"/>
                </a:solidFill>
                <a:latin typeface="Segoe UI"/>
              </a:rPr>
              <a:t>A proposal. Every number in this deck comes from a small feasibility model we built ourselves to check whether the logic holds. None of it is live data, and none of it is a claim about a product that already exists.</a:t>
            </a:r>
          </a:p>
        </p:txBody>
      </p:sp>
      <p:sp>
        <p:nvSpPr>
          <p:cNvPr id="6" name="Rectangle 5"/>
          <p:cNvSpPr/>
          <p:nvPr/>
        </p:nvSpPr>
        <p:spPr>
          <a:xfrm>
            <a:off x="822960" y="3675887"/>
            <a:ext cx="1280160" cy="38100"/>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877056"/>
            <a:ext cx="8778240" cy="365760"/>
          </a:xfrm>
          <a:prstGeom prst="rect">
            <a:avLst/>
          </a:prstGeom>
          <a:noFill/>
        </p:spPr>
        <p:txBody>
          <a:bodyPr wrap="square" lIns="0" tIns="0" rIns="0" bIns="0" anchor="t">
            <a:spAutoFit/>
          </a:bodyPr>
          <a:lstStyle/>
          <a:p>
            <a:pPr algn="l">
              <a:lnSpc>
                <a:spcPct val="100000"/>
              </a:lnSpc>
              <a:spcAft>
                <a:spcPts val="0"/>
              </a:spcAft>
            </a:pPr>
            <a:r>
              <a:rPr sz="1300" b="1">
                <a:solidFill>
                  <a:srgbClr val="FFFFFF"/>
                </a:solidFill>
                <a:latin typeface="Segoe UI"/>
              </a:rPr>
              <a:t>UN SDG 12 · Responsible Consumption and Production   (supports SDG 3 · 8 · 14 · 16)</a:t>
            </a:r>
          </a:p>
        </p:txBody>
      </p:sp>
      <p:sp>
        <p:nvSpPr>
          <p:cNvPr id="8" name="TextBox 7"/>
          <p:cNvSpPr txBox="1"/>
          <p:nvPr/>
        </p:nvSpPr>
        <p:spPr>
          <a:xfrm>
            <a:off x="822960" y="4535424"/>
            <a:ext cx="8686800" cy="1280160"/>
          </a:xfrm>
          <a:prstGeom prst="rect">
            <a:avLst/>
          </a:prstGeom>
          <a:noFill/>
        </p:spPr>
        <p:txBody>
          <a:bodyPr wrap="square" lIns="0" tIns="0" rIns="0" bIns="0" anchor="t">
            <a:spAutoFit/>
          </a:bodyPr>
          <a:lstStyle/>
          <a:p>
            <a:pPr algn="l">
              <a:lnSpc>
                <a:spcPct val="150000"/>
              </a:lnSpc>
              <a:spcAft>
                <a:spcPts val="0"/>
              </a:spcAft>
            </a:pPr>
            <a:r>
              <a:rPr sz="1200" b="0" dirty="0">
                <a:solidFill>
                  <a:srgbClr val="8D8D8D"/>
                </a:solidFill>
                <a:latin typeface="Segoe UI"/>
              </a:rPr>
              <a:t>Disha Pirodiya   |   Mentor: Mr. Amit Tiwari   |   Solo project</a:t>
            </a:r>
          </a:p>
          <a:p>
            <a:pPr algn="l">
              <a:lnSpc>
                <a:spcPct val="150000"/>
              </a:lnSpc>
              <a:spcAft>
                <a:spcPts val="0"/>
              </a:spcAft>
            </a:pPr>
            <a:r>
              <a:rPr sz="1200" b="0" dirty="0">
                <a:solidFill>
                  <a:srgbClr val="8D8D8D"/>
                </a:solidFill>
                <a:latin typeface="Segoe UI"/>
              </a:rPr>
              <a:t>University Institute of Technology, RGPV, Bhopal   |   5 October 2026</a:t>
            </a:r>
          </a:p>
        </p:txBody>
      </p:sp>
      <p:sp>
        <p:nvSpPr>
          <p:cNvPr id="9" name="Rounded Rectangle 8"/>
          <p:cNvSpPr/>
          <p:nvPr/>
        </p:nvSpPr>
        <p:spPr>
          <a:xfrm>
            <a:off x="9144000" y="1554480"/>
            <a:ext cx="2651760" cy="228600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0" y="1554480"/>
            <a:ext cx="64008" cy="2286000"/>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72600" y="1783080"/>
            <a:ext cx="2286000" cy="822960"/>
          </a:xfrm>
          <a:prstGeom prst="rect">
            <a:avLst/>
          </a:prstGeom>
          <a:noFill/>
        </p:spPr>
        <p:txBody>
          <a:bodyPr wrap="square" lIns="0" tIns="0" rIns="0" bIns="0" anchor="t">
            <a:spAutoFit/>
          </a:bodyPr>
          <a:lstStyle/>
          <a:p>
            <a:pPr algn="l">
              <a:lnSpc>
                <a:spcPct val="100000"/>
              </a:lnSpc>
              <a:spcAft>
                <a:spcPts val="0"/>
              </a:spcAft>
            </a:pPr>
            <a:r>
              <a:rPr sz="3400" b="1">
                <a:solidFill>
                  <a:srgbClr val="BF8B2E"/>
                </a:solidFill>
                <a:latin typeface="Segoe UI"/>
              </a:rPr>
              <a:t>₹2,500 cr</a:t>
            </a:r>
          </a:p>
        </p:txBody>
      </p:sp>
      <p:sp>
        <p:nvSpPr>
          <p:cNvPr id="12" name="TextBox 11"/>
          <p:cNvSpPr txBox="1"/>
          <p:nvPr/>
        </p:nvSpPr>
        <p:spPr>
          <a:xfrm>
            <a:off x="9372600" y="2606040"/>
            <a:ext cx="2286000" cy="1097280"/>
          </a:xfrm>
          <a:prstGeom prst="rect">
            <a:avLst/>
          </a:prstGeom>
          <a:noFill/>
        </p:spPr>
        <p:txBody>
          <a:bodyPr wrap="square" lIns="0" tIns="0" rIns="0" bIns="0" anchor="t">
            <a:spAutoFit/>
          </a:bodyPr>
          <a:lstStyle/>
          <a:p>
            <a:pPr algn="l">
              <a:lnSpc>
                <a:spcPct val="115000"/>
              </a:lnSpc>
              <a:spcAft>
                <a:spcPts val="0"/>
              </a:spcAft>
            </a:pPr>
            <a:r>
              <a:rPr sz="1050" b="0">
                <a:solidFill>
                  <a:srgbClr val="C6C6C6"/>
                </a:solidFill>
                <a:latin typeface="Segoe UI"/>
              </a:rPr>
              <a:t>of plastic recycling credits issued since 2022 — on self-declared evidence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BF8B2E"/>
                </a:solidFill>
                <a:latin typeface="Segoe UI"/>
              </a:rPr>
              <a:t>SUSTAINABLE DEVELOPMENT GOAL</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SDG 12 — Responsible Consumption and Production</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02</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508760"/>
            <a:ext cx="2286000" cy="2331720"/>
          </a:xfrm>
          <a:prstGeom prst="roundRect">
            <a:avLst>
              <a:gd name="adj" fmla="val 8000"/>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91640"/>
            <a:ext cx="1828800" cy="914400"/>
          </a:xfrm>
          <a:prstGeom prst="rect">
            <a:avLst/>
          </a:prstGeom>
          <a:noFill/>
        </p:spPr>
        <p:txBody>
          <a:bodyPr wrap="square" lIns="0" tIns="0" rIns="0" bIns="0" anchor="t">
            <a:spAutoFit/>
          </a:bodyPr>
          <a:lstStyle/>
          <a:p>
            <a:pPr algn="l">
              <a:lnSpc>
                <a:spcPct val="100000"/>
              </a:lnSpc>
              <a:spcAft>
                <a:spcPts val="0"/>
              </a:spcAft>
            </a:pPr>
            <a:r>
              <a:rPr sz="5400" b="1">
                <a:solidFill>
                  <a:srgbClr val="FFFFFF"/>
                </a:solidFill>
                <a:latin typeface="Segoe UI"/>
              </a:rPr>
              <a:t>12</a:t>
            </a:r>
          </a:p>
        </p:txBody>
      </p:sp>
      <p:sp>
        <p:nvSpPr>
          <p:cNvPr id="9" name="TextBox 8"/>
          <p:cNvSpPr txBox="1"/>
          <p:nvPr/>
        </p:nvSpPr>
        <p:spPr>
          <a:xfrm>
            <a:off x="777240" y="2606040"/>
            <a:ext cx="1874519" cy="1097280"/>
          </a:xfrm>
          <a:prstGeom prst="rect">
            <a:avLst/>
          </a:prstGeom>
          <a:noFill/>
        </p:spPr>
        <p:txBody>
          <a:bodyPr wrap="square" lIns="0" tIns="0" rIns="0" bIns="0" anchor="t">
            <a:spAutoFit/>
          </a:bodyPr>
          <a:lstStyle/>
          <a:p>
            <a:pPr algn="l">
              <a:lnSpc>
                <a:spcPct val="110000"/>
              </a:lnSpc>
              <a:spcAft>
                <a:spcPts val="0"/>
              </a:spcAft>
            </a:pPr>
            <a:r>
              <a:rPr sz="1150" b="1">
                <a:solidFill>
                  <a:srgbClr val="FFFFFF"/>
                </a:solidFill>
                <a:latin typeface="Segoe UI"/>
              </a:rPr>
              <a:t>RESPONSIBLE CONSUMPTION AND PRODUCTION</a:t>
            </a:r>
          </a:p>
        </p:txBody>
      </p:sp>
      <p:sp>
        <p:nvSpPr>
          <p:cNvPr id="10" name="TextBox 9"/>
          <p:cNvSpPr txBox="1"/>
          <p:nvPr/>
        </p:nvSpPr>
        <p:spPr>
          <a:xfrm>
            <a:off x="3063240" y="1536192"/>
            <a:ext cx="8595360" cy="457200"/>
          </a:xfrm>
          <a:prstGeom prst="rect">
            <a:avLst/>
          </a:prstGeom>
          <a:noFill/>
        </p:spPr>
        <p:txBody>
          <a:bodyPr wrap="square" lIns="0" tIns="0" rIns="0" bIns="0" anchor="t">
            <a:spAutoFit/>
          </a:bodyPr>
          <a:lstStyle/>
          <a:p>
            <a:pPr algn="l">
              <a:lnSpc>
                <a:spcPct val="100000"/>
              </a:lnSpc>
              <a:spcAft>
                <a:spcPts val="0"/>
              </a:spcAft>
            </a:pPr>
            <a:r>
              <a:rPr sz="1300" b="0">
                <a:solidFill>
                  <a:srgbClr val="525252"/>
                </a:solidFill>
                <a:latin typeface="Segoe UI"/>
              </a:rPr>
              <a:t>Ensure sustainable consumption and production patterns</a:t>
            </a:r>
          </a:p>
        </p:txBody>
      </p:sp>
      <p:sp>
        <p:nvSpPr>
          <p:cNvPr id="11" name="Rounded Rectangle 10"/>
          <p:cNvSpPr/>
          <p:nvPr/>
        </p:nvSpPr>
        <p:spPr>
          <a:xfrm>
            <a:off x="3063240" y="2084831"/>
            <a:ext cx="4069080" cy="175564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063240" y="2084831"/>
            <a:ext cx="54864" cy="1755648"/>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46120" y="2212848"/>
            <a:ext cx="3657600" cy="274320"/>
          </a:xfrm>
          <a:prstGeom prst="rect">
            <a:avLst/>
          </a:prstGeom>
          <a:noFill/>
        </p:spPr>
        <p:txBody>
          <a:bodyPr wrap="square" lIns="0" tIns="0" rIns="0" bIns="0" anchor="t">
            <a:spAutoFit/>
          </a:bodyPr>
          <a:lstStyle/>
          <a:p>
            <a:pPr algn="l">
              <a:lnSpc>
                <a:spcPct val="100000"/>
              </a:lnSpc>
              <a:spcAft>
                <a:spcPts val="0"/>
              </a:spcAft>
            </a:pPr>
            <a:r>
              <a:rPr sz="1300" b="1">
                <a:solidFill>
                  <a:srgbClr val="BF8B2E"/>
                </a:solidFill>
                <a:latin typeface="Segoe UI"/>
              </a:rPr>
              <a:t>Target 12.5</a:t>
            </a:r>
          </a:p>
        </p:txBody>
      </p:sp>
      <p:sp>
        <p:nvSpPr>
          <p:cNvPr id="14" name="TextBox 13"/>
          <p:cNvSpPr txBox="1"/>
          <p:nvPr/>
        </p:nvSpPr>
        <p:spPr>
          <a:xfrm>
            <a:off x="3246120" y="2505456"/>
            <a:ext cx="3703320" cy="502920"/>
          </a:xfrm>
          <a:prstGeom prst="rect">
            <a:avLst/>
          </a:prstGeom>
          <a:noFill/>
        </p:spPr>
        <p:txBody>
          <a:bodyPr wrap="square" lIns="0" tIns="0" rIns="0" bIns="0" anchor="t">
            <a:spAutoFit/>
          </a:bodyPr>
          <a:lstStyle/>
          <a:p>
            <a:pPr algn="l">
              <a:lnSpc>
                <a:spcPct val="105000"/>
              </a:lnSpc>
              <a:spcAft>
                <a:spcPts val="0"/>
              </a:spcAft>
            </a:pPr>
            <a:r>
              <a:rPr sz="1150" b="1">
                <a:solidFill>
                  <a:srgbClr val="161616"/>
                </a:solidFill>
                <a:latin typeface="Segoe UI"/>
              </a:rPr>
              <a:t>Reduce waste through prevention, reduction, recycling and reuse</a:t>
            </a:r>
          </a:p>
        </p:txBody>
      </p:sp>
      <p:sp>
        <p:nvSpPr>
          <p:cNvPr id="15" name="TextBox 14"/>
          <p:cNvSpPr txBox="1"/>
          <p:nvPr/>
        </p:nvSpPr>
        <p:spPr>
          <a:xfrm>
            <a:off x="3246120" y="3035808"/>
            <a:ext cx="3703320" cy="731520"/>
          </a:xfrm>
          <a:prstGeom prst="rect">
            <a:avLst/>
          </a:prstGeom>
          <a:noFill/>
        </p:spPr>
        <p:txBody>
          <a:bodyPr wrap="square" lIns="0" tIns="0" rIns="0" bIns="0" anchor="t">
            <a:spAutoFit/>
          </a:bodyPr>
          <a:lstStyle/>
          <a:p>
            <a:pPr algn="l">
              <a:lnSpc>
                <a:spcPct val="110000"/>
              </a:lnSpc>
              <a:spcAft>
                <a:spcPts val="0"/>
              </a:spcAft>
            </a:pPr>
            <a:r>
              <a:rPr sz="950" b="0">
                <a:solidFill>
                  <a:srgbClr val="525252"/>
                </a:solidFill>
                <a:latin typeface="Segoe UI"/>
              </a:rPr>
              <a:t>Every fake credit is plastic that was never actually processed — so 12.5 is measured in verified tonnes, not reported tonnes.</a:t>
            </a:r>
          </a:p>
        </p:txBody>
      </p:sp>
      <p:sp>
        <p:nvSpPr>
          <p:cNvPr id="16" name="Rounded Rectangle 15"/>
          <p:cNvSpPr/>
          <p:nvPr/>
        </p:nvSpPr>
        <p:spPr>
          <a:xfrm>
            <a:off x="7406640" y="2084831"/>
            <a:ext cx="4069080" cy="175564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406640" y="2084831"/>
            <a:ext cx="54864" cy="1755648"/>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0" y="2212848"/>
            <a:ext cx="3657600" cy="274320"/>
          </a:xfrm>
          <a:prstGeom prst="rect">
            <a:avLst/>
          </a:prstGeom>
          <a:noFill/>
        </p:spPr>
        <p:txBody>
          <a:bodyPr wrap="square" lIns="0" tIns="0" rIns="0" bIns="0" anchor="t">
            <a:spAutoFit/>
          </a:bodyPr>
          <a:lstStyle/>
          <a:p>
            <a:pPr algn="l">
              <a:lnSpc>
                <a:spcPct val="100000"/>
              </a:lnSpc>
              <a:spcAft>
                <a:spcPts val="0"/>
              </a:spcAft>
            </a:pPr>
            <a:r>
              <a:rPr sz="1300" b="1">
                <a:solidFill>
                  <a:srgbClr val="BF8B2E"/>
                </a:solidFill>
                <a:latin typeface="Segoe UI"/>
              </a:rPr>
              <a:t>Target 12.6</a:t>
            </a:r>
          </a:p>
        </p:txBody>
      </p:sp>
      <p:sp>
        <p:nvSpPr>
          <p:cNvPr id="19" name="TextBox 18"/>
          <p:cNvSpPr txBox="1"/>
          <p:nvPr/>
        </p:nvSpPr>
        <p:spPr>
          <a:xfrm>
            <a:off x="7589520" y="2505456"/>
            <a:ext cx="3703320" cy="502920"/>
          </a:xfrm>
          <a:prstGeom prst="rect">
            <a:avLst/>
          </a:prstGeom>
          <a:noFill/>
        </p:spPr>
        <p:txBody>
          <a:bodyPr wrap="square" lIns="0" tIns="0" rIns="0" bIns="0" anchor="t">
            <a:spAutoFit/>
          </a:bodyPr>
          <a:lstStyle/>
          <a:p>
            <a:pPr algn="l">
              <a:lnSpc>
                <a:spcPct val="105000"/>
              </a:lnSpc>
              <a:spcAft>
                <a:spcPts val="0"/>
              </a:spcAft>
            </a:pPr>
            <a:r>
              <a:rPr sz="1150" b="1">
                <a:solidFill>
                  <a:srgbClr val="161616"/>
                </a:solidFill>
                <a:latin typeface="Segoe UI"/>
              </a:rPr>
              <a:t>Integrate sustainability information into the reporting cycle</a:t>
            </a:r>
          </a:p>
        </p:txBody>
      </p:sp>
      <p:sp>
        <p:nvSpPr>
          <p:cNvPr id="20" name="TextBox 19"/>
          <p:cNvSpPr txBox="1"/>
          <p:nvPr/>
        </p:nvSpPr>
        <p:spPr>
          <a:xfrm>
            <a:off x="7589520" y="3035808"/>
            <a:ext cx="3703320" cy="731520"/>
          </a:xfrm>
          <a:prstGeom prst="rect">
            <a:avLst/>
          </a:prstGeom>
          <a:noFill/>
        </p:spPr>
        <p:txBody>
          <a:bodyPr wrap="square" lIns="0" tIns="0" rIns="0" bIns="0" anchor="t">
            <a:spAutoFit/>
          </a:bodyPr>
          <a:lstStyle/>
          <a:p>
            <a:pPr algn="l">
              <a:lnSpc>
                <a:spcPct val="110000"/>
              </a:lnSpc>
              <a:spcAft>
                <a:spcPts val="0"/>
              </a:spcAft>
            </a:pPr>
            <a:r>
              <a:rPr sz="950" b="0">
                <a:solidFill>
                  <a:srgbClr val="525252"/>
                </a:solidFill>
                <a:latin typeface="Segoe UI"/>
              </a:rPr>
              <a:t>Our project attacks this directly: it makes corporate sustainability reporting verifiable instead of declaratory.</a:t>
            </a:r>
          </a:p>
        </p:txBody>
      </p:sp>
      <p:sp>
        <p:nvSpPr>
          <p:cNvPr id="21" name="TextBox 20"/>
          <p:cNvSpPr txBox="1"/>
          <p:nvPr/>
        </p:nvSpPr>
        <p:spPr>
          <a:xfrm>
            <a:off x="548640" y="4160520"/>
            <a:ext cx="11064240" cy="274320"/>
          </a:xfrm>
          <a:prstGeom prst="rect">
            <a:avLst/>
          </a:prstGeom>
          <a:noFill/>
        </p:spPr>
        <p:txBody>
          <a:bodyPr wrap="square" lIns="0" tIns="0" rIns="0" bIns="0" anchor="t">
            <a:spAutoFit/>
          </a:bodyPr>
          <a:lstStyle/>
          <a:p>
            <a:pPr algn="l">
              <a:lnSpc>
                <a:spcPct val="100000"/>
              </a:lnSpc>
              <a:spcAft>
                <a:spcPts val="0"/>
              </a:spcAft>
            </a:pPr>
            <a:r>
              <a:rPr sz="1000" b="1">
                <a:solidFill>
                  <a:srgbClr val="8D8D8D"/>
                </a:solidFill>
                <a:latin typeface="Segoe UI"/>
              </a:rPr>
              <a:t>SECONDARY CONTRIBUTIONS</a:t>
            </a:r>
          </a:p>
        </p:txBody>
      </p:sp>
      <p:sp>
        <p:nvSpPr>
          <p:cNvPr id="22" name="Rounded Rectangle 21"/>
          <p:cNvSpPr/>
          <p:nvPr/>
        </p:nvSpPr>
        <p:spPr>
          <a:xfrm>
            <a:off x="548640" y="4480560"/>
            <a:ext cx="2615184" cy="777240"/>
          </a:xfrm>
          <a:prstGeom prst="roundRect">
            <a:avLst>
              <a:gd name="adj" fmla="val 8000"/>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 y="4572000"/>
            <a:ext cx="548640" cy="365760"/>
          </a:xfrm>
          <a:prstGeom prst="rect">
            <a:avLst/>
          </a:prstGeom>
          <a:noFill/>
        </p:spPr>
        <p:txBody>
          <a:bodyPr wrap="square" lIns="0" tIns="0" rIns="0" bIns="0" anchor="t">
            <a:spAutoFit/>
          </a:bodyPr>
          <a:lstStyle/>
          <a:p>
            <a:pPr algn="l">
              <a:lnSpc>
                <a:spcPct val="100000"/>
              </a:lnSpc>
              <a:spcAft>
                <a:spcPts val="0"/>
              </a:spcAft>
            </a:pPr>
            <a:r>
              <a:rPr sz="2000" b="1">
                <a:solidFill>
                  <a:srgbClr val="8D8D8D"/>
                </a:solidFill>
                <a:latin typeface="Segoe UI"/>
              </a:rPr>
              <a:t>14</a:t>
            </a:r>
          </a:p>
        </p:txBody>
      </p:sp>
      <p:sp>
        <p:nvSpPr>
          <p:cNvPr id="24" name="TextBox 23"/>
          <p:cNvSpPr txBox="1"/>
          <p:nvPr/>
        </p:nvSpPr>
        <p:spPr>
          <a:xfrm>
            <a:off x="1325880" y="4681728"/>
            <a:ext cx="1737360" cy="457200"/>
          </a:xfrm>
          <a:prstGeom prst="rect">
            <a:avLst/>
          </a:prstGeom>
          <a:noFill/>
        </p:spPr>
        <p:txBody>
          <a:bodyPr wrap="square" lIns="0" tIns="0" rIns="0" bIns="0" anchor="t">
            <a:spAutoFit/>
          </a:bodyPr>
          <a:lstStyle/>
          <a:p>
            <a:pPr algn="l">
              <a:lnSpc>
                <a:spcPct val="105000"/>
              </a:lnSpc>
              <a:spcAft>
                <a:spcPts val="0"/>
              </a:spcAft>
            </a:pPr>
            <a:r>
              <a:rPr sz="1050" b="0">
                <a:solidFill>
                  <a:srgbClr val="525252"/>
                </a:solidFill>
                <a:latin typeface="Segoe UI"/>
              </a:rPr>
              <a:t>Life Below Water</a:t>
            </a:r>
          </a:p>
        </p:txBody>
      </p:sp>
      <p:sp>
        <p:nvSpPr>
          <p:cNvPr id="25" name="Rounded Rectangle 24"/>
          <p:cNvSpPr/>
          <p:nvPr/>
        </p:nvSpPr>
        <p:spPr>
          <a:xfrm>
            <a:off x="3346704" y="4480560"/>
            <a:ext cx="2615184" cy="777240"/>
          </a:xfrm>
          <a:prstGeom prst="roundRect">
            <a:avLst>
              <a:gd name="adj" fmla="val 8000"/>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11296" y="4572000"/>
            <a:ext cx="548640" cy="365760"/>
          </a:xfrm>
          <a:prstGeom prst="rect">
            <a:avLst/>
          </a:prstGeom>
          <a:noFill/>
        </p:spPr>
        <p:txBody>
          <a:bodyPr wrap="square" lIns="0" tIns="0" rIns="0" bIns="0" anchor="t">
            <a:spAutoFit/>
          </a:bodyPr>
          <a:lstStyle/>
          <a:p>
            <a:pPr algn="l">
              <a:lnSpc>
                <a:spcPct val="100000"/>
              </a:lnSpc>
              <a:spcAft>
                <a:spcPts val="0"/>
              </a:spcAft>
            </a:pPr>
            <a:r>
              <a:rPr sz="2000" b="1">
                <a:solidFill>
                  <a:srgbClr val="8D8D8D"/>
                </a:solidFill>
                <a:latin typeface="Segoe UI"/>
              </a:rPr>
              <a:t>3</a:t>
            </a:r>
          </a:p>
        </p:txBody>
      </p:sp>
      <p:sp>
        <p:nvSpPr>
          <p:cNvPr id="27" name="TextBox 26"/>
          <p:cNvSpPr txBox="1"/>
          <p:nvPr/>
        </p:nvSpPr>
        <p:spPr>
          <a:xfrm>
            <a:off x="4123944" y="4681728"/>
            <a:ext cx="1737360" cy="457200"/>
          </a:xfrm>
          <a:prstGeom prst="rect">
            <a:avLst/>
          </a:prstGeom>
          <a:noFill/>
        </p:spPr>
        <p:txBody>
          <a:bodyPr wrap="square" lIns="0" tIns="0" rIns="0" bIns="0" anchor="t">
            <a:spAutoFit/>
          </a:bodyPr>
          <a:lstStyle/>
          <a:p>
            <a:pPr algn="l">
              <a:lnSpc>
                <a:spcPct val="105000"/>
              </a:lnSpc>
              <a:spcAft>
                <a:spcPts val="0"/>
              </a:spcAft>
            </a:pPr>
            <a:r>
              <a:rPr sz="1050" b="0">
                <a:solidFill>
                  <a:srgbClr val="525252"/>
                </a:solidFill>
                <a:latin typeface="Segoe UI"/>
              </a:rPr>
              <a:t>Good Health</a:t>
            </a:r>
          </a:p>
        </p:txBody>
      </p:sp>
      <p:sp>
        <p:nvSpPr>
          <p:cNvPr id="28" name="Rounded Rectangle 27"/>
          <p:cNvSpPr/>
          <p:nvPr/>
        </p:nvSpPr>
        <p:spPr>
          <a:xfrm>
            <a:off x="6144768" y="4480560"/>
            <a:ext cx="2615184" cy="777240"/>
          </a:xfrm>
          <a:prstGeom prst="roundRect">
            <a:avLst>
              <a:gd name="adj" fmla="val 8000"/>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9360" y="4572000"/>
            <a:ext cx="548640" cy="365760"/>
          </a:xfrm>
          <a:prstGeom prst="rect">
            <a:avLst/>
          </a:prstGeom>
          <a:noFill/>
        </p:spPr>
        <p:txBody>
          <a:bodyPr wrap="square" lIns="0" tIns="0" rIns="0" bIns="0" anchor="t">
            <a:spAutoFit/>
          </a:bodyPr>
          <a:lstStyle/>
          <a:p>
            <a:pPr algn="l">
              <a:lnSpc>
                <a:spcPct val="100000"/>
              </a:lnSpc>
              <a:spcAft>
                <a:spcPts val="0"/>
              </a:spcAft>
            </a:pPr>
            <a:r>
              <a:rPr sz="2000" b="1">
                <a:solidFill>
                  <a:srgbClr val="8D8D8D"/>
                </a:solidFill>
                <a:latin typeface="Segoe UI"/>
              </a:rPr>
              <a:t>8</a:t>
            </a:r>
          </a:p>
        </p:txBody>
      </p:sp>
      <p:sp>
        <p:nvSpPr>
          <p:cNvPr id="30" name="TextBox 29"/>
          <p:cNvSpPr txBox="1"/>
          <p:nvPr/>
        </p:nvSpPr>
        <p:spPr>
          <a:xfrm>
            <a:off x="6922008" y="4681728"/>
            <a:ext cx="1737360" cy="457200"/>
          </a:xfrm>
          <a:prstGeom prst="rect">
            <a:avLst/>
          </a:prstGeom>
          <a:noFill/>
        </p:spPr>
        <p:txBody>
          <a:bodyPr wrap="square" lIns="0" tIns="0" rIns="0" bIns="0" anchor="t">
            <a:spAutoFit/>
          </a:bodyPr>
          <a:lstStyle/>
          <a:p>
            <a:pPr algn="l">
              <a:lnSpc>
                <a:spcPct val="105000"/>
              </a:lnSpc>
              <a:spcAft>
                <a:spcPts val="0"/>
              </a:spcAft>
            </a:pPr>
            <a:r>
              <a:rPr sz="1050" b="0">
                <a:solidFill>
                  <a:srgbClr val="525252"/>
                </a:solidFill>
                <a:latin typeface="Segoe UI"/>
              </a:rPr>
              <a:t>Decent Work</a:t>
            </a:r>
          </a:p>
        </p:txBody>
      </p:sp>
      <p:sp>
        <p:nvSpPr>
          <p:cNvPr id="31" name="Rounded Rectangle 30"/>
          <p:cNvSpPr/>
          <p:nvPr/>
        </p:nvSpPr>
        <p:spPr>
          <a:xfrm>
            <a:off x="8942832" y="4480560"/>
            <a:ext cx="2615184" cy="777240"/>
          </a:xfrm>
          <a:prstGeom prst="roundRect">
            <a:avLst>
              <a:gd name="adj" fmla="val 8000"/>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07424" y="4572000"/>
            <a:ext cx="548640" cy="365760"/>
          </a:xfrm>
          <a:prstGeom prst="rect">
            <a:avLst/>
          </a:prstGeom>
          <a:noFill/>
        </p:spPr>
        <p:txBody>
          <a:bodyPr wrap="square" lIns="0" tIns="0" rIns="0" bIns="0" anchor="t">
            <a:spAutoFit/>
          </a:bodyPr>
          <a:lstStyle/>
          <a:p>
            <a:pPr algn="l">
              <a:lnSpc>
                <a:spcPct val="100000"/>
              </a:lnSpc>
              <a:spcAft>
                <a:spcPts val="0"/>
              </a:spcAft>
            </a:pPr>
            <a:r>
              <a:rPr sz="2000" b="1">
                <a:solidFill>
                  <a:srgbClr val="8D8D8D"/>
                </a:solidFill>
                <a:latin typeface="Segoe UI"/>
              </a:rPr>
              <a:t>16</a:t>
            </a:r>
          </a:p>
        </p:txBody>
      </p:sp>
      <p:sp>
        <p:nvSpPr>
          <p:cNvPr id="33" name="TextBox 32"/>
          <p:cNvSpPr txBox="1"/>
          <p:nvPr/>
        </p:nvSpPr>
        <p:spPr>
          <a:xfrm>
            <a:off x="9720072" y="4681728"/>
            <a:ext cx="1737360" cy="457200"/>
          </a:xfrm>
          <a:prstGeom prst="rect">
            <a:avLst/>
          </a:prstGeom>
          <a:noFill/>
        </p:spPr>
        <p:txBody>
          <a:bodyPr wrap="square" lIns="0" tIns="0" rIns="0" bIns="0" anchor="t">
            <a:spAutoFit/>
          </a:bodyPr>
          <a:lstStyle/>
          <a:p>
            <a:pPr algn="l">
              <a:lnSpc>
                <a:spcPct val="105000"/>
              </a:lnSpc>
              <a:spcAft>
                <a:spcPts val="0"/>
              </a:spcAft>
            </a:pPr>
            <a:r>
              <a:rPr sz="1050" b="0">
                <a:solidFill>
                  <a:srgbClr val="525252"/>
                </a:solidFill>
                <a:latin typeface="Segoe UI"/>
              </a:rPr>
              <a:t>Strong Institutions</a:t>
            </a:r>
          </a:p>
        </p:txBody>
      </p:sp>
      <p:sp>
        <p:nvSpPr>
          <p:cNvPr id="34" name="Rounded Rectangle 33"/>
          <p:cNvSpPr/>
          <p:nvPr/>
        </p:nvSpPr>
        <p:spPr>
          <a:xfrm>
            <a:off x="548640" y="5468112"/>
            <a:ext cx="11091672" cy="749808"/>
          </a:xfrm>
          <a:prstGeom prst="roundRect">
            <a:avLst>
              <a:gd name="adj" fmla="val 8000"/>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5577840"/>
            <a:ext cx="10698480" cy="548640"/>
          </a:xfrm>
          <a:prstGeom prst="rect">
            <a:avLst/>
          </a:prstGeom>
          <a:noFill/>
        </p:spPr>
        <p:txBody>
          <a:bodyPr wrap="square" lIns="0" tIns="0" rIns="0" bIns="0" anchor="t">
            <a:spAutoFit/>
          </a:bodyPr>
          <a:lstStyle/>
          <a:p>
            <a:pPr algn="l">
              <a:lnSpc>
                <a:spcPct val="110000"/>
              </a:lnSpc>
              <a:spcAft>
                <a:spcPts val="0"/>
              </a:spcAft>
            </a:pPr>
            <a:r>
              <a:rPr sz="1200" b="1">
                <a:solidFill>
                  <a:srgbClr val="8A3FFC"/>
                </a:solidFill>
                <a:latin typeface="Segoe UI"/>
              </a:rPr>
              <a:t>Why this SDG over the familiar ones:  </a:t>
            </a:r>
            <a:r>
              <a:rPr sz="1200" b="0">
                <a:solidFill>
                  <a:srgbClr val="161616"/>
                </a:solidFill>
                <a:latin typeface="Segoe UI"/>
              </a:rPr>
              <a:t>this is a measurable, monetised and verifiable failure with a legal deadline attached — not a general aspiration.</a:t>
            </a:r>
          </a:p>
        </p:txBody>
      </p:sp>
      <p:sp>
        <p:nvSpPr>
          <p:cNvPr id="36" name="Rectangle 35"/>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SDG 12 · Targets 12.5 &amp; 12.6 · secondary SDG 3, 8, 14, 16 · IBM SkillsBuild Internship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DA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DA1E28"/>
                </a:solidFill>
                <a:latin typeface="Segoe UI"/>
              </a:rPr>
              <a:t>STEP 2 — PROBLEM STATEMENT</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A ₹2,500 crore market that runs on self-declaration</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03</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63040"/>
            <a:ext cx="2633472" cy="14813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54864" cy="1481328"/>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1545336"/>
            <a:ext cx="2414016" cy="411480"/>
          </a:xfrm>
          <a:prstGeom prst="rect">
            <a:avLst/>
          </a:prstGeom>
          <a:noFill/>
        </p:spPr>
        <p:txBody>
          <a:bodyPr wrap="square" lIns="0" tIns="0" rIns="0" bIns="0" anchor="t">
            <a:spAutoFit/>
          </a:bodyPr>
          <a:lstStyle/>
          <a:p>
            <a:pPr algn="l">
              <a:lnSpc>
                <a:spcPct val="100000"/>
              </a:lnSpc>
              <a:spcAft>
                <a:spcPts val="0"/>
              </a:spcAft>
            </a:pPr>
            <a:r>
              <a:rPr sz="1900" b="1">
                <a:solidFill>
                  <a:srgbClr val="BF8B2E"/>
                </a:solidFill>
                <a:latin typeface="Segoe UI"/>
              </a:rPr>
              <a:t>₹2,500 cr</a:t>
            </a:r>
          </a:p>
        </p:txBody>
      </p:sp>
      <p:sp>
        <p:nvSpPr>
          <p:cNvPr id="10" name="TextBox 9"/>
          <p:cNvSpPr txBox="1"/>
          <p:nvPr/>
        </p:nvSpPr>
        <p:spPr>
          <a:xfrm>
            <a:off x="694944" y="1938528"/>
            <a:ext cx="2377440" cy="9692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of plastic EPR credits issued since 2022 — verified against nothing (CPCB data, June 2026)</a:t>
            </a:r>
          </a:p>
        </p:txBody>
      </p:sp>
      <p:sp>
        <p:nvSpPr>
          <p:cNvPr id="11" name="Rounded Rectangle 10"/>
          <p:cNvSpPr/>
          <p:nvPr/>
        </p:nvSpPr>
        <p:spPr>
          <a:xfrm>
            <a:off x="3346704" y="1463040"/>
            <a:ext cx="2633472" cy="14813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46704" y="1463040"/>
            <a:ext cx="54864" cy="1481328"/>
          </a:xfrm>
          <a:prstGeom prst="rect">
            <a:avLst/>
          </a:prstGeom>
          <a:solidFill>
            <a:srgbClr val="DA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93008" y="1545336"/>
            <a:ext cx="2414016" cy="411480"/>
          </a:xfrm>
          <a:prstGeom prst="rect">
            <a:avLst/>
          </a:prstGeom>
          <a:noFill/>
        </p:spPr>
        <p:txBody>
          <a:bodyPr wrap="square" lIns="0" tIns="0" rIns="0" bIns="0" anchor="t">
            <a:spAutoFit/>
          </a:bodyPr>
          <a:lstStyle/>
          <a:p>
            <a:pPr algn="l">
              <a:lnSpc>
                <a:spcPct val="100000"/>
              </a:lnSpc>
              <a:spcAft>
                <a:spcPts val="0"/>
              </a:spcAft>
            </a:pPr>
            <a:r>
              <a:rPr sz="1900" b="1">
                <a:solidFill>
                  <a:srgbClr val="DA1E28"/>
                </a:solidFill>
                <a:latin typeface="Segoe UI"/>
              </a:rPr>
              <a:t>600,000+</a:t>
            </a:r>
          </a:p>
        </p:txBody>
      </p:sp>
      <p:sp>
        <p:nvSpPr>
          <p:cNvPr id="14" name="TextBox 13"/>
          <p:cNvSpPr txBox="1"/>
          <p:nvPr/>
        </p:nvSpPr>
        <p:spPr>
          <a:xfrm>
            <a:off x="3493008" y="1938528"/>
            <a:ext cx="2377440" cy="9692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invalid EPR certificates unearthed by CPCB audits; June 2026 audit found certificates issued beyond registered capacity</a:t>
            </a:r>
          </a:p>
        </p:txBody>
      </p:sp>
      <p:sp>
        <p:nvSpPr>
          <p:cNvPr id="15" name="Rounded Rectangle 14"/>
          <p:cNvSpPr/>
          <p:nvPr/>
        </p:nvSpPr>
        <p:spPr>
          <a:xfrm>
            <a:off x="6144768" y="1463040"/>
            <a:ext cx="2633472" cy="14813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44768" y="1463040"/>
            <a:ext cx="54864" cy="1481328"/>
          </a:xfrm>
          <a:prstGeom prst="rect">
            <a:avLst/>
          </a:prstGeom>
          <a:solidFill>
            <a:srgbClr val="DA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91072" y="1545336"/>
            <a:ext cx="2414016" cy="411480"/>
          </a:xfrm>
          <a:prstGeom prst="rect">
            <a:avLst/>
          </a:prstGeom>
          <a:noFill/>
        </p:spPr>
        <p:txBody>
          <a:bodyPr wrap="square" lIns="0" tIns="0" rIns="0" bIns="0" anchor="t">
            <a:spAutoFit/>
          </a:bodyPr>
          <a:lstStyle/>
          <a:p>
            <a:pPr algn="l">
              <a:lnSpc>
                <a:spcPct val="100000"/>
              </a:lnSpc>
              <a:spcAft>
                <a:spcPts val="0"/>
              </a:spcAft>
            </a:pPr>
            <a:r>
              <a:rPr sz="1900" b="1">
                <a:solidFill>
                  <a:srgbClr val="DA1E28"/>
                </a:solidFill>
                <a:latin typeface="Segoe UI"/>
              </a:rPr>
              <a:t>₹1,500 /t</a:t>
            </a:r>
          </a:p>
        </p:txBody>
      </p:sp>
      <p:sp>
        <p:nvSpPr>
          <p:cNvPr id="18" name="TextBox 17"/>
          <p:cNvSpPr txBox="1"/>
          <p:nvPr/>
        </p:nvSpPr>
        <p:spPr>
          <a:xfrm>
            <a:off x="6291072" y="1938528"/>
            <a:ext cx="2377440" cy="9692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the mandated credit price — against ₹4,000–6,000 to actually recycle flexible packaging, per tonne</a:t>
            </a:r>
          </a:p>
        </p:txBody>
      </p:sp>
      <p:sp>
        <p:nvSpPr>
          <p:cNvPr id="19" name="Rounded Rectangle 18"/>
          <p:cNvSpPr/>
          <p:nvPr/>
        </p:nvSpPr>
        <p:spPr>
          <a:xfrm>
            <a:off x="8942832" y="1463040"/>
            <a:ext cx="2633472" cy="14813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42832" y="1463040"/>
            <a:ext cx="54864" cy="1481328"/>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89136" y="1545336"/>
            <a:ext cx="2414016" cy="411480"/>
          </a:xfrm>
          <a:prstGeom prst="rect">
            <a:avLst/>
          </a:prstGeom>
          <a:noFill/>
        </p:spPr>
        <p:txBody>
          <a:bodyPr wrap="square" lIns="0" tIns="0" rIns="0" bIns="0" anchor="t">
            <a:spAutoFit/>
          </a:bodyPr>
          <a:lstStyle/>
          <a:p>
            <a:pPr algn="l">
              <a:lnSpc>
                <a:spcPct val="100000"/>
              </a:lnSpc>
              <a:spcAft>
                <a:spcPts val="0"/>
              </a:spcAft>
            </a:pPr>
            <a:r>
              <a:rPr sz="1900" b="1">
                <a:solidFill>
                  <a:srgbClr val="525252"/>
                </a:solidFill>
                <a:latin typeface="Segoe UI"/>
              </a:rPr>
              <a:t>28 Jun 2026</a:t>
            </a:r>
          </a:p>
        </p:txBody>
      </p:sp>
      <p:sp>
        <p:nvSpPr>
          <p:cNvPr id="22" name="TextBox 21"/>
          <p:cNvSpPr txBox="1"/>
          <p:nvPr/>
        </p:nvSpPr>
        <p:spPr>
          <a:xfrm>
            <a:off x="9089136" y="1938528"/>
            <a:ext cx="2377440" cy="9692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the EPR portal closed to general users — scrutiny fell as regulatory demands rose</a:t>
            </a:r>
          </a:p>
        </p:txBody>
      </p:sp>
      <p:sp>
        <p:nvSpPr>
          <p:cNvPr id="23" name="TextBox 22"/>
          <p:cNvSpPr txBox="1"/>
          <p:nvPr/>
        </p:nvSpPr>
        <p:spPr>
          <a:xfrm>
            <a:off x="548640" y="3127248"/>
            <a:ext cx="6766560" cy="274320"/>
          </a:xfrm>
          <a:prstGeom prst="rect">
            <a:avLst/>
          </a:prstGeom>
          <a:noFill/>
        </p:spPr>
        <p:txBody>
          <a:bodyPr wrap="square" lIns="0" tIns="0" rIns="0" bIns="0" anchor="t">
            <a:spAutoFit/>
          </a:bodyPr>
          <a:lstStyle/>
          <a:p>
            <a:pPr algn="l">
              <a:lnSpc>
                <a:spcPct val="100000"/>
              </a:lnSpc>
              <a:spcAft>
                <a:spcPts val="0"/>
              </a:spcAft>
            </a:pPr>
            <a:r>
              <a:rPr sz="1000" b="1">
                <a:solidFill>
                  <a:srgbClr val="8D8D8D"/>
                </a:solidFill>
                <a:latin typeface="Segoe UI"/>
              </a:rPr>
              <a:t>THE PRICE OF COMPLIANCE, PER TONNE OF FLEXIBLE PACKAGING</a:t>
            </a:r>
          </a:p>
        </p:txBody>
      </p:sp>
      <p:sp>
        <p:nvSpPr>
          <p:cNvPr id="24" name="TextBox 23"/>
          <p:cNvSpPr txBox="1"/>
          <p:nvPr/>
        </p:nvSpPr>
        <p:spPr>
          <a:xfrm>
            <a:off x="548640" y="3584448"/>
            <a:ext cx="1965960" cy="365760"/>
          </a:xfrm>
          <a:prstGeom prst="rect">
            <a:avLst/>
          </a:prstGeom>
          <a:noFill/>
        </p:spPr>
        <p:txBody>
          <a:bodyPr wrap="square" lIns="0" tIns="0" rIns="0" bIns="0" anchor="t">
            <a:spAutoFit/>
          </a:bodyPr>
          <a:lstStyle/>
          <a:p>
            <a:pPr algn="l">
              <a:lnSpc>
                <a:spcPct val="100000"/>
              </a:lnSpc>
              <a:spcAft>
                <a:spcPts val="0"/>
              </a:spcAft>
            </a:pPr>
            <a:r>
              <a:rPr sz="1050" b="0">
                <a:solidFill>
                  <a:srgbClr val="525252"/>
                </a:solidFill>
                <a:latin typeface="Segoe UI"/>
              </a:rPr>
              <a:t>Recycle honestly</a:t>
            </a:r>
          </a:p>
        </p:txBody>
      </p:sp>
      <p:sp>
        <p:nvSpPr>
          <p:cNvPr id="25" name="Rectangle 24"/>
          <p:cNvSpPr/>
          <p:nvPr/>
        </p:nvSpPr>
        <p:spPr>
          <a:xfrm>
            <a:off x="2606040" y="3566160"/>
            <a:ext cx="3566160" cy="38404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606040" y="3566160"/>
            <a:ext cx="3566160" cy="384048"/>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81928" y="3621024"/>
            <a:ext cx="1188720" cy="274320"/>
          </a:xfrm>
          <a:prstGeom prst="rect">
            <a:avLst/>
          </a:prstGeom>
          <a:noFill/>
        </p:spPr>
        <p:txBody>
          <a:bodyPr wrap="square" lIns="0" tIns="0" rIns="0" bIns="0" anchor="t">
            <a:spAutoFit/>
          </a:bodyPr>
          <a:lstStyle/>
          <a:p>
            <a:pPr algn="l">
              <a:lnSpc>
                <a:spcPct val="100000"/>
              </a:lnSpc>
              <a:spcAft>
                <a:spcPts val="0"/>
              </a:spcAft>
            </a:pPr>
            <a:r>
              <a:rPr sz="1100" b="1">
                <a:solidFill>
                  <a:srgbClr val="525252"/>
                </a:solidFill>
                <a:latin typeface="Segoe UI"/>
              </a:rPr>
              <a:t>₹4,000–6,000</a:t>
            </a:r>
          </a:p>
        </p:txBody>
      </p:sp>
      <p:sp>
        <p:nvSpPr>
          <p:cNvPr id="28" name="TextBox 27"/>
          <p:cNvSpPr txBox="1"/>
          <p:nvPr/>
        </p:nvSpPr>
        <p:spPr>
          <a:xfrm>
            <a:off x="548640" y="4242816"/>
            <a:ext cx="1965960" cy="365760"/>
          </a:xfrm>
          <a:prstGeom prst="rect">
            <a:avLst/>
          </a:prstGeom>
          <a:noFill/>
        </p:spPr>
        <p:txBody>
          <a:bodyPr wrap="square" lIns="0" tIns="0" rIns="0" bIns="0" anchor="t">
            <a:spAutoFit/>
          </a:bodyPr>
          <a:lstStyle/>
          <a:p>
            <a:pPr algn="l">
              <a:lnSpc>
                <a:spcPct val="100000"/>
              </a:lnSpc>
              <a:spcAft>
                <a:spcPts val="0"/>
              </a:spcAft>
            </a:pPr>
            <a:r>
              <a:rPr sz="1050" b="0">
                <a:solidFill>
                  <a:srgbClr val="525252"/>
                </a:solidFill>
                <a:latin typeface="Segoe UI"/>
              </a:rPr>
              <a:t>Miss the target (penalty)</a:t>
            </a:r>
          </a:p>
        </p:txBody>
      </p:sp>
      <p:sp>
        <p:nvSpPr>
          <p:cNvPr id="29" name="Rectangle 28"/>
          <p:cNvSpPr/>
          <p:nvPr/>
        </p:nvSpPr>
        <p:spPr>
          <a:xfrm>
            <a:off x="2606040" y="4224528"/>
            <a:ext cx="3566160" cy="38404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606040" y="4224528"/>
            <a:ext cx="3566160" cy="384048"/>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81928" y="4279392"/>
            <a:ext cx="1188720" cy="274320"/>
          </a:xfrm>
          <a:prstGeom prst="rect">
            <a:avLst/>
          </a:prstGeom>
          <a:noFill/>
        </p:spPr>
        <p:txBody>
          <a:bodyPr wrap="square" lIns="0" tIns="0" rIns="0" bIns="0" anchor="t">
            <a:spAutoFit/>
          </a:bodyPr>
          <a:lstStyle/>
          <a:p>
            <a:pPr algn="l">
              <a:lnSpc>
                <a:spcPct val="100000"/>
              </a:lnSpc>
              <a:spcAft>
                <a:spcPts val="0"/>
              </a:spcAft>
            </a:pPr>
            <a:r>
              <a:rPr sz="1100" b="1">
                <a:solidFill>
                  <a:srgbClr val="525252"/>
                </a:solidFill>
                <a:latin typeface="Segoe UI"/>
              </a:rPr>
              <a:t>≈₹5,000</a:t>
            </a:r>
          </a:p>
        </p:txBody>
      </p:sp>
      <p:sp>
        <p:nvSpPr>
          <p:cNvPr id="32" name="TextBox 31"/>
          <p:cNvSpPr txBox="1"/>
          <p:nvPr/>
        </p:nvSpPr>
        <p:spPr>
          <a:xfrm>
            <a:off x="548640" y="4901184"/>
            <a:ext cx="1965960" cy="365760"/>
          </a:xfrm>
          <a:prstGeom prst="rect">
            <a:avLst/>
          </a:prstGeom>
          <a:noFill/>
        </p:spPr>
        <p:txBody>
          <a:bodyPr wrap="square" lIns="0" tIns="0" rIns="0" bIns="0" anchor="t">
            <a:spAutoFit/>
          </a:bodyPr>
          <a:lstStyle/>
          <a:p>
            <a:pPr algn="l">
              <a:lnSpc>
                <a:spcPct val="100000"/>
              </a:lnSpc>
              <a:spcAft>
                <a:spcPts val="0"/>
              </a:spcAft>
            </a:pPr>
            <a:r>
              <a:rPr sz="1050" b="0">
                <a:solidFill>
                  <a:srgbClr val="525252"/>
                </a:solidFill>
                <a:latin typeface="Segoe UI"/>
              </a:rPr>
              <a:t>Buy a certificate</a:t>
            </a:r>
          </a:p>
        </p:txBody>
      </p:sp>
      <p:sp>
        <p:nvSpPr>
          <p:cNvPr id="33" name="Rectangle 32"/>
          <p:cNvSpPr/>
          <p:nvPr/>
        </p:nvSpPr>
        <p:spPr>
          <a:xfrm>
            <a:off x="2606040" y="4882896"/>
            <a:ext cx="3566160" cy="38404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606040" y="4882896"/>
            <a:ext cx="1069848" cy="384048"/>
          </a:xfrm>
          <a:prstGeom prst="rect">
            <a:avLst/>
          </a:prstGeom>
          <a:solidFill>
            <a:srgbClr val="DA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785616" y="4937760"/>
            <a:ext cx="1188720" cy="274320"/>
          </a:xfrm>
          <a:prstGeom prst="rect">
            <a:avLst/>
          </a:prstGeom>
          <a:noFill/>
        </p:spPr>
        <p:txBody>
          <a:bodyPr wrap="square" lIns="0" tIns="0" rIns="0" bIns="0" anchor="t">
            <a:spAutoFit/>
          </a:bodyPr>
          <a:lstStyle/>
          <a:p>
            <a:pPr algn="l">
              <a:lnSpc>
                <a:spcPct val="100000"/>
              </a:lnSpc>
              <a:spcAft>
                <a:spcPts val="0"/>
              </a:spcAft>
            </a:pPr>
            <a:r>
              <a:rPr sz="1100" b="1">
                <a:solidFill>
                  <a:srgbClr val="DA1E28"/>
                </a:solidFill>
                <a:latin typeface="Segoe UI"/>
              </a:rPr>
              <a:t>₹1,500</a:t>
            </a:r>
          </a:p>
        </p:txBody>
      </p:sp>
      <p:sp>
        <p:nvSpPr>
          <p:cNvPr id="36" name="Rounded Rectangle 35"/>
          <p:cNvSpPr/>
          <p:nvPr/>
        </p:nvSpPr>
        <p:spPr>
          <a:xfrm>
            <a:off x="548640" y="5577840"/>
            <a:ext cx="6766560" cy="658368"/>
          </a:xfrm>
          <a:prstGeom prst="roundRect">
            <a:avLst>
              <a:gd name="adj" fmla="val 8000"/>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1520" y="5669280"/>
            <a:ext cx="6446520" cy="502920"/>
          </a:xfrm>
          <a:prstGeom prst="rect">
            <a:avLst/>
          </a:prstGeom>
          <a:noFill/>
        </p:spPr>
        <p:txBody>
          <a:bodyPr wrap="square" lIns="0" tIns="0" rIns="0" bIns="0" anchor="t">
            <a:spAutoFit/>
          </a:bodyPr>
          <a:lstStyle/>
          <a:p>
            <a:pPr algn="l">
              <a:lnSpc>
                <a:spcPct val="110000"/>
              </a:lnSpc>
              <a:spcAft>
                <a:spcPts val="0"/>
              </a:spcAft>
            </a:pPr>
            <a:r>
              <a:rPr sz="1150" b="1">
                <a:solidFill>
                  <a:srgbClr val="DA1E28"/>
                </a:solidFill>
                <a:latin typeface="Segoe UI"/>
              </a:rPr>
              <a:t>Cheating pays better.  </a:t>
            </a:r>
            <a:r>
              <a:rPr sz="1150" b="0">
                <a:solidFill>
                  <a:srgbClr val="161616"/>
                </a:solidFill>
                <a:latin typeface="Segoe UI"/>
              </a:rPr>
              <a:t>A certificate costs less than real recycling, and less than the fine for missing the target.</a:t>
            </a:r>
          </a:p>
        </p:txBody>
      </p:sp>
      <p:sp>
        <p:nvSpPr>
          <p:cNvPr id="38" name="Rounded Rectangle 37"/>
          <p:cNvSpPr/>
          <p:nvPr/>
        </p:nvSpPr>
        <p:spPr>
          <a:xfrm>
            <a:off x="7543800" y="3127248"/>
            <a:ext cx="4096512" cy="31089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54112" y="3255264"/>
            <a:ext cx="3657600" cy="274320"/>
          </a:xfrm>
          <a:prstGeom prst="rect">
            <a:avLst/>
          </a:prstGeom>
          <a:noFill/>
        </p:spPr>
        <p:txBody>
          <a:bodyPr wrap="square" lIns="0" tIns="0" rIns="0" bIns="0" anchor="t">
            <a:spAutoFit/>
          </a:bodyPr>
          <a:lstStyle/>
          <a:p>
            <a:pPr algn="l">
              <a:lnSpc>
                <a:spcPct val="100000"/>
              </a:lnSpc>
              <a:spcAft>
                <a:spcPts val="0"/>
              </a:spcAft>
            </a:pPr>
            <a:r>
              <a:rPr sz="1050" b="1">
                <a:solidFill>
                  <a:srgbClr val="0F62FE"/>
                </a:solidFill>
                <a:latin typeface="Segoe UI"/>
              </a:rPr>
              <a:t>WHY NOBODY CATCHES IT</a:t>
            </a:r>
          </a:p>
        </p:txBody>
      </p:sp>
      <p:sp>
        <p:nvSpPr>
          <p:cNvPr id="40" name="TextBox 39"/>
          <p:cNvSpPr txBox="1"/>
          <p:nvPr/>
        </p:nvSpPr>
        <p:spPr>
          <a:xfrm>
            <a:off x="7754112" y="3611880"/>
            <a:ext cx="3657600" cy="2514600"/>
          </a:xfrm>
          <a:prstGeom prst="rect">
            <a:avLst/>
          </a:prstGeom>
          <a:noFill/>
        </p:spPr>
        <p:txBody>
          <a:bodyPr wrap="square" lIns="0" tIns="0" rIns="0" bIns="0">
            <a:spAutoFit/>
          </a:bodyPr>
          <a:lstStyle/>
          <a:p>
            <a:pPr>
              <a:lnSpc>
                <a:spcPct val="103000"/>
              </a:lnSpc>
              <a:spcAft>
                <a:spcPts val="600"/>
              </a:spcAft>
            </a:pPr>
            <a:r>
              <a:rPr sz="1050" b="1">
                <a:solidFill>
                  <a:srgbClr val="0F62FE"/>
                </a:solidFill>
                <a:latin typeface="Segoe UI"/>
              </a:rPr>
              <a:t>▪ </a:t>
            </a:r>
            <a:r>
              <a:rPr sz="1050" b="1">
                <a:solidFill>
                  <a:srgbClr val="161616"/>
                </a:solidFill>
                <a:latin typeface="Segoe UI"/>
              </a:rPr>
              <a:t>41,544 producers </a:t>
            </a:r>
            <a:r>
              <a:rPr sz="1050">
                <a:solidFill>
                  <a:srgbClr val="525252"/>
                </a:solidFill>
                <a:latin typeface="Segoe UI"/>
              </a:rPr>
              <a:t>report their own volumes. Nobody checks the figures.</a:t>
            </a:r>
          </a:p>
          <a:p>
            <a:pPr>
              <a:lnSpc>
                <a:spcPct val="103000"/>
              </a:lnSpc>
              <a:spcAft>
                <a:spcPts val="600"/>
              </a:spcAft>
            </a:pPr>
            <a:r>
              <a:rPr sz="1050" b="1">
                <a:solidFill>
                  <a:srgbClr val="0F62FE"/>
                </a:solidFill>
                <a:latin typeface="Segoe UI"/>
              </a:rPr>
              <a:t>▪ </a:t>
            </a:r>
            <a:r>
              <a:rPr sz="1050" b="1">
                <a:solidFill>
                  <a:srgbClr val="161616"/>
                </a:solidFill>
                <a:latin typeface="Segoe UI"/>
              </a:rPr>
              <a:t>About 1,000 processors </a:t>
            </a:r>
            <a:r>
              <a:rPr sz="1050">
                <a:solidFill>
                  <a:srgbClr val="525252"/>
                </a:solidFill>
                <a:latin typeface="Segoe UI"/>
              </a:rPr>
              <a:t>certify the credits that come out of those volumes.</a:t>
            </a:r>
          </a:p>
          <a:p>
            <a:pPr>
              <a:lnSpc>
                <a:spcPct val="103000"/>
              </a:lnSpc>
              <a:spcAft>
                <a:spcPts val="600"/>
              </a:spcAft>
            </a:pPr>
            <a:r>
              <a:rPr sz="1050" b="1">
                <a:solidFill>
                  <a:srgbClr val="0F62FE"/>
                </a:solidFill>
                <a:latin typeface="Segoe UI"/>
              </a:rPr>
              <a:t>▪ </a:t>
            </a:r>
            <a:r>
              <a:rPr sz="1050" b="1">
                <a:solidFill>
                  <a:srgbClr val="161616"/>
                </a:solidFill>
                <a:latin typeface="Segoe UI"/>
              </a:rPr>
              <a:t>The only proof is a GST invoice </a:t>
            </a:r>
            <a:r>
              <a:rPr sz="1050">
                <a:solidFill>
                  <a:srgbClr val="525252"/>
                </a:solidFill>
                <a:latin typeface="Segoe UI"/>
              </a:rPr>
              <a:t>for pellet sales, in a sector where 18% GST keeps trade informal.</a:t>
            </a:r>
          </a:p>
          <a:p>
            <a:pPr>
              <a:lnSpc>
                <a:spcPct val="103000"/>
              </a:lnSpc>
              <a:spcAft>
                <a:spcPts val="600"/>
              </a:spcAft>
            </a:pPr>
            <a:r>
              <a:rPr sz="1050" b="1">
                <a:solidFill>
                  <a:srgbClr val="0F62FE"/>
                </a:solidFill>
                <a:latin typeface="Segoe UI"/>
              </a:rPr>
              <a:t>▪ </a:t>
            </a:r>
            <a:r>
              <a:rPr sz="1050" b="1">
                <a:solidFill>
                  <a:srgbClr val="161616"/>
                </a:solidFill>
                <a:latin typeface="Segoe UI"/>
              </a:rPr>
              <a:t>Auditors sample </a:t>
            </a:r>
            <a:r>
              <a:rPr sz="1050">
                <a:solidFill>
                  <a:srgbClr val="525252"/>
                </a:solidFill>
                <a:latin typeface="Segoe UI"/>
              </a:rPr>
              <a:t>a handful of files out of thousands, weeks later.</a:t>
            </a:r>
          </a:p>
          <a:p>
            <a:pPr>
              <a:lnSpc>
                <a:spcPct val="103000"/>
              </a:lnSpc>
              <a:spcAft>
                <a:spcPts val="600"/>
              </a:spcAft>
            </a:pPr>
            <a:r>
              <a:rPr sz="1050" b="1">
                <a:solidFill>
                  <a:srgbClr val="0F62FE"/>
                </a:solidFill>
                <a:latin typeface="Segoe UI"/>
              </a:rPr>
              <a:t>▪ </a:t>
            </a:r>
            <a:r>
              <a:rPr sz="1050" b="1">
                <a:solidFill>
                  <a:srgbClr val="161616"/>
                </a:solidFill>
                <a:latin typeface="Segoe UI"/>
              </a:rPr>
              <a:t>CSE found branded packaging </a:t>
            </a:r>
            <a:r>
              <a:rPr sz="1050">
                <a:solidFill>
                  <a:srgbClr val="525252"/>
                </a:solidFill>
                <a:latin typeface="Segoe UI"/>
              </a:rPr>
              <a:t>was 70% of the waste in Agra's drains — from companies claiming 100% collection.</a:t>
            </a:r>
          </a:p>
        </p:txBody>
      </p:sp>
      <p:sp>
        <p:nvSpPr>
          <p:cNvPr id="41" name="Rectangle 40"/>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SDG 12 Responsible Consumption &amp; Production · IBM SkillsBuild Internship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0F62FE"/>
                </a:solidFill>
                <a:latin typeface="Segoe UI"/>
              </a:rPr>
              <a:t>STEP 3 — EXISTING CHALLENGES &amp; GAP ANALYSIS</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Everyone in this market is on the sell side</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04</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81328"/>
            <a:ext cx="4178808" cy="566928"/>
          </a:xfrm>
          <a:prstGeom prst="roundRect">
            <a:avLst>
              <a:gd name="adj" fmla="val 8000"/>
            </a:avLst>
          </a:prstGeom>
          <a:solidFill>
            <a:srgbClr val="002D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645920"/>
            <a:ext cx="3931920" cy="274320"/>
          </a:xfrm>
          <a:prstGeom prst="rect">
            <a:avLst/>
          </a:prstGeom>
          <a:noFill/>
        </p:spPr>
        <p:txBody>
          <a:bodyPr wrap="square" lIns="0" tIns="0" rIns="0" bIns="0" anchor="t">
            <a:spAutoFit/>
          </a:bodyPr>
          <a:lstStyle/>
          <a:p>
            <a:pPr algn="l">
              <a:lnSpc>
                <a:spcPct val="100000"/>
              </a:lnSpc>
              <a:spcAft>
                <a:spcPts val="0"/>
              </a:spcAft>
            </a:pPr>
            <a:r>
              <a:rPr sz="1050" b="1">
                <a:solidFill>
                  <a:srgbClr val="FFFFFF"/>
                </a:solidFill>
                <a:latin typeface="Segoe UI"/>
              </a:rPr>
              <a:t>Option</a:t>
            </a:r>
          </a:p>
        </p:txBody>
      </p:sp>
      <p:sp>
        <p:nvSpPr>
          <p:cNvPr id="9" name="Rectangle 8"/>
          <p:cNvSpPr/>
          <p:nvPr/>
        </p:nvSpPr>
        <p:spPr>
          <a:xfrm>
            <a:off x="4754880" y="1481328"/>
            <a:ext cx="1664208" cy="566928"/>
          </a:xfrm>
          <a:prstGeom prst="rect">
            <a:avLst/>
          </a:prstGeom>
          <a:solidFill>
            <a:srgbClr val="002D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01184" y="1645920"/>
            <a:ext cx="1417320" cy="274320"/>
          </a:xfrm>
          <a:prstGeom prst="rect">
            <a:avLst/>
          </a:prstGeom>
          <a:noFill/>
        </p:spPr>
        <p:txBody>
          <a:bodyPr wrap="square" lIns="0" tIns="0" rIns="0" bIns="0" anchor="t">
            <a:spAutoFit/>
          </a:bodyPr>
          <a:lstStyle/>
          <a:p>
            <a:pPr algn="ctr">
              <a:lnSpc>
                <a:spcPct val="100000"/>
              </a:lnSpc>
              <a:spcAft>
                <a:spcPts val="0"/>
              </a:spcAft>
            </a:pPr>
            <a:r>
              <a:rPr sz="1050" b="1">
                <a:solidFill>
                  <a:srgbClr val="FFFFFF"/>
                </a:solidFill>
                <a:latin typeface="Segoe UI"/>
              </a:rPr>
              <a:t>Independent?</a:t>
            </a:r>
          </a:p>
        </p:txBody>
      </p:sp>
      <p:sp>
        <p:nvSpPr>
          <p:cNvPr id="11" name="Rectangle 10"/>
          <p:cNvSpPr/>
          <p:nvPr/>
        </p:nvSpPr>
        <p:spPr>
          <a:xfrm>
            <a:off x="6446520" y="1481328"/>
            <a:ext cx="1664208" cy="566928"/>
          </a:xfrm>
          <a:prstGeom prst="rect">
            <a:avLst/>
          </a:prstGeom>
          <a:solidFill>
            <a:srgbClr val="002D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92824" y="1645920"/>
            <a:ext cx="1417320" cy="274320"/>
          </a:xfrm>
          <a:prstGeom prst="rect">
            <a:avLst/>
          </a:prstGeom>
          <a:noFill/>
        </p:spPr>
        <p:txBody>
          <a:bodyPr wrap="square" lIns="0" tIns="0" rIns="0" bIns="0" anchor="t">
            <a:spAutoFit/>
          </a:bodyPr>
          <a:lstStyle/>
          <a:p>
            <a:pPr algn="ctr">
              <a:lnSpc>
                <a:spcPct val="100000"/>
              </a:lnSpc>
              <a:spcAft>
                <a:spcPts val="0"/>
              </a:spcAft>
            </a:pPr>
            <a:r>
              <a:rPr sz="1050" b="1">
                <a:solidFill>
                  <a:srgbClr val="FFFFFF"/>
                </a:solidFill>
                <a:latin typeface="Segoe UI"/>
              </a:rPr>
              <a:t>Per-tonne?</a:t>
            </a:r>
          </a:p>
        </p:txBody>
      </p:sp>
      <p:sp>
        <p:nvSpPr>
          <p:cNvPr id="13" name="Rectangle 12"/>
          <p:cNvSpPr/>
          <p:nvPr/>
        </p:nvSpPr>
        <p:spPr>
          <a:xfrm>
            <a:off x="8138160" y="1481328"/>
            <a:ext cx="1664208" cy="566928"/>
          </a:xfrm>
          <a:prstGeom prst="rect">
            <a:avLst/>
          </a:prstGeom>
          <a:solidFill>
            <a:srgbClr val="002D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84464" y="1645920"/>
            <a:ext cx="1417320" cy="274320"/>
          </a:xfrm>
          <a:prstGeom prst="rect">
            <a:avLst/>
          </a:prstGeom>
          <a:noFill/>
        </p:spPr>
        <p:txBody>
          <a:bodyPr wrap="square" lIns="0" tIns="0" rIns="0" bIns="0" anchor="t">
            <a:spAutoFit/>
          </a:bodyPr>
          <a:lstStyle/>
          <a:p>
            <a:pPr algn="ctr">
              <a:lnSpc>
                <a:spcPct val="100000"/>
              </a:lnSpc>
              <a:spcAft>
                <a:spcPts val="0"/>
              </a:spcAft>
            </a:pPr>
            <a:r>
              <a:rPr sz="1050" b="1">
                <a:solidFill>
                  <a:srgbClr val="FFFFFF"/>
                </a:solidFill>
                <a:latin typeface="Segoe UI"/>
              </a:rPr>
              <a:t>Continuous?</a:t>
            </a:r>
          </a:p>
        </p:txBody>
      </p:sp>
      <p:sp>
        <p:nvSpPr>
          <p:cNvPr id="15" name="Rounded Rectangle 14"/>
          <p:cNvSpPr/>
          <p:nvPr/>
        </p:nvSpPr>
        <p:spPr>
          <a:xfrm>
            <a:off x="9829800" y="1481328"/>
            <a:ext cx="1783080" cy="566928"/>
          </a:xfrm>
          <a:prstGeom prst="roundRect">
            <a:avLst>
              <a:gd name="adj" fmla="val 8000"/>
            </a:avLst>
          </a:prstGeom>
          <a:solidFill>
            <a:srgbClr val="002D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76104" y="1645920"/>
            <a:ext cx="1536192" cy="274320"/>
          </a:xfrm>
          <a:prstGeom prst="rect">
            <a:avLst/>
          </a:prstGeom>
          <a:noFill/>
        </p:spPr>
        <p:txBody>
          <a:bodyPr wrap="square" lIns="0" tIns="0" rIns="0" bIns="0" anchor="t">
            <a:spAutoFit/>
          </a:bodyPr>
          <a:lstStyle/>
          <a:p>
            <a:pPr algn="ctr">
              <a:lnSpc>
                <a:spcPct val="100000"/>
              </a:lnSpc>
              <a:spcAft>
                <a:spcPts val="0"/>
              </a:spcAft>
            </a:pPr>
            <a:r>
              <a:rPr sz="1050" b="1">
                <a:solidFill>
                  <a:srgbClr val="FFFFFF"/>
                </a:solidFill>
                <a:latin typeface="Segoe UI"/>
              </a:rPr>
              <a:t>Conflict-free?</a:t>
            </a:r>
          </a:p>
        </p:txBody>
      </p:sp>
      <p:sp>
        <p:nvSpPr>
          <p:cNvPr id="17" name="Rectangle 16"/>
          <p:cNvSpPr/>
          <p:nvPr/>
        </p:nvSpPr>
        <p:spPr>
          <a:xfrm>
            <a:off x="548640" y="2048256"/>
            <a:ext cx="1109167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203704"/>
            <a:ext cx="3931920" cy="274320"/>
          </a:xfrm>
          <a:prstGeom prst="rect">
            <a:avLst/>
          </a:prstGeom>
          <a:noFill/>
        </p:spPr>
        <p:txBody>
          <a:bodyPr wrap="square" lIns="0" tIns="0" rIns="0" bIns="0" anchor="t">
            <a:spAutoFit/>
          </a:bodyPr>
          <a:lstStyle/>
          <a:p>
            <a:pPr algn="l">
              <a:lnSpc>
                <a:spcPct val="100000"/>
              </a:lnSpc>
              <a:spcAft>
                <a:spcPts val="0"/>
              </a:spcAft>
            </a:pPr>
            <a:r>
              <a:rPr sz="1150" b="0">
                <a:solidFill>
                  <a:srgbClr val="161616"/>
                </a:solidFill>
                <a:latin typeface="Segoe UI"/>
              </a:rPr>
              <a:t>Compliance consultants &amp; PROs</a:t>
            </a:r>
          </a:p>
        </p:txBody>
      </p:sp>
      <p:sp>
        <p:nvSpPr>
          <p:cNvPr id="19" name="TextBox 18"/>
          <p:cNvSpPr txBox="1"/>
          <p:nvPr/>
        </p:nvSpPr>
        <p:spPr>
          <a:xfrm>
            <a:off x="4754880" y="2130552"/>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20" name="TextBox 19"/>
          <p:cNvSpPr txBox="1"/>
          <p:nvPr/>
        </p:nvSpPr>
        <p:spPr>
          <a:xfrm>
            <a:off x="6446520" y="2130552"/>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21" name="TextBox 20"/>
          <p:cNvSpPr txBox="1"/>
          <p:nvPr/>
        </p:nvSpPr>
        <p:spPr>
          <a:xfrm>
            <a:off x="8138160" y="2130552"/>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22" name="TextBox 21"/>
          <p:cNvSpPr txBox="1"/>
          <p:nvPr/>
        </p:nvSpPr>
        <p:spPr>
          <a:xfrm>
            <a:off x="9829800" y="2130552"/>
            <a:ext cx="1783080"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23" name="Rectangle 22"/>
          <p:cNvSpPr/>
          <p:nvPr/>
        </p:nvSpPr>
        <p:spPr>
          <a:xfrm>
            <a:off x="548640" y="2615184"/>
            <a:ext cx="11091672" cy="530352"/>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 y="2770632"/>
            <a:ext cx="3931920" cy="274320"/>
          </a:xfrm>
          <a:prstGeom prst="rect">
            <a:avLst/>
          </a:prstGeom>
          <a:noFill/>
        </p:spPr>
        <p:txBody>
          <a:bodyPr wrap="square" lIns="0" tIns="0" rIns="0" bIns="0" anchor="t">
            <a:spAutoFit/>
          </a:bodyPr>
          <a:lstStyle/>
          <a:p>
            <a:pPr algn="l">
              <a:lnSpc>
                <a:spcPct val="100000"/>
              </a:lnSpc>
              <a:spcAft>
                <a:spcPts val="0"/>
              </a:spcAft>
            </a:pPr>
            <a:r>
              <a:rPr sz="1150" b="0">
                <a:solidFill>
                  <a:srgbClr val="161616"/>
                </a:solidFill>
                <a:latin typeface="Segoe UI"/>
              </a:rPr>
              <a:t>CPCB EPR portal</a:t>
            </a:r>
          </a:p>
        </p:txBody>
      </p:sp>
      <p:sp>
        <p:nvSpPr>
          <p:cNvPr id="25" name="TextBox 24"/>
          <p:cNvSpPr txBox="1"/>
          <p:nvPr/>
        </p:nvSpPr>
        <p:spPr>
          <a:xfrm>
            <a:off x="4754880" y="2697480"/>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26" name="TextBox 25"/>
          <p:cNvSpPr txBox="1"/>
          <p:nvPr/>
        </p:nvSpPr>
        <p:spPr>
          <a:xfrm>
            <a:off x="6446520" y="2697480"/>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27" name="TextBox 26"/>
          <p:cNvSpPr txBox="1"/>
          <p:nvPr/>
        </p:nvSpPr>
        <p:spPr>
          <a:xfrm>
            <a:off x="8138160" y="2697480"/>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28" name="TextBox 27"/>
          <p:cNvSpPr txBox="1"/>
          <p:nvPr/>
        </p:nvSpPr>
        <p:spPr>
          <a:xfrm>
            <a:off x="9829800" y="2697480"/>
            <a:ext cx="1783080"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29" name="Rectangle 28"/>
          <p:cNvSpPr/>
          <p:nvPr/>
        </p:nvSpPr>
        <p:spPr>
          <a:xfrm>
            <a:off x="548640" y="3182112"/>
            <a:ext cx="1109167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3337560"/>
            <a:ext cx="3931920" cy="274320"/>
          </a:xfrm>
          <a:prstGeom prst="rect">
            <a:avLst/>
          </a:prstGeom>
          <a:noFill/>
        </p:spPr>
        <p:txBody>
          <a:bodyPr wrap="square" lIns="0" tIns="0" rIns="0" bIns="0" anchor="t">
            <a:spAutoFit/>
          </a:bodyPr>
          <a:lstStyle/>
          <a:p>
            <a:pPr algn="l">
              <a:lnSpc>
                <a:spcPct val="100000"/>
              </a:lnSpc>
              <a:spcAft>
                <a:spcPts val="0"/>
              </a:spcAft>
            </a:pPr>
            <a:r>
              <a:rPr sz="1150" b="0">
                <a:solidFill>
                  <a:srgbClr val="161616"/>
                </a:solidFill>
                <a:latin typeface="Segoe UI"/>
              </a:rPr>
              <a:t>Manual recycler audits</a:t>
            </a:r>
          </a:p>
        </p:txBody>
      </p:sp>
      <p:sp>
        <p:nvSpPr>
          <p:cNvPr id="31" name="TextBox 30"/>
          <p:cNvSpPr txBox="1"/>
          <p:nvPr/>
        </p:nvSpPr>
        <p:spPr>
          <a:xfrm>
            <a:off x="4754880" y="3264408"/>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32" name="TextBox 31"/>
          <p:cNvSpPr txBox="1"/>
          <p:nvPr/>
        </p:nvSpPr>
        <p:spPr>
          <a:xfrm>
            <a:off x="6446520" y="3264408"/>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33" name="TextBox 32"/>
          <p:cNvSpPr txBox="1"/>
          <p:nvPr/>
        </p:nvSpPr>
        <p:spPr>
          <a:xfrm>
            <a:off x="8138160" y="3264408"/>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34" name="TextBox 33"/>
          <p:cNvSpPr txBox="1"/>
          <p:nvPr/>
        </p:nvSpPr>
        <p:spPr>
          <a:xfrm>
            <a:off x="9829800" y="3264408"/>
            <a:ext cx="1783080"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35" name="Rectangle 34"/>
          <p:cNvSpPr/>
          <p:nvPr/>
        </p:nvSpPr>
        <p:spPr>
          <a:xfrm>
            <a:off x="548640" y="3749040"/>
            <a:ext cx="11091672" cy="530352"/>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4944" y="3904488"/>
            <a:ext cx="3931920" cy="274320"/>
          </a:xfrm>
          <a:prstGeom prst="rect">
            <a:avLst/>
          </a:prstGeom>
          <a:noFill/>
        </p:spPr>
        <p:txBody>
          <a:bodyPr wrap="square" lIns="0" tIns="0" rIns="0" bIns="0" anchor="t">
            <a:spAutoFit/>
          </a:bodyPr>
          <a:lstStyle/>
          <a:p>
            <a:pPr algn="l">
              <a:lnSpc>
                <a:spcPct val="100000"/>
              </a:lnSpc>
              <a:spcAft>
                <a:spcPts val="0"/>
              </a:spcAft>
            </a:pPr>
            <a:r>
              <a:rPr sz="1150" b="0">
                <a:solidFill>
                  <a:srgbClr val="161616"/>
                </a:solidFill>
                <a:latin typeface="Segoe UI"/>
              </a:rPr>
              <a:t>Big-4 assurance engagement</a:t>
            </a:r>
          </a:p>
        </p:txBody>
      </p:sp>
      <p:sp>
        <p:nvSpPr>
          <p:cNvPr id="37" name="TextBox 36"/>
          <p:cNvSpPr txBox="1"/>
          <p:nvPr/>
        </p:nvSpPr>
        <p:spPr>
          <a:xfrm>
            <a:off x="4754880" y="3831336"/>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38" name="TextBox 37"/>
          <p:cNvSpPr txBox="1"/>
          <p:nvPr/>
        </p:nvSpPr>
        <p:spPr>
          <a:xfrm>
            <a:off x="6446520" y="3831336"/>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39" name="TextBox 38"/>
          <p:cNvSpPr txBox="1"/>
          <p:nvPr/>
        </p:nvSpPr>
        <p:spPr>
          <a:xfrm>
            <a:off x="8138160" y="3831336"/>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B4B4B4"/>
                </a:solidFill>
                <a:latin typeface="Segoe UI"/>
              </a:rPr>
              <a:t>✗</a:t>
            </a:r>
          </a:p>
        </p:txBody>
      </p:sp>
      <p:sp>
        <p:nvSpPr>
          <p:cNvPr id="40" name="TextBox 39"/>
          <p:cNvSpPr txBox="1"/>
          <p:nvPr/>
        </p:nvSpPr>
        <p:spPr>
          <a:xfrm>
            <a:off x="9829800" y="3831336"/>
            <a:ext cx="1783080"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41" name="Rectangle 40"/>
          <p:cNvSpPr/>
          <p:nvPr/>
        </p:nvSpPr>
        <p:spPr>
          <a:xfrm>
            <a:off x="548640" y="4315968"/>
            <a:ext cx="11091672" cy="530352"/>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4944" y="4471416"/>
            <a:ext cx="3931920" cy="274320"/>
          </a:xfrm>
          <a:prstGeom prst="rect">
            <a:avLst/>
          </a:prstGeom>
          <a:noFill/>
        </p:spPr>
        <p:txBody>
          <a:bodyPr wrap="square" lIns="0" tIns="0" rIns="0" bIns="0" anchor="t">
            <a:spAutoFit/>
          </a:bodyPr>
          <a:lstStyle/>
          <a:p>
            <a:pPr algn="l">
              <a:lnSpc>
                <a:spcPct val="100000"/>
              </a:lnSpc>
              <a:spcAft>
                <a:spcPts val="0"/>
              </a:spcAft>
            </a:pPr>
            <a:r>
              <a:rPr sz="1150" b="1">
                <a:solidFill>
                  <a:srgbClr val="8A3FFC"/>
                </a:solidFill>
                <a:latin typeface="Segoe UI"/>
              </a:rPr>
              <a:t>Pramaan AI</a:t>
            </a:r>
          </a:p>
        </p:txBody>
      </p:sp>
      <p:sp>
        <p:nvSpPr>
          <p:cNvPr id="43" name="TextBox 42"/>
          <p:cNvSpPr txBox="1"/>
          <p:nvPr/>
        </p:nvSpPr>
        <p:spPr>
          <a:xfrm>
            <a:off x="4754880" y="4398264"/>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44" name="TextBox 43"/>
          <p:cNvSpPr txBox="1"/>
          <p:nvPr/>
        </p:nvSpPr>
        <p:spPr>
          <a:xfrm>
            <a:off x="6446520" y="4398264"/>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45" name="TextBox 44"/>
          <p:cNvSpPr txBox="1"/>
          <p:nvPr/>
        </p:nvSpPr>
        <p:spPr>
          <a:xfrm>
            <a:off x="8138160" y="4398264"/>
            <a:ext cx="1664208"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46" name="TextBox 45"/>
          <p:cNvSpPr txBox="1"/>
          <p:nvPr/>
        </p:nvSpPr>
        <p:spPr>
          <a:xfrm>
            <a:off x="9829800" y="4398264"/>
            <a:ext cx="1783080" cy="402336"/>
          </a:xfrm>
          <a:prstGeom prst="rect">
            <a:avLst/>
          </a:prstGeom>
          <a:noFill/>
        </p:spPr>
        <p:txBody>
          <a:bodyPr wrap="square" lIns="0" tIns="0" rIns="0" bIns="0" anchor="t">
            <a:spAutoFit/>
          </a:bodyPr>
          <a:lstStyle/>
          <a:p>
            <a:pPr algn="ctr">
              <a:lnSpc>
                <a:spcPct val="100000"/>
              </a:lnSpc>
              <a:spcAft>
                <a:spcPts val="0"/>
              </a:spcAft>
            </a:pPr>
            <a:r>
              <a:rPr sz="1800" b="1">
                <a:solidFill>
                  <a:srgbClr val="24A148"/>
                </a:solidFill>
                <a:latin typeface="Segoe UI"/>
              </a:rPr>
              <a:t>✓</a:t>
            </a:r>
          </a:p>
        </p:txBody>
      </p:sp>
      <p:sp>
        <p:nvSpPr>
          <p:cNvPr id="47" name="Rounded Rectangle 46"/>
          <p:cNvSpPr/>
          <p:nvPr/>
        </p:nvSpPr>
        <p:spPr>
          <a:xfrm>
            <a:off x="548640" y="4617720"/>
            <a:ext cx="11091672" cy="822960"/>
          </a:xfrm>
          <a:prstGeom prst="roundRect">
            <a:avLst>
              <a:gd name="adj" fmla="val 8000"/>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7240" y="4736592"/>
            <a:ext cx="10698480" cy="603504"/>
          </a:xfrm>
          <a:prstGeom prst="rect">
            <a:avLst/>
          </a:prstGeom>
          <a:noFill/>
        </p:spPr>
        <p:txBody>
          <a:bodyPr wrap="square" lIns="0" tIns="0" rIns="0" bIns="0" anchor="t">
            <a:spAutoFit/>
          </a:bodyPr>
          <a:lstStyle/>
          <a:p>
            <a:pPr algn="l">
              <a:lnSpc>
                <a:spcPct val="110000"/>
              </a:lnSpc>
              <a:spcAft>
                <a:spcPts val="0"/>
              </a:spcAft>
            </a:pPr>
            <a:r>
              <a:rPr sz="1300" b="1">
                <a:solidFill>
                  <a:srgbClr val="8A3FFC"/>
                </a:solidFill>
                <a:latin typeface="Segoe UI"/>
              </a:rPr>
              <a:t>The gap: </a:t>
            </a:r>
            <a:r>
              <a:rPr sz="1300" b="0">
                <a:solidFill>
                  <a:srgbClr val="161616"/>
                </a:solidFill>
                <a:latin typeface="Segoe UI"/>
              </a:rPr>
              <a:t>nothing sits between ₹2,500 crore of credit claims and the regulator who has to trust them. No independent check, no record per tonne, nothing a machine can read.</a:t>
            </a:r>
          </a:p>
        </p:txBody>
      </p:sp>
      <p:sp>
        <p:nvSpPr>
          <p:cNvPr id="49" name="Rounded Rectangle 48"/>
          <p:cNvSpPr/>
          <p:nvPr/>
        </p:nvSpPr>
        <p:spPr>
          <a:xfrm>
            <a:off x="548640" y="5596128"/>
            <a:ext cx="11091672" cy="65836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7240" y="5715000"/>
            <a:ext cx="10698480" cy="457200"/>
          </a:xfrm>
          <a:prstGeom prst="rect">
            <a:avLst/>
          </a:prstGeom>
          <a:noFill/>
        </p:spPr>
        <p:txBody>
          <a:bodyPr wrap="square" lIns="0" tIns="0" rIns="0" bIns="0" anchor="t">
            <a:spAutoFit/>
          </a:bodyPr>
          <a:lstStyle/>
          <a:p>
            <a:pPr algn="l">
              <a:lnSpc>
                <a:spcPct val="110000"/>
              </a:lnSpc>
              <a:spcAft>
                <a:spcPts val="0"/>
              </a:spcAft>
            </a:pPr>
            <a:r>
              <a:rPr sz="1150" b="1">
                <a:solidFill>
                  <a:srgbClr val="0F62FE"/>
                </a:solidFill>
                <a:latin typeface="Segoe UI"/>
              </a:rPr>
              <a:t>What is actually hard to copy:  </a:t>
            </a:r>
            <a:r>
              <a:rPr sz="1150" b="0">
                <a:solidFill>
                  <a:srgbClr val="525252"/>
                </a:solidFill>
                <a:latin typeface="Segoe UI"/>
              </a:rPr>
              <a:t>not independence — any firm outside the credit trade could claim that — but reading a plant's whole month at once. Capacity fraud is invisible in any single document, and that is where we win.</a:t>
            </a:r>
          </a:p>
        </p:txBody>
      </p:sp>
      <p:sp>
        <p:nvSpPr>
          <p:cNvPr id="51" name="Rectangle 50"/>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SDG 12 Responsible Consumption &amp; Production · IBM SkillsBuild Internship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STEP 4 — PROPOSED SOLUTION</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Pramaan AI: five agents, one verdict, no credits sold</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05</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63040"/>
            <a:ext cx="7635240" cy="713232"/>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72768"/>
            <a:ext cx="7223760" cy="502920"/>
          </a:xfrm>
          <a:prstGeom prst="rect">
            <a:avLst/>
          </a:prstGeom>
          <a:noFill/>
        </p:spPr>
        <p:txBody>
          <a:bodyPr wrap="square" lIns="0" tIns="0" rIns="0" bIns="0" anchor="t">
            <a:spAutoFit/>
          </a:bodyPr>
          <a:lstStyle/>
          <a:p>
            <a:pPr algn="l">
              <a:lnSpc>
                <a:spcPct val="105000"/>
              </a:lnSpc>
              <a:spcAft>
                <a:spcPts val="0"/>
              </a:spcAft>
            </a:pPr>
            <a:r>
              <a:rPr sz="1300" b="1">
                <a:solidFill>
                  <a:srgbClr val="FFFFFF"/>
                </a:solidFill>
                <a:latin typeface="Segoe UI"/>
              </a:rPr>
              <a:t>Supervisor Orchestrator</a:t>
            </a:r>
            <a:r>
              <a:rPr sz="1100" b="0">
                <a:solidFill>
                  <a:srgbClr val="D4E2FF"/>
                </a:solidFill>
                <a:latin typeface="Segoe UI"/>
              </a:rPr>
              <a:t>  ·  routes every case, maintains the facility dossier memory and the evidence hash-chain</a:t>
            </a:r>
          </a:p>
        </p:txBody>
      </p:sp>
      <p:sp>
        <p:nvSpPr>
          <p:cNvPr id="9" name="Rounded Rectangle 8"/>
          <p:cNvSpPr/>
          <p:nvPr/>
        </p:nvSpPr>
        <p:spPr>
          <a:xfrm>
            <a:off x="548640" y="2304288"/>
            <a:ext cx="1453896" cy="157276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304288"/>
            <a:ext cx="1453896" cy="50292"/>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2432304"/>
            <a:ext cx="1216152" cy="457200"/>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Evidence Ingestion</a:t>
            </a:r>
          </a:p>
        </p:txBody>
      </p:sp>
      <p:sp>
        <p:nvSpPr>
          <p:cNvPr id="12" name="TextBox 11"/>
          <p:cNvSpPr txBox="1"/>
          <p:nvPr/>
        </p:nvSpPr>
        <p:spPr>
          <a:xfrm>
            <a:off x="676656" y="2926080"/>
            <a:ext cx="1216152" cy="914400"/>
          </a:xfrm>
          <a:prstGeom prst="rect">
            <a:avLst/>
          </a:prstGeom>
          <a:noFill/>
        </p:spPr>
        <p:txBody>
          <a:bodyPr wrap="square" lIns="0" tIns="0" rIns="0" bIns="0" anchor="t">
            <a:spAutoFit/>
          </a:bodyPr>
          <a:lstStyle/>
          <a:p>
            <a:pPr algn="l">
              <a:lnSpc>
                <a:spcPct val="105000"/>
              </a:lnSpc>
              <a:spcAft>
                <a:spcPts val="0"/>
              </a:spcAft>
            </a:pPr>
            <a:r>
              <a:rPr sz="810" b="0">
                <a:solidFill>
                  <a:srgbClr val="525252"/>
                </a:solidFill>
                <a:latin typeface="Segoe UI"/>
              </a:rPr>
              <a:t>reads weighbridge slips, e-way bills, invoices, registration papers and geotagged photos — including scans and Hindi</a:t>
            </a:r>
          </a:p>
        </p:txBody>
      </p:sp>
      <p:sp>
        <p:nvSpPr>
          <p:cNvPr id="13" name="Rounded Rectangle 12"/>
          <p:cNvSpPr/>
          <p:nvPr/>
        </p:nvSpPr>
        <p:spPr>
          <a:xfrm>
            <a:off x="2093976" y="2304288"/>
            <a:ext cx="1453896" cy="157276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093976" y="2304288"/>
            <a:ext cx="1453896" cy="50292"/>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21992" y="2432304"/>
            <a:ext cx="1216152" cy="457200"/>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Mass-Balance</a:t>
            </a:r>
          </a:p>
        </p:txBody>
      </p:sp>
      <p:sp>
        <p:nvSpPr>
          <p:cNvPr id="16" name="TextBox 15"/>
          <p:cNvSpPr txBox="1"/>
          <p:nvPr/>
        </p:nvSpPr>
        <p:spPr>
          <a:xfrm>
            <a:off x="2221992" y="2926080"/>
            <a:ext cx="1216152" cy="914400"/>
          </a:xfrm>
          <a:prstGeom prst="rect">
            <a:avLst/>
          </a:prstGeom>
          <a:noFill/>
        </p:spPr>
        <p:txBody>
          <a:bodyPr wrap="square" lIns="0" tIns="0" rIns="0" bIns="0" anchor="t">
            <a:spAutoFit/>
          </a:bodyPr>
          <a:lstStyle/>
          <a:p>
            <a:pPr algn="l">
              <a:lnSpc>
                <a:spcPct val="105000"/>
              </a:lnSpc>
              <a:spcAft>
                <a:spcPts val="0"/>
              </a:spcAft>
            </a:pPr>
            <a:r>
              <a:rPr sz="810" b="0">
                <a:solidFill>
                  <a:srgbClr val="525252"/>
                </a:solidFill>
                <a:latin typeface="Segoe UI"/>
              </a:rPr>
              <a:t>checks a plant did not sell more pellets than its feedstock could physically yield</a:t>
            </a:r>
          </a:p>
        </p:txBody>
      </p:sp>
      <p:sp>
        <p:nvSpPr>
          <p:cNvPr id="17" name="Rounded Rectangle 16"/>
          <p:cNvSpPr/>
          <p:nvPr/>
        </p:nvSpPr>
        <p:spPr>
          <a:xfrm>
            <a:off x="3639312" y="2304288"/>
            <a:ext cx="1453896" cy="157276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39312" y="2304288"/>
            <a:ext cx="1453896" cy="50292"/>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767328" y="2432304"/>
            <a:ext cx="1216152" cy="457200"/>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Capacity &amp; Anomaly</a:t>
            </a:r>
          </a:p>
        </p:txBody>
      </p:sp>
      <p:sp>
        <p:nvSpPr>
          <p:cNvPr id="20" name="TextBox 19"/>
          <p:cNvSpPr txBox="1"/>
          <p:nvPr/>
        </p:nvSpPr>
        <p:spPr>
          <a:xfrm>
            <a:off x="3767328" y="2926080"/>
            <a:ext cx="1216152" cy="914400"/>
          </a:xfrm>
          <a:prstGeom prst="rect">
            <a:avLst/>
          </a:prstGeom>
          <a:noFill/>
        </p:spPr>
        <p:txBody>
          <a:bodyPr wrap="square" lIns="0" tIns="0" rIns="0" bIns="0" anchor="t">
            <a:spAutoFit/>
          </a:bodyPr>
          <a:lstStyle/>
          <a:p>
            <a:pPr algn="l">
              <a:lnSpc>
                <a:spcPct val="105000"/>
              </a:lnSpc>
              <a:spcAft>
                <a:spcPts val="0"/>
              </a:spcAft>
            </a:pPr>
            <a:r>
              <a:rPr sz="810" b="0">
                <a:solidFill>
                  <a:srgbClr val="525252"/>
                </a:solidFill>
                <a:latin typeface="Segoe UI"/>
              </a:rPr>
              <a:t>reasons across a facility's whole month; hunts duplicate weights and credit cycles</a:t>
            </a:r>
          </a:p>
        </p:txBody>
      </p:sp>
      <p:sp>
        <p:nvSpPr>
          <p:cNvPr id="21" name="Rounded Rectangle 20"/>
          <p:cNvSpPr/>
          <p:nvPr/>
        </p:nvSpPr>
        <p:spPr>
          <a:xfrm>
            <a:off x="5184648" y="2304288"/>
            <a:ext cx="1453896" cy="157276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184648" y="2304288"/>
            <a:ext cx="1453896" cy="50292"/>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12664" y="2432304"/>
            <a:ext cx="1216152" cy="457200"/>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Origin &amp; Field-Truth</a:t>
            </a:r>
          </a:p>
        </p:txBody>
      </p:sp>
      <p:sp>
        <p:nvSpPr>
          <p:cNvPr id="24" name="TextBox 23"/>
          <p:cNvSpPr txBox="1"/>
          <p:nvPr/>
        </p:nvSpPr>
        <p:spPr>
          <a:xfrm>
            <a:off x="5312664" y="2926080"/>
            <a:ext cx="1216152" cy="914400"/>
          </a:xfrm>
          <a:prstGeom prst="rect">
            <a:avLst/>
          </a:prstGeom>
          <a:noFill/>
        </p:spPr>
        <p:txBody>
          <a:bodyPr wrap="square" lIns="0" tIns="0" rIns="0" bIns="0" anchor="t">
            <a:spAutoFit/>
          </a:bodyPr>
          <a:lstStyle/>
          <a:p>
            <a:pPr algn="l">
              <a:lnSpc>
                <a:spcPct val="105000"/>
              </a:lnSpc>
              <a:spcAft>
                <a:spcPts val="0"/>
              </a:spcAft>
            </a:pPr>
            <a:r>
              <a:rPr sz="810" b="0">
                <a:solidFill>
                  <a:srgbClr val="525252"/>
                </a:solidFill>
                <a:latin typeface="Segoe UI"/>
              </a:rPr>
              <a:t>photo-reuse forensics, GPS plausibility, polymer consistency, duplicate claims</a:t>
            </a:r>
          </a:p>
        </p:txBody>
      </p:sp>
      <p:sp>
        <p:nvSpPr>
          <p:cNvPr id="25" name="Rounded Rectangle 24"/>
          <p:cNvSpPr/>
          <p:nvPr/>
        </p:nvSpPr>
        <p:spPr>
          <a:xfrm>
            <a:off x="6729984" y="2304288"/>
            <a:ext cx="1453896" cy="157276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729984" y="2304288"/>
            <a:ext cx="1453896" cy="50292"/>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0" y="2432304"/>
            <a:ext cx="1216152" cy="457200"/>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Dossier &amp; Disclosure</a:t>
            </a:r>
          </a:p>
        </p:txBody>
      </p:sp>
      <p:sp>
        <p:nvSpPr>
          <p:cNvPr id="28" name="TextBox 27"/>
          <p:cNvSpPr txBox="1"/>
          <p:nvPr/>
        </p:nvSpPr>
        <p:spPr>
          <a:xfrm>
            <a:off x="6858000" y="2926080"/>
            <a:ext cx="1216152" cy="914400"/>
          </a:xfrm>
          <a:prstGeom prst="rect">
            <a:avLst/>
          </a:prstGeom>
          <a:noFill/>
        </p:spPr>
        <p:txBody>
          <a:bodyPr wrap="square" lIns="0" tIns="0" rIns="0" bIns="0" anchor="t">
            <a:spAutoFit/>
          </a:bodyPr>
          <a:lstStyle/>
          <a:p>
            <a:pPr algn="l">
              <a:lnSpc>
                <a:spcPct val="105000"/>
              </a:lnSpc>
              <a:spcAft>
                <a:spcPts val="0"/>
              </a:spcAft>
            </a:pPr>
            <a:r>
              <a:rPr sz="810" b="0">
                <a:solidFill>
                  <a:srgbClr val="525252"/>
                </a:solidFill>
                <a:latin typeface="Segoe UI"/>
              </a:rPr>
              <a:t>compiles the evidence chain, exceptions and CPCB-format traceability disclosure</a:t>
            </a:r>
          </a:p>
        </p:txBody>
      </p:sp>
      <p:sp>
        <p:nvSpPr>
          <p:cNvPr id="29" name="Rounded Rectangle 28"/>
          <p:cNvSpPr/>
          <p:nvPr/>
        </p:nvSpPr>
        <p:spPr>
          <a:xfrm>
            <a:off x="548640" y="4041648"/>
            <a:ext cx="7635240" cy="1170432"/>
          </a:xfrm>
          <a:prstGeom prst="roundRect">
            <a:avLst>
              <a:gd name="adj" fmla="val 8000"/>
            </a:avLst>
          </a:prstGeom>
          <a:solidFill>
            <a:srgbClr val="F6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4041648"/>
            <a:ext cx="54864" cy="1170432"/>
          </a:xfrm>
          <a:prstGeom prst="rect">
            <a:avLst/>
          </a:prstGeom>
          <a:solidFill>
            <a:srgbClr val="24A1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4160520"/>
            <a:ext cx="7223760" cy="960120"/>
          </a:xfrm>
          <a:prstGeom prst="rect">
            <a:avLst/>
          </a:prstGeom>
          <a:noFill/>
        </p:spPr>
        <p:txBody>
          <a:bodyPr wrap="square" lIns="0" tIns="0" rIns="0" bIns="0" anchor="t">
            <a:spAutoFit/>
          </a:bodyPr>
          <a:lstStyle/>
          <a:p>
            <a:pPr algn="l">
              <a:lnSpc>
                <a:spcPct val="115000"/>
              </a:lnSpc>
              <a:spcAft>
                <a:spcPts val="0"/>
              </a:spcAft>
            </a:pPr>
            <a:r>
              <a:rPr sz="1200" b="1">
                <a:solidFill>
                  <a:srgbClr val="24A148"/>
                </a:solidFill>
                <a:latin typeface="Segoe UI"/>
              </a:rPr>
              <a:t>Output: a Proof-of-Recycling dossier</a:t>
            </a:r>
            <a:r>
              <a:rPr sz="1100" b="0">
                <a:solidFill>
                  <a:srgbClr val="525252"/>
                </a:solidFill>
                <a:latin typeface="Segoe UI"/>
              </a:rPr>
              <a:t> — a verdict per tonne with confidence, an exception log, and an evidence trail a regulator, auditor or court can follow.</a:t>
            </a:r>
          </a:p>
          <a:p>
            <a:pPr algn="l">
              <a:lnSpc>
                <a:spcPct val="115000"/>
              </a:lnSpc>
              <a:spcAft>
                <a:spcPts val="0"/>
              </a:spcAft>
            </a:pPr>
            <a:r>
              <a:rPr sz="1100" b="1">
                <a:solidFill>
                  <a:srgbClr val="161616"/>
                </a:solidFill>
                <a:latin typeface="Segoe UI"/>
              </a:rPr>
              <a:t>Plus a Processor Integrity Rating </a:t>
            </a:r>
            <a:r>
              <a:rPr sz="1100" b="0">
                <a:solidFill>
                  <a:srgbClr val="525252"/>
                </a:solidFill>
                <a:latin typeface="Segoe UI"/>
              </a:rPr>
              <a:t>built from verified facility-months instead of self-reported capacity. Public artefacts never name a processor — ratings carry a pseudonym (PWP-014), stay internal to the client, and carry a right of reply.</a:t>
            </a:r>
          </a:p>
        </p:txBody>
      </p:sp>
      <p:sp>
        <p:nvSpPr>
          <p:cNvPr id="32" name="Rounded Rectangle 31"/>
          <p:cNvSpPr/>
          <p:nvPr/>
        </p:nvSpPr>
        <p:spPr>
          <a:xfrm>
            <a:off x="8394192" y="1463040"/>
            <a:ext cx="3246120" cy="3749039"/>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13648" y="1609344"/>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BF8B2E"/>
                </a:solidFill>
                <a:latin typeface="Segoe UI"/>
              </a:rPr>
              <a:t>DOSSIER · C00421</a:t>
            </a:r>
          </a:p>
        </p:txBody>
      </p:sp>
      <p:sp>
        <p:nvSpPr>
          <p:cNvPr id="34" name="TextBox 33"/>
          <p:cNvSpPr txBox="1"/>
          <p:nvPr/>
        </p:nvSpPr>
        <p:spPr>
          <a:xfrm>
            <a:off x="8613648" y="1920240"/>
            <a:ext cx="2834640" cy="457200"/>
          </a:xfrm>
          <a:prstGeom prst="rect">
            <a:avLst/>
          </a:prstGeom>
          <a:noFill/>
        </p:spPr>
        <p:txBody>
          <a:bodyPr wrap="square" lIns="0" tIns="0" rIns="0" bIns="0" anchor="t">
            <a:spAutoFit/>
          </a:bodyPr>
          <a:lstStyle/>
          <a:p>
            <a:pPr algn="l">
              <a:lnSpc>
                <a:spcPct val="100000"/>
              </a:lnSpc>
              <a:spcAft>
                <a:spcPts val="0"/>
              </a:spcAft>
            </a:pPr>
            <a:r>
              <a:rPr sz="1500" b="1">
                <a:solidFill>
                  <a:srgbClr val="FFFFFF"/>
                </a:solidFill>
                <a:latin typeface="Segoe UI"/>
              </a:rPr>
              <a:t>32.4 t · Category II</a:t>
            </a:r>
          </a:p>
        </p:txBody>
      </p:sp>
      <p:sp>
        <p:nvSpPr>
          <p:cNvPr id="35" name="Rounded Rectangle 34"/>
          <p:cNvSpPr/>
          <p:nvPr/>
        </p:nvSpPr>
        <p:spPr>
          <a:xfrm>
            <a:off x="8613648" y="2432304"/>
            <a:ext cx="1371600" cy="365760"/>
          </a:xfrm>
          <a:prstGeom prst="roundRect">
            <a:avLst>
              <a:gd name="adj" fmla="val 8000"/>
            </a:avLst>
          </a:prstGeom>
          <a:solidFill>
            <a:srgbClr val="DA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13648" y="2514600"/>
            <a:ext cx="1371600" cy="274320"/>
          </a:xfrm>
          <a:prstGeom prst="rect">
            <a:avLst/>
          </a:prstGeom>
          <a:noFill/>
        </p:spPr>
        <p:txBody>
          <a:bodyPr wrap="square" lIns="0" tIns="0" rIns="0" bIns="0" anchor="t">
            <a:spAutoFit/>
          </a:bodyPr>
          <a:lstStyle/>
          <a:p>
            <a:pPr algn="ctr">
              <a:lnSpc>
                <a:spcPct val="100000"/>
              </a:lnSpc>
              <a:spcAft>
                <a:spcPts val="0"/>
              </a:spcAft>
            </a:pPr>
            <a:r>
              <a:rPr sz="1050" b="1">
                <a:solidFill>
                  <a:srgbClr val="FFFFFF"/>
                </a:solidFill>
                <a:latin typeface="Segoe UI"/>
              </a:rPr>
              <a:t>ESCALATED</a:t>
            </a:r>
          </a:p>
        </p:txBody>
      </p:sp>
      <p:sp>
        <p:nvSpPr>
          <p:cNvPr id="37" name="TextBox 36"/>
          <p:cNvSpPr txBox="1"/>
          <p:nvPr/>
        </p:nvSpPr>
        <p:spPr>
          <a:xfrm>
            <a:off x="8613648" y="2971800"/>
            <a:ext cx="502920" cy="274320"/>
          </a:xfrm>
          <a:prstGeom prst="rect">
            <a:avLst/>
          </a:prstGeom>
          <a:noFill/>
        </p:spPr>
        <p:txBody>
          <a:bodyPr wrap="square" lIns="0" tIns="0" rIns="0" bIns="0" anchor="t">
            <a:spAutoFit/>
          </a:bodyPr>
          <a:lstStyle/>
          <a:p>
            <a:pPr algn="l">
              <a:lnSpc>
                <a:spcPct val="100000"/>
              </a:lnSpc>
              <a:spcAft>
                <a:spcPts val="0"/>
              </a:spcAft>
            </a:pPr>
            <a:r>
              <a:rPr sz="1000" b="1">
                <a:solidFill>
                  <a:srgbClr val="BF8B2E"/>
                </a:solidFill>
                <a:latin typeface="Segoe UI"/>
              </a:rPr>
              <a:t>H7</a:t>
            </a:r>
          </a:p>
        </p:txBody>
      </p:sp>
      <p:sp>
        <p:nvSpPr>
          <p:cNvPr id="38" name="TextBox 37"/>
          <p:cNvSpPr txBox="1"/>
          <p:nvPr/>
        </p:nvSpPr>
        <p:spPr>
          <a:xfrm>
            <a:off x="9116568" y="2971800"/>
            <a:ext cx="2368296" cy="274499"/>
          </a:xfrm>
          <a:prstGeom prst="rect">
            <a:avLst/>
          </a:prstGeom>
          <a:noFill/>
        </p:spPr>
        <p:txBody>
          <a:bodyPr wrap="square" lIns="0" tIns="0" rIns="0" bIns="0" anchor="t">
            <a:spAutoFit/>
          </a:bodyPr>
          <a:lstStyle/>
          <a:p>
            <a:pPr algn="l">
              <a:lnSpc>
                <a:spcPct val="105000"/>
              </a:lnSpc>
              <a:spcAft>
                <a:spcPts val="0"/>
              </a:spcAft>
            </a:pPr>
            <a:r>
              <a:rPr sz="880" b="0" dirty="0">
                <a:solidFill>
                  <a:srgbClr val="BEBEBE"/>
                </a:solidFill>
                <a:latin typeface="Segoe UI"/>
              </a:rPr>
              <a:t>capacity breach — single certificate exceeds the plant's whole monthly </a:t>
            </a:r>
            <a:r>
              <a:rPr sz="880" b="0" dirty="0" err="1">
                <a:solidFill>
                  <a:srgbClr val="BEBEBE"/>
                </a:solidFill>
                <a:latin typeface="Segoe UI"/>
              </a:rPr>
              <a:t>licence</a:t>
            </a:r>
            <a:endParaRPr sz="880" b="0" dirty="0">
              <a:solidFill>
                <a:srgbClr val="BEBEBE"/>
              </a:solidFill>
              <a:latin typeface="Segoe UI"/>
            </a:endParaRPr>
          </a:p>
        </p:txBody>
      </p:sp>
      <p:sp>
        <p:nvSpPr>
          <p:cNvPr id="39" name="TextBox 38"/>
          <p:cNvSpPr txBox="1"/>
          <p:nvPr/>
        </p:nvSpPr>
        <p:spPr>
          <a:xfrm>
            <a:off x="8613648" y="3502152"/>
            <a:ext cx="502920" cy="274320"/>
          </a:xfrm>
          <a:prstGeom prst="rect">
            <a:avLst/>
          </a:prstGeom>
          <a:noFill/>
        </p:spPr>
        <p:txBody>
          <a:bodyPr wrap="square" lIns="0" tIns="0" rIns="0" bIns="0" anchor="t">
            <a:spAutoFit/>
          </a:bodyPr>
          <a:lstStyle/>
          <a:p>
            <a:pPr algn="l">
              <a:lnSpc>
                <a:spcPct val="100000"/>
              </a:lnSpc>
              <a:spcAft>
                <a:spcPts val="0"/>
              </a:spcAft>
            </a:pPr>
            <a:r>
              <a:rPr sz="1000" b="1">
                <a:solidFill>
                  <a:srgbClr val="BF8B2E"/>
                </a:solidFill>
                <a:latin typeface="Segoe UI"/>
              </a:rPr>
              <a:t>H2</a:t>
            </a:r>
          </a:p>
        </p:txBody>
      </p:sp>
      <p:sp>
        <p:nvSpPr>
          <p:cNvPr id="40" name="TextBox 39"/>
          <p:cNvSpPr txBox="1"/>
          <p:nvPr/>
        </p:nvSpPr>
        <p:spPr>
          <a:xfrm>
            <a:off x="9116568" y="3502152"/>
            <a:ext cx="2331720" cy="274499"/>
          </a:xfrm>
          <a:prstGeom prst="rect">
            <a:avLst/>
          </a:prstGeom>
          <a:noFill/>
        </p:spPr>
        <p:txBody>
          <a:bodyPr wrap="square" lIns="0" tIns="0" rIns="0" bIns="0" anchor="t">
            <a:spAutoFit/>
          </a:bodyPr>
          <a:lstStyle/>
          <a:p>
            <a:pPr algn="l">
              <a:lnSpc>
                <a:spcPct val="105000"/>
              </a:lnSpc>
              <a:spcAft>
                <a:spcPts val="0"/>
              </a:spcAft>
            </a:pPr>
            <a:r>
              <a:rPr sz="880" b="0" dirty="0">
                <a:solidFill>
                  <a:srgbClr val="BEBEBE"/>
                </a:solidFill>
                <a:latin typeface="Segoe UI"/>
              </a:rPr>
              <a:t>mass balance — output exceeds recoverable yield from declared feedstock</a:t>
            </a:r>
          </a:p>
        </p:txBody>
      </p:sp>
      <p:sp>
        <p:nvSpPr>
          <p:cNvPr id="41" name="TextBox 40"/>
          <p:cNvSpPr txBox="1"/>
          <p:nvPr/>
        </p:nvSpPr>
        <p:spPr>
          <a:xfrm>
            <a:off x="8613648" y="4032504"/>
            <a:ext cx="2743200" cy="502920"/>
          </a:xfrm>
          <a:prstGeom prst="rect">
            <a:avLst/>
          </a:prstGeom>
          <a:noFill/>
        </p:spPr>
        <p:txBody>
          <a:bodyPr wrap="square" lIns="0" tIns="0" rIns="0" bIns="0" anchor="t">
            <a:spAutoFit/>
          </a:bodyPr>
          <a:lstStyle/>
          <a:p>
            <a:pPr algn="l">
              <a:lnSpc>
                <a:spcPct val="105000"/>
              </a:lnSpc>
              <a:spcAft>
                <a:spcPts val="0"/>
              </a:spcAft>
            </a:pPr>
            <a:r>
              <a:rPr sz="880" b="0">
                <a:solidFill>
                  <a:srgbClr val="BEBEBE"/>
                </a:solidFill>
                <a:latin typeface="Segoe UI"/>
              </a:rPr>
              <a:t>14 evidence artefacts attached · hash-chained</a:t>
            </a:r>
          </a:p>
        </p:txBody>
      </p:sp>
      <p:sp>
        <p:nvSpPr>
          <p:cNvPr id="42" name="TextBox 41"/>
          <p:cNvSpPr txBox="1"/>
          <p:nvPr/>
        </p:nvSpPr>
        <p:spPr>
          <a:xfrm>
            <a:off x="8613648" y="4562856"/>
            <a:ext cx="2743200" cy="502920"/>
          </a:xfrm>
          <a:prstGeom prst="rect">
            <a:avLst/>
          </a:prstGeom>
          <a:noFill/>
        </p:spPr>
        <p:txBody>
          <a:bodyPr wrap="square" lIns="0" tIns="0" rIns="0" bIns="0" anchor="t">
            <a:spAutoFit/>
          </a:bodyPr>
          <a:lstStyle/>
          <a:p>
            <a:pPr algn="l">
              <a:lnSpc>
                <a:spcPct val="105000"/>
              </a:lnSpc>
              <a:spcAft>
                <a:spcPts val="0"/>
              </a:spcAft>
            </a:pPr>
            <a:r>
              <a:rPr sz="880" b="0" dirty="0">
                <a:solidFill>
                  <a:srgbClr val="BEBEBE"/>
                </a:solidFill>
                <a:latin typeface="Segoe UI"/>
              </a:rPr>
              <a:t>reviewed in 41 s · routed to human queue</a:t>
            </a:r>
          </a:p>
        </p:txBody>
      </p:sp>
      <p:sp>
        <p:nvSpPr>
          <p:cNvPr id="43" name="TextBox 42"/>
          <p:cNvSpPr txBox="1"/>
          <p:nvPr/>
        </p:nvSpPr>
        <p:spPr>
          <a:xfrm>
            <a:off x="8613648" y="4846320"/>
            <a:ext cx="2834640" cy="365760"/>
          </a:xfrm>
          <a:prstGeom prst="rect">
            <a:avLst/>
          </a:prstGeom>
          <a:noFill/>
        </p:spPr>
        <p:txBody>
          <a:bodyPr wrap="square" lIns="0" tIns="0" rIns="0" bIns="0" anchor="t">
            <a:spAutoFit/>
          </a:bodyPr>
          <a:lstStyle/>
          <a:p>
            <a:pPr algn="l">
              <a:lnSpc>
                <a:spcPct val="110000"/>
              </a:lnSpc>
              <a:spcAft>
                <a:spcPts val="0"/>
              </a:spcAft>
            </a:pPr>
            <a:r>
              <a:rPr sz="900" b="0">
                <a:solidFill>
                  <a:srgbClr val="8D8D8D"/>
                </a:solidFill>
                <a:latin typeface="Segoe UI"/>
              </a:rPr>
              <a:t>We hold no position in any credit we verify. That is the whole point.</a:t>
            </a:r>
          </a:p>
        </p:txBody>
      </p:sp>
      <p:sp>
        <p:nvSpPr>
          <p:cNvPr id="44" name="Rectangle 43"/>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SDG 12 Responsible Consumption &amp; Production · IBM SkillsBuild Internship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0F62FE"/>
                </a:solidFill>
                <a:latin typeface="Segoe UI"/>
              </a:rPr>
              <a:t>STEP 5 — SYSTEM ARCHITECTURE</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Deterministic checks, not model opinions</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06</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63040"/>
            <a:ext cx="11091672" cy="129844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54864" cy="1298448"/>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81912"/>
            <a:ext cx="2834640" cy="274320"/>
          </a:xfrm>
          <a:prstGeom prst="rect">
            <a:avLst/>
          </a:prstGeom>
          <a:noFill/>
        </p:spPr>
        <p:txBody>
          <a:bodyPr wrap="square" lIns="0" tIns="0" rIns="0" bIns="0" anchor="t">
            <a:spAutoFit/>
          </a:bodyPr>
          <a:lstStyle/>
          <a:p>
            <a:pPr algn="l">
              <a:lnSpc>
                <a:spcPct val="100000"/>
              </a:lnSpc>
              <a:spcAft>
                <a:spcPts val="0"/>
              </a:spcAft>
            </a:pPr>
            <a:r>
              <a:rPr sz="1150" b="1">
                <a:solidFill>
                  <a:srgbClr val="525252"/>
                </a:solidFill>
                <a:latin typeface="Segoe UI"/>
              </a:rPr>
              <a:t>1 · EVIDENCE LAYER</a:t>
            </a:r>
          </a:p>
        </p:txBody>
      </p:sp>
      <p:sp>
        <p:nvSpPr>
          <p:cNvPr id="10" name="TextBox 9"/>
          <p:cNvSpPr txBox="1"/>
          <p:nvPr/>
        </p:nvSpPr>
        <p:spPr>
          <a:xfrm>
            <a:off x="777240" y="1847088"/>
            <a:ext cx="2834640" cy="365760"/>
          </a:xfrm>
          <a:prstGeom prst="rect">
            <a:avLst/>
          </a:prstGeom>
          <a:noFill/>
        </p:spPr>
        <p:txBody>
          <a:bodyPr wrap="square" lIns="0" tIns="0" rIns="0" bIns="0" anchor="t">
            <a:spAutoFit/>
          </a:bodyPr>
          <a:lstStyle/>
          <a:p>
            <a:pPr algn="l">
              <a:lnSpc>
                <a:spcPct val="105000"/>
              </a:lnSpc>
              <a:spcAft>
                <a:spcPts val="0"/>
              </a:spcAft>
            </a:pPr>
            <a:r>
              <a:rPr sz="919" b="0">
                <a:solidFill>
                  <a:srgbClr val="525252"/>
                </a:solidFill>
                <a:latin typeface="Segoe UI"/>
              </a:rPr>
              <a:t>what actually exists in this industry</a:t>
            </a:r>
          </a:p>
        </p:txBody>
      </p:sp>
      <p:sp>
        <p:nvSpPr>
          <p:cNvPr id="11" name="Rounded Rectangle 10"/>
          <p:cNvSpPr/>
          <p:nvPr/>
        </p:nvSpPr>
        <p:spPr>
          <a:xfrm>
            <a:off x="3703320" y="1609344"/>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13048" y="1728216"/>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Weighbridge slips</a:t>
            </a:r>
          </a:p>
        </p:txBody>
      </p:sp>
      <p:sp>
        <p:nvSpPr>
          <p:cNvPr id="13" name="Rounded Rectangle 12"/>
          <p:cNvSpPr/>
          <p:nvPr/>
        </p:nvSpPr>
        <p:spPr>
          <a:xfrm>
            <a:off x="6373368" y="1609344"/>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83096" y="1728216"/>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GST e-way bills</a:t>
            </a:r>
          </a:p>
        </p:txBody>
      </p:sp>
      <p:sp>
        <p:nvSpPr>
          <p:cNvPr id="15" name="Rounded Rectangle 14"/>
          <p:cNvSpPr/>
          <p:nvPr/>
        </p:nvSpPr>
        <p:spPr>
          <a:xfrm>
            <a:off x="9043416" y="1609344"/>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53144" y="1728216"/>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Sale invoices</a:t>
            </a:r>
          </a:p>
        </p:txBody>
      </p:sp>
      <p:sp>
        <p:nvSpPr>
          <p:cNvPr id="17" name="Rounded Rectangle 16"/>
          <p:cNvSpPr/>
          <p:nvPr/>
        </p:nvSpPr>
        <p:spPr>
          <a:xfrm>
            <a:off x="3703320" y="2139696"/>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13048" y="2258568"/>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PWP registration</a:t>
            </a:r>
          </a:p>
        </p:txBody>
      </p:sp>
      <p:sp>
        <p:nvSpPr>
          <p:cNvPr id="19" name="Rounded Rectangle 18"/>
          <p:cNvSpPr/>
          <p:nvPr/>
        </p:nvSpPr>
        <p:spPr>
          <a:xfrm>
            <a:off x="6373368" y="2139696"/>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83096" y="2258568"/>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Portal filings</a:t>
            </a:r>
          </a:p>
        </p:txBody>
      </p:sp>
      <p:sp>
        <p:nvSpPr>
          <p:cNvPr id="21" name="Rounded Rectangle 20"/>
          <p:cNvSpPr/>
          <p:nvPr/>
        </p:nvSpPr>
        <p:spPr>
          <a:xfrm>
            <a:off x="9043416" y="2139696"/>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53144" y="2258568"/>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Geotagged photos</a:t>
            </a:r>
          </a:p>
        </p:txBody>
      </p:sp>
      <p:sp>
        <p:nvSpPr>
          <p:cNvPr id="23" name="Rounded Rectangle 22"/>
          <p:cNvSpPr/>
          <p:nvPr/>
        </p:nvSpPr>
        <p:spPr>
          <a:xfrm>
            <a:off x="548640" y="2889504"/>
            <a:ext cx="11091672" cy="129844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2889504"/>
            <a:ext cx="54864" cy="1298448"/>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3008376"/>
            <a:ext cx="2834640" cy="274320"/>
          </a:xfrm>
          <a:prstGeom prst="rect">
            <a:avLst/>
          </a:prstGeom>
          <a:noFill/>
        </p:spPr>
        <p:txBody>
          <a:bodyPr wrap="square" lIns="0" tIns="0" rIns="0" bIns="0" anchor="t">
            <a:spAutoFit/>
          </a:bodyPr>
          <a:lstStyle/>
          <a:p>
            <a:pPr algn="l">
              <a:lnSpc>
                <a:spcPct val="100000"/>
              </a:lnSpc>
              <a:spcAft>
                <a:spcPts val="0"/>
              </a:spcAft>
            </a:pPr>
            <a:r>
              <a:rPr sz="1150" b="1">
                <a:solidFill>
                  <a:srgbClr val="8A3FFC"/>
                </a:solidFill>
                <a:latin typeface="Segoe UI"/>
              </a:rPr>
              <a:t>2 · AGENT LAYER</a:t>
            </a:r>
          </a:p>
        </p:txBody>
      </p:sp>
      <p:sp>
        <p:nvSpPr>
          <p:cNvPr id="26" name="TextBox 25"/>
          <p:cNvSpPr txBox="1"/>
          <p:nvPr/>
        </p:nvSpPr>
        <p:spPr>
          <a:xfrm>
            <a:off x="777240" y="3273552"/>
            <a:ext cx="2834640" cy="365760"/>
          </a:xfrm>
          <a:prstGeom prst="rect">
            <a:avLst/>
          </a:prstGeom>
          <a:noFill/>
        </p:spPr>
        <p:txBody>
          <a:bodyPr wrap="square" lIns="0" tIns="0" rIns="0" bIns="0" anchor="t">
            <a:spAutoFit/>
          </a:bodyPr>
          <a:lstStyle/>
          <a:p>
            <a:pPr algn="l">
              <a:lnSpc>
                <a:spcPct val="105000"/>
              </a:lnSpc>
              <a:spcAft>
                <a:spcPts val="0"/>
              </a:spcAft>
            </a:pPr>
            <a:r>
              <a:rPr sz="919" b="0">
                <a:solidFill>
                  <a:srgbClr val="525252"/>
                </a:solidFill>
                <a:latin typeface="Segoe UI"/>
              </a:rPr>
              <a:t>one supervisor, five specialists</a:t>
            </a:r>
          </a:p>
        </p:txBody>
      </p:sp>
      <p:sp>
        <p:nvSpPr>
          <p:cNvPr id="27" name="Rounded Rectangle 26"/>
          <p:cNvSpPr/>
          <p:nvPr/>
        </p:nvSpPr>
        <p:spPr>
          <a:xfrm>
            <a:off x="3703320" y="3035808"/>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13048" y="3154680"/>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Supervisor orchestrator</a:t>
            </a:r>
          </a:p>
        </p:txBody>
      </p:sp>
      <p:sp>
        <p:nvSpPr>
          <p:cNvPr id="29" name="Rounded Rectangle 28"/>
          <p:cNvSpPr/>
          <p:nvPr/>
        </p:nvSpPr>
        <p:spPr>
          <a:xfrm>
            <a:off x="6373368" y="3035808"/>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83096" y="3154680"/>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Ingestion agent</a:t>
            </a:r>
          </a:p>
        </p:txBody>
      </p:sp>
      <p:sp>
        <p:nvSpPr>
          <p:cNvPr id="31" name="Rounded Rectangle 30"/>
          <p:cNvSpPr/>
          <p:nvPr/>
        </p:nvSpPr>
        <p:spPr>
          <a:xfrm>
            <a:off x="9043416" y="3035808"/>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53144" y="3154680"/>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Mass-balance agent</a:t>
            </a:r>
          </a:p>
        </p:txBody>
      </p:sp>
      <p:sp>
        <p:nvSpPr>
          <p:cNvPr id="33" name="Rounded Rectangle 32"/>
          <p:cNvSpPr/>
          <p:nvPr/>
        </p:nvSpPr>
        <p:spPr>
          <a:xfrm>
            <a:off x="3703320" y="3566160"/>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813048" y="3685032"/>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Capacity &amp; anomaly agent</a:t>
            </a:r>
          </a:p>
        </p:txBody>
      </p:sp>
      <p:sp>
        <p:nvSpPr>
          <p:cNvPr id="35" name="Rounded Rectangle 34"/>
          <p:cNvSpPr/>
          <p:nvPr/>
        </p:nvSpPr>
        <p:spPr>
          <a:xfrm>
            <a:off x="6373368" y="3566160"/>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83096" y="3685032"/>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Origin &amp; field-truth</a:t>
            </a:r>
          </a:p>
        </p:txBody>
      </p:sp>
      <p:sp>
        <p:nvSpPr>
          <p:cNvPr id="37" name="Rounded Rectangle 36"/>
          <p:cNvSpPr/>
          <p:nvPr/>
        </p:nvSpPr>
        <p:spPr>
          <a:xfrm>
            <a:off x="9043416" y="3566160"/>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53144" y="3685032"/>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Dossier agent</a:t>
            </a:r>
          </a:p>
        </p:txBody>
      </p:sp>
      <p:sp>
        <p:nvSpPr>
          <p:cNvPr id="39" name="Rounded Rectangle 38"/>
          <p:cNvSpPr/>
          <p:nvPr/>
        </p:nvSpPr>
        <p:spPr>
          <a:xfrm>
            <a:off x="548640" y="4315968"/>
            <a:ext cx="11091672" cy="129844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48640" y="4315968"/>
            <a:ext cx="54864" cy="1298448"/>
          </a:xfrm>
          <a:prstGeom prst="rect">
            <a:avLst/>
          </a:prstGeom>
          <a:solidFill>
            <a:srgbClr val="24A1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 y="4434840"/>
            <a:ext cx="2834640" cy="274320"/>
          </a:xfrm>
          <a:prstGeom prst="rect">
            <a:avLst/>
          </a:prstGeom>
          <a:noFill/>
        </p:spPr>
        <p:txBody>
          <a:bodyPr wrap="square" lIns="0" tIns="0" rIns="0" bIns="0" anchor="t">
            <a:spAutoFit/>
          </a:bodyPr>
          <a:lstStyle/>
          <a:p>
            <a:pPr algn="l">
              <a:lnSpc>
                <a:spcPct val="100000"/>
              </a:lnSpc>
              <a:spcAft>
                <a:spcPts val="0"/>
              </a:spcAft>
            </a:pPr>
            <a:r>
              <a:rPr sz="1150" b="1">
                <a:solidFill>
                  <a:srgbClr val="24A148"/>
                </a:solidFill>
                <a:latin typeface="Segoe UI"/>
              </a:rPr>
              <a:t>3 · OUTPUTS</a:t>
            </a:r>
          </a:p>
        </p:txBody>
      </p:sp>
      <p:sp>
        <p:nvSpPr>
          <p:cNvPr id="42" name="TextBox 41"/>
          <p:cNvSpPr txBox="1"/>
          <p:nvPr/>
        </p:nvSpPr>
        <p:spPr>
          <a:xfrm>
            <a:off x="777240" y="4700016"/>
            <a:ext cx="2834640" cy="365760"/>
          </a:xfrm>
          <a:prstGeom prst="rect">
            <a:avLst/>
          </a:prstGeom>
          <a:noFill/>
        </p:spPr>
        <p:txBody>
          <a:bodyPr wrap="square" lIns="0" tIns="0" rIns="0" bIns="0" anchor="t">
            <a:spAutoFit/>
          </a:bodyPr>
          <a:lstStyle/>
          <a:p>
            <a:pPr algn="l">
              <a:lnSpc>
                <a:spcPct val="105000"/>
              </a:lnSpc>
              <a:spcAft>
                <a:spcPts val="0"/>
              </a:spcAft>
            </a:pPr>
            <a:r>
              <a:rPr sz="919" b="0">
                <a:solidFill>
                  <a:srgbClr val="525252"/>
                </a:solidFill>
                <a:latin typeface="Segoe UI"/>
              </a:rPr>
              <a:t>what the client and the regulator receive</a:t>
            </a:r>
          </a:p>
        </p:txBody>
      </p:sp>
      <p:sp>
        <p:nvSpPr>
          <p:cNvPr id="43" name="Rounded Rectangle 42"/>
          <p:cNvSpPr/>
          <p:nvPr/>
        </p:nvSpPr>
        <p:spPr>
          <a:xfrm>
            <a:off x="3703320" y="4462272"/>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813048" y="4581144"/>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PoR dossier per certificate</a:t>
            </a:r>
          </a:p>
        </p:txBody>
      </p:sp>
      <p:sp>
        <p:nvSpPr>
          <p:cNvPr id="45" name="Rounded Rectangle 44"/>
          <p:cNvSpPr/>
          <p:nvPr/>
        </p:nvSpPr>
        <p:spPr>
          <a:xfrm>
            <a:off x="6373368" y="4462272"/>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83096" y="4581144"/>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Per-tonne verdict + confidence</a:t>
            </a:r>
          </a:p>
        </p:txBody>
      </p:sp>
      <p:sp>
        <p:nvSpPr>
          <p:cNvPr id="47" name="Rounded Rectangle 46"/>
          <p:cNvSpPr/>
          <p:nvPr/>
        </p:nvSpPr>
        <p:spPr>
          <a:xfrm>
            <a:off x="9043416" y="4462272"/>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53144" y="4581144"/>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Processor Integrity Rating</a:t>
            </a:r>
          </a:p>
        </p:txBody>
      </p:sp>
      <p:sp>
        <p:nvSpPr>
          <p:cNvPr id="49" name="Rounded Rectangle 48"/>
          <p:cNvSpPr/>
          <p:nvPr/>
        </p:nvSpPr>
        <p:spPr>
          <a:xfrm>
            <a:off x="3703320" y="4992624"/>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13048" y="5111496"/>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CPCB-format disclosure</a:t>
            </a:r>
          </a:p>
        </p:txBody>
      </p:sp>
      <p:sp>
        <p:nvSpPr>
          <p:cNvPr id="51" name="Rounded Rectangle 50"/>
          <p:cNvSpPr/>
          <p:nvPr/>
        </p:nvSpPr>
        <p:spPr>
          <a:xfrm>
            <a:off x="6373368" y="4992624"/>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83096" y="5111496"/>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Evidence hash-chain</a:t>
            </a:r>
          </a:p>
        </p:txBody>
      </p:sp>
      <p:sp>
        <p:nvSpPr>
          <p:cNvPr id="53" name="Rounded Rectangle 52"/>
          <p:cNvSpPr/>
          <p:nvPr/>
        </p:nvSpPr>
        <p:spPr>
          <a:xfrm>
            <a:off x="9043416" y="4992624"/>
            <a:ext cx="2542032" cy="438912"/>
          </a:xfrm>
          <a:prstGeom prst="roundRect">
            <a:avLst>
              <a:gd name="adj" fmla="val 8000"/>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153144" y="5111496"/>
            <a:ext cx="2331720" cy="274320"/>
          </a:xfrm>
          <a:prstGeom prst="rect">
            <a:avLst/>
          </a:prstGeom>
          <a:noFill/>
        </p:spPr>
        <p:txBody>
          <a:bodyPr wrap="square" lIns="0" tIns="0" rIns="0" bIns="0" anchor="t">
            <a:spAutoFit/>
          </a:bodyPr>
          <a:lstStyle/>
          <a:p>
            <a:pPr algn="l">
              <a:lnSpc>
                <a:spcPct val="100000"/>
              </a:lnSpc>
              <a:spcAft>
                <a:spcPts val="0"/>
              </a:spcAft>
            </a:pPr>
            <a:r>
              <a:rPr sz="960" b="0">
                <a:solidFill>
                  <a:srgbClr val="161616"/>
                </a:solidFill>
                <a:latin typeface="Segoe UI"/>
              </a:rPr>
              <a:t>Enforcement analytics</a:t>
            </a:r>
          </a:p>
        </p:txBody>
      </p:sp>
      <p:sp>
        <p:nvSpPr>
          <p:cNvPr id="55" name="Rounded Rectangle 54"/>
          <p:cNvSpPr/>
          <p:nvPr/>
        </p:nvSpPr>
        <p:spPr>
          <a:xfrm>
            <a:off x="548640" y="5742432"/>
            <a:ext cx="11091672" cy="566928"/>
          </a:xfrm>
          <a:prstGeom prst="roundRect">
            <a:avLst>
              <a:gd name="adj" fmla="val 8000"/>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77240" y="5852160"/>
            <a:ext cx="10698480" cy="384048"/>
          </a:xfrm>
          <a:prstGeom prst="rect">
            <a:avLst/>
          </a:prstGeom>
          <a:noFill/>
        </p:spPr>
        <p:txBody>
          <a:bodyPr wrap="square" lIns="0" tIns="0" rIns="0" bIns="0" anchor="t">
            <a:spAutoFit/>
          </a:bodyPr>
          <a:lstStyle/>
          <a:p>
            <a:pPr algn="l">
              <a:lnSpc>
                <a:spcPct val="110000"/>
              </a:lnSpc>
              <a:spcAft>
                <a:spcPts val="0"/>
              </a:spcAft>
            </a:pPr>
            <a:r>
              <a:rPr sz="1100" b="1">
                <a:solidFill>
                  <a:srgbClr val="8A3FFC"/>
                </a:solidFill>
                <a:latin typeface="Segoe UI"/>
              </a:rPr>
              <a:t>Design rule:  </a:t>
            </a:r>
            <a:r>
              <a:rPr sz="1100" b="0">
                <a:solidFill>
                  <a:srgbClr val="161616"/>
                </a:solidFill>
                <a:latin typeface="Segoe UI"/>
              </a:rPr>
              <a:t>Granite models read and sort the documents. The arithmetic is ordinary code: mass balance, licensed throughput, graph cycles. That is why a verdict can be defended.</a:t>
            </a:r>
          </a:p>
        </p:txBody>
      </p:sp>
      <p:sp>
        <p:nvSpPr>
          <p:cNvPr id="57" name="Rectangle 56"/>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SDG 12 Responsible Consumption &amp; Production · IBM SkillsBuild Internship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STEP 6 — WHAT THE ENGINE CATCHES</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Every way we faked a certificate, and what caught it</a:t>
            </a:r>
          </a:p>
        </p:txBody>
      </p:sp>
      <p:sp>
        <p:nvSpPr>
          <p:cNvPr id="5" name="Rounded Rectangle 4"/>
          <p:cNvSpPr/>
          <p:nvPr/>
        </p:nvSpPr>
        <p:spPr>
          <a:xfrm>
            <a:off x="8942832" y="246888"/>
            <a:ext cx="2048256" cy="274320"/>
          </a:xfrm>
          <a:prstGeom prst="roundRect">
            <a:avLst>
              <a:gd name="adj" fmla="val 8000"/>
            </a:avLst>
          </a:prstGeom>
          <a:solidFill>
            <a:srgbClr val="F3F0FF"/>
          </a:solidFill>
          <a:ln w="9525">
            <a:solidFill>
              <a:srgbClr val="8A3F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42832" y="297180"/>
            <a:ext cx="2048256" cy="219456"/>
          </a:xfrm>
          <a:prstGeom prst="rect">
            <a:avLst/>
          </a:prstGeom>
          <a:noFill/>
        </p:spPr>
        <p:txBody>
          <a:bodyPr wrap="square" lIns="0" tIns="0" rIns="0" bIns="0" anchor="t">
            <a:spAutoFit/>
          </a:bodyPr>
          <a:lstStyle/>
          <a:p>
            <a:pPr algn="ctr">
              <a:lnSpc>
                <a:spcPct val="100000"/>
              </a:lnSpc>
              <a:spcAft>
                <a:spcPts val="0"/>
              </a:spcAft>
            </a:pPr>
            <a:r>
              <a:rPr sz="850" b="1">
                <a:solidFill>
                  <a:srgbClr val="8A3FFC"/>
                </a:solidFill>
                <a:latin typeface="Segoe UI"/>
              </a:rPr>
              <a:t>SKIP IF SHORT · 9-MIN CUT</a:t>
            </a:r>
          </a:p>
        </p:txBody>
      </p:sp>
      <p:sp>
        <p:nvSpPr>
          <p:cNvPr id="7" name="TextBox 6"/>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07</a:t>
            </a:r>
          </a:p>
        </p:txBody>
      </p:sp>
      <p:sp>
        <p:nvSpPr>
          <p:cNvPr id="8" name="Rectangle 7"/>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463040"/>
            <a:ext cx="3017520" cy="274320"/>
          </a:xfrm>
          <a:prstGeom prst="rect">
            <a:avLst/>
          </a:prstGeom>
          <a:noFill/>
        </p:spPr>
        <p:txBody>
          <a:bodyPr wrap="square" lIns="0" tIns="0" rIns="0" bIns="0" anchor="t">
            <a:spAutoFit/>
          </a:bodyPr>
          <a:lstStyle/>
          <a:p>
            <a:pPr algn="l">
              <a:lnSpc>
                <a:spcPct val="100000"/>
              </a:lnSpc>
              <a:spcAft>
                <a:spcPts val="0"/>
              </a:spcAft>
            </a:pPr>
            <a:r>
              <a:rPr sz="900" b="1">
                <a:solidFill>
                  <a:srgbClr val="8D8D8D"/>
                </a:solidFill>
                <a:latin typeface="Segoe UI"/>
              </a:rPr>
              <a:t>FRAUD ARCHETYPE</a:t>
            </a:r>
          </a:p>
        </p:txBody>
      </p:sp>
      <p:sp>
        <p:nvSpPr>
          <p:cNvPr id="10" name="TextBox 9"/>
          <p:cNvSpPr txBox="1"/>
          <p:nvPr/>
        </p:nvSpPr>
        <p:spPr>
          <a:xfrm>
            <a:off x="3566160"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H1</a:t>
            </a:r>
          </a:p>
        </p:txBody>
      </p:sp>
      <p:sp>
        <p:nvSpPr>
          <p:cNvPr id="11" name="TextBox 10"/>
          <p:cNvSpPr txBox="1"/>
          <p:nvPr/>
        </p:nvSpPr>
        <p:spPr>
          <a:xfrm>
            <a:off x="4432554"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H2</a:t>
            </a:r>
          </a:p>
        </p:txBody>
      </p:sp>
      <p:sp>
        <p:nvSpPr>
          <p:cNvPr id="12" name="TextBox 11"/>
          <p:cNvSpPr txBox="1"/>
          <p:nvPr/>
        </p:nvSpPr>
        <p:spPr>
          <a:xfrm>
            <a:off x="5298948"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H3</a:t>
            </a:r>
          </a:p>
        </p:txBody>
      </p:sp>
      <p:sp>
        <p:nvSpPr>
          <p:cNvPr id="13" name="TextBox 12"/>
          <p:cNvSpPr txBox="1"/>
          <p:nvPr/>
        </p:nvSpPr>
        <p:spPr>
          <a:xfrm>
            <a:off x="6165342"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H4</a:t>
            </a:r>
          </a:p>
        </p:txBody>
      </p:sp>
      <p:sp>
        <p:nvSpPr>
          <p:cNvPr id="14" name="TextBox 13"/>
          <p:cNvSpPr txBox="1"/>
          <p:nvPr/>
        </p:nvSpPr>
        <p:spPr>
          <a:xfrm>
            <a:off x="7031736"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H5</a:t>
            </a:r>
          </a:p>
        </p:txBody>
      </p:sp>
      <p:sp>
        <p:nvSpPr>
          <p:cNvPr id="15" name="TextBox 14"/>
          <p:cNvSpPr txBox="1"/>
          <p:nvPr/>
        </p:nvSpPr>
        <p:spPr>
          <a:xfrm>
            <a:off x="7898130"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H6</a:t>
            </a:r>
          </a:p>
        </p:txBody>
      </p:sp>
      <p:sp>
        <p:nvSpPr>
          <p:cNvPr id="16" name="TextBox 15"/>
          <p:cNvSpPr txBox="1"/>
          <p:nvPr/>
        </p:nvSpPr>
        <p:spPr>
          <a:xfrm>
            <a:off x="8764524"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H7</a:t>
            </a:r>
          </a:p>
        </p:txBody>
      </p:sp>
      <p:sp>
        <p:nvSpPr>
          <p:cNvPr id="17" name="TextBox 16"/>
          <p:cNvSpPr txBox="1"/>
          <p:nvPr/>
        </p:nvSpPr>
        <p:spPr>
          <a:xfrm>
            <a:off x="9630918" y="1463040"/>
            <a:ext cx="866394" cy="274320"/>
          </a:xfrm>
          <a:prstGeom prst="rect">
            <a:avLst/>
          </a:prstGeom>
          <a:noFill/>
        </p:spPr>
        <p:txBody>
          <a:bodyPr wrap="square" lIns="0" tIns="0" rIns="0" bIns="0" anchor="t">
            <a:spAutoFit/>
          </a:bodyPr>
          <a:lstStyle/>
          <a:p>
            <a:pPr algn="ctr">
              <a:lnSpc>
                <a:spcPct val="100000"/>
              </a:lnSpc>
              <a:spcAft>
                <a:spcPts val="0"/>
              </a:spcAft>
            </a:pPr>
            <a:r>
              <a:rPr sz="950" b="1">
                <a:solidFill>
                  <a:srgbClr val="0F62FE"/>
                </a:solidFill>
                <a:latin typeface="Segoe UI"/>
              </a:rPr>
              <a:t>H8</a:t>
            </a:r>
          </a:p>
        </p:txBody>
      </p:sp>
      <p:sp>
        <p:nvSpPr>
          <p:cNvPr id="18" name="TextBox 17"/>
          <p:cNvSpPr txBox="1"/>
          <p:nvPr/>
        </p:nvSpPr>
        <p:spPr>
          <a:xfrm>
            <a:off x="10497312" y="1463040"/>
            <a:ext cx="1143000" cy="274320"/>
          </a:xfrm>
          <a:prstGeom prst="rect">
            <a:avLst/>
          </a:prstGeom>
          <a:noFill/>
        </p:spPr>
        <p:txBody>
          <a:bodyPr wrap="square" lIns="0" tIns="0" rIns="0" bIns="0" anchor="t">
            <a:spAutoFit/>
          </a:bodyPr>
          <a:lstStyle/>
          <a:p>
            <a:pPr algn="ctr">
              <a:lnSpc>
                <a:spcPct val="100000"/>
              </a:lnSpc>
              <a:spcAft>
                <a:spcPts val="0"/>
              </a:spcAft>
            </a:pPr>
            <a:r>
              <a:rPr sz="900" b="1">
                <a:solidFill>
                  <a:srgbClr val="8D8D8D"/>
                </a:solidFill>
                <a:latin typeface="Segoe UI"/>
              </a:rPr>
              <a:t>RECALL</a:t>
            </a:r>
          </a:p>
        </p:txBody>
      </p:sp>
      <p:sp>
        <p:nvSpPr>
          <p:cNvPr id="19" name="Rectangle 18"/>
          <p:cNvSpPr/>
          <p:nvPr/>
        </p:nvSpPr>
        <p:spPr>
          <a:xfrm>
            <a:off x="548640" y="1755648"/>
            <a:ext cx="11091672" cy="3657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1847088"/>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Capacity breach</a:t>
            </a:r>
          </a:p>
        </p:txBody>
      </p:sp>
      <p:sp>
        <p:nvSpPr>
          <p:cNvPr id="21" name="TextBox 20"/>
          <p:cNvSpPr txBox="1"/>
          <p:nvPr/>
        </p:nvSpPr>
        <p:spPr>
          <a:xfrm>
            <a:off x="3566160" y="184708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22" name="TextBox 21"/>
          <p:cNvSpPr txBox="1"/>
          <p:nvPr/>
        </p:nvSpPr>
        <p:spPr>
          <a:xfrm>
            <a:off x="4432554" y="184708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23" name="TextBox 22"/>
          <p:cNvSpPr txBox="1"/>
          <p:nvPr/>
        </p:nvSpPr>
        <p:spPr>
          <a:xfrm>
            <a:off x="5298948" y="184708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24" name="TextBox 23"/>
          <p:cNvSpPr txBox="1"/>
          <p:nvPr/>
        </p:nvSpPr>
        <p:spPr>
          <a:xfrm>
            <a:off x="6165342" y="184708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25" name="TextBox 24"/>
          <p:cNvSpPr txBox="1"/>
          <p:nvPr/>
        </p:nvSpPr>
        <p:spPr>
          <a:xfrm>
            <a:off x="7031736" y="184708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26" name="TextBox 25"/>
          <p:cNvSpPr txBox="1"/>
          <p:nvPr/>
        </p:nvSpPr>
        <p:spPr>
          <a:xfrm>
            <a:off x="7898130" y="184708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27" name="Rounded Rectangle 26"/>
          <p:cNvSpPr/>
          <p:nvPr/>
        </p:nvSpPr>
        <p:spPr>
          <a:xfrm>
            <a:off x="9020556" y="1819656"/>
            <a:ext cx="420624" cy="237744"/>
          </a:xfrm>
          <a:prstGeom prst="roundRect">
            <a:avLst>
              <a:gd name="adj" fmla="val 8000"/>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20556" y="1837944"/>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15</a:t>
            </a:r>
          </a:p>
        </p:txBody>
      </p:sp>
      <p:sp>
        <p:nvSpPr>
          <p:cNvPr id="29" name="TextBox 28"/>
          <p:cNvSpPr txBox="1"/>
          <p:nvPr/>
        </p:nvSpPr>
        <p:spPr>
          <a:xfrm>
            <a:off x="9630918" y="184708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30" name="TextBox 29"/>
          <p:cNvSpPr txBox="1"/>
          <p:nvPr/>
        </p:nvSpPr>
        <p:spPr>
          <a:xfrm>
            <a:off x="10497312" y="1847088"/>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100%</a:t>
            </a:r>
          </a:p>
        </p:txBody>
      </p:sp>
      <p:sp>
        <p:nvSpPr>
          <p:cNvPr id="31" name="Rectangle 30"/>
          <p:cNvSpPr/>
          <p:nvPr/>
        </p:nvSpPr>
        <p:spPr>
          <a:xfrm>
            <a:off x="548640" y="2157984"/>
            <a:ext cx="110916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2249424"/>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Mass balance</a:t>
            </a:r>
          </a:p>
        </p:txBody>
      </p:sp>
      <p:sp>
        <p:nvSpPr>
          <p:cNvPr id="33" name="TextBox 32"/>
          <p:cNvSpPr txBox="1"/>
          <p:nvPr/>
        </p:nvSpPr>
        <p:spPr>
          <a:xfrm>
            <a:off x="3566160" y="224942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34" name="Rounded Rectangle 33"/>
          <p:cNvSpPr/>
          <p:nvPr/>
        </p:nvSpPr>
        <p:spPr>
          <a:xfrm>
            <a:off x="4688586" y="2221992"/>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88586" y="2240280"/>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13</a:t>
            </a:r>
          </a:p>
        </p:txBody>
      </p:sp>
      <p:sp>
        <p:nvSpPr>
          <p:cNvPr id="36" name="TextBox 35"/>
          <p:cNvSpPr txBox="1"/>
          <p:nvPr/>
        </p:nvSpPr>
        <p:spPr>
          <a:xfrm>
            <a:off x="5298948" y="224942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37" name="TextBox 36"/>
          <p:cNvSpPr txBox="1"/>
          <p:nvPr/>
        </p:nvSpPr>
        <p:spPr>
          <a:xfrm>
            <a:off x="6165342" y="224942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38" name="TextBox 37"/>
          <p:cNvSpPr txBox="1"/>
          <p:nvPr/>
        </p:nvSpPr>
        <p:spPr>
          <a:xfrm>
            <a:off x="7031736" y="224942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39" name="TextBox 38"/>
          <p:cNvSpPr txBox="1"/>
          <p:nvPr/>
        </p:nvSpPr>
        <p:spPr>
          <a:xfrm>
            <a:off x="7898130" y="224942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40" name="TextBox 39"/>
          <p:cNvSpPr txBox="1"/>
          <p:nvPr/>
        </p:nvSpPr>
        <p:spPr>
          <a:xfrm>
            <a:off x="8764524" y="224942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41" name="TextBox 40"/>
          <p:cNvSpPr txBox="1"/>
          <p:nvPr/>
        </p:nvSpPr>
        <p:spPr>
          <a:xfrm>
            <a:off x="9630918" y="224942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42" name="TextBox 41"/>
          <p:cNvSpPr txBox="1"/>
          <p:nvPr/>
        </p:nvSpPr>
        <p:spPr>
          <a:xfrm>
            <a:off x="10497312" y="2249424"/>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100%</a:t>
            </a:r>
          </a:p>
        </p:txBody>
      </p:sp>
      <p:sp>
        <p:nvSpPr>
          <p:cNvPr id="43" name="Rectangle 42"/>
          <p:cNvSpPr/>
          <p:nvPr/>
        </p:nvSpPr>
        <p:spPr>
          <a:xfrm>
            <a:off x="548640" y="2560320"/>
            <a:ext cx="11091672" cy="3657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8368" y="2651760"/>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No feedstock evidence</a:t>
            </a:r>
          </a:p>
        </p:txBody>
      </p:sp>
      <p:sp>
        <p:nvSpPr>
          <p:cNvPr id="45" name="Rounded Rectangle 44"/>
          <p:cNvSpPr/>
          <p:nvPr/>
        </p:nvSpPr>
        <p:spPr>
          <a:xfrm>
            <a:off x="3822192" y="2624328"/>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822192" y="2642616"/>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23</a:t>
            </a:r>
          </a:p>
        </p:txBody>
      </p:sp>
      <p:sp>
        <p:nvSpPr>
          <p:cNvPr id="47" name="TextBox 46"/>
          <p:cNvSpPr txBox="1"/>
          <p:nvPr/>
        </p:nvSpPr>
        <p:spPr>
          <a:xfrm>
            <a:off x="4432554" y="265176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48" name="TextBox 47"/>
          <p:cNvSpPr txBox="1"/>
          <p:nvPr/>
        </p:nvSpPr>
        <p:spPr>
          <a:xfrm>
            <a:off x="5298948" y="265176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49" name="TextBox 48"/>
          <p:cNvSpPr txBox="1"/>
          <p:nvPr/>
        </p:nvSpPr>
        <p:spPr>
          <a:xfrm>
            <a:off x="6165342" y="265176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50" name="TextBox 49"/>
          <p:cNvSpPr txBox="1"/>
          <p:nvPr/>
        </p:nvSpPr>
        <p:spPr>
          <a:xfrm>
            <a:off x="7031736" y="265176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51" name="TextBox 50"/>
          <p:cNvSpPr txBox="1"/>
          <p:nvPr/>
        </p:nvSpPr>
        <p:spPr>
          <a:xfrm>
            <a:off x="7898130" y="265176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52" name="TextBox 51"/>
          <p:cNvSpPr txBox="1"/>
          <p:nvPr/>
        </p:nvSpPr>
        <p:spPr>
          <a:xfrm>
            <a:off x="8764524" y="265176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53" name="TextBox 52"/>
          <p:cNvSpPr txBox="1"/>
          <p:nvPr/>
        </p:nvSpPr>
        <p:spPr>
          <a:xfrm>
            <a:off x="9630918" y="265176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54" name="TextBox 53"/>
          <p:cNvSpPr txBox="1"/>
          <p:nvPr/>
        </p:nvSpPr>
        <p:spPr>
          <a:xfrm>
            <a:off x="10497312" y="2651760"/>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100%</a:t>
            </a:r>
          </a:p>
        </p:txBody>
      </p:sp>
      <p:sp>
        <p:nvSpPr>
          <p:cNvPr id="55" name="Rectangle 54"/>
          <p:cNvSpPr/>
          <p:nvPr/>
        </p:nvSpPr>
        <p:spPr>
          <a:xfrm>
            <a:off x="548640" y="2962656"/>
            <a:ext cx="110916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8368" y="3054096"/>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Templated weighbridge</a:t>
            </a:r>
          </a:p>
        </p:txBody>
      </p:sp>
      <p:sp>
        <p:nvSpPr>
          <p:cNvPr id="57" name="TextBox 56"/>
          <p:cNvSpPr txBox="1"/>
          <p:nvPr/>
        </p:nvSpPr>
        <p:spPr>
          <a:xfrm>
            <a:off x="3566160" y="305409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58" name="TextBox 57"/>
          <p:cNvSpPr txBox="1"/>
          <p:nvPr/>
        </p:nvSpPr>
        <p:spPr>
          <a:xfrm>
            <a:off x="4432554" y="305409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59" name="Rounded Rectangle 58"/>
          <p:cNvSpPr/>
          <p:nvPr/>
        </p:nvSpPr>
        <p:spPr>
          <a:xfrm>
            <a:off x="5554980" y="3026664"/>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554980" y="3044952"/>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18</a:t>
            </a:r>
          </a:p>
        </p:txBody>
      </p:sp>
      <p:sp>
        <p:nvSpPr>
          <p:cNvPr id="61" name="TextBox 60"/>
          <p:cNvSpPr txBox="1"/>
          <p:nvPr/>
        </p:nvSpPr>
        <p:spPr>
          <a:xfrm>
            <a:off x="6165342" y="305409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62" name="TextBox 61"/>
          <p:cNvSpPr txBox="1"/>
          <p:nvPr/>
        </p:nvSpPr>
        <p:spPr>
          <a:xfrm>
            <a:off x="7031736" y="305409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63" name="TextBox 62"/>
          <p:cNvSpPr txBox="1"/>
          <p:nvPr/>
        </p:nvSpPr>
        <p:spPr>
          <a:xfrm>
            <a:off x="7898130" y="305409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64" name="TextBox 63"/>
          <p:cNvSpPr txBox="1"/>
          <p:nvPr/>
        </p:nvSpPr>
        <p:spPr>
          <a:xfrm>
            <a:off x="8764524" y="305409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65" name="TextBox 64"/>
          <p:cNvSpPr txBox="1"/>
          <p:nvPr/>
        </p:nvSpPr>
        <p:spPr>
          <a:xfrm>
            <a:off x="9630918" y="305409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66" name="TextBox 65"/>
          <p:cNvSpPr txBox="1"/>
          <p:nvPr/>
        </p:nvSpPr>
        <p:spPr>
          <a:xfrm>
            <a:off x="10497312" y="3054096"/>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100%</a:t>
            </a:r>
          </a:p>
        </p:txBody>
      </p:sp>
      <p:sp>
        <p:nvSpPr>
          <p:cNvPr id="67" name="Rectangle 66"/>
          <p:cNvSpPr/>
          <p:nvPr/>
        </p:nvSpPr>
        <p:spPr>
          <a:xfrm>
            <a:off x="548640" y="3364992"/>
            <a:ext cx="11091672" cy="3657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58368" y="3456432"/>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Reused evidence photo</a:t>
            </a:r>
          </a:p>
        </p:txBody>
      </p:sp>
      <p:sp>
        <p:nvSpPr>
          <p:cNvPr id="69" name="TextBox 68"/>
          <p:cNvSpPr txBox="1"/>
          <p:nvPr/>
        </p:nvSpPr>
        <p:spPr>
          <a:xfrm>
            <a:off x="3566160" y="3456432"/>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70" name="TextBox 69"/>
          <p:cNvSpPr txBox="1"/>
          <p:nvPr/>
        </p:nvSpPr>
        <p:spPr>
          <a:xfrm>
            <a:off x="4432554" y="3456432"/>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71" name="TextBox 70"/>
          <p:cNvSpPr txBox="1"/>
          <p:nvPr/>
        </p:nvSpPr>
        <p:spPr>
          <a:xfrm>
            <a:off x="5298948" y="3456432"/>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72" name="Rounded Rectangle 71"/>
          <p:cNvSpPr/>
          <p:nvPr/>
        </p:nvSpPr>
        <p:spPr>
          <a:xfrm>
            <a:off x="6421374" y="3429000"/>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421374" y="3447288"/>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19</a:t>
            </a:r>
          </a:p>
        </p:txBody>
      </p:sp>
      <p:sp>
        <p:nvSpPr>
          <p:cNvPr id="74" name="TextBox 73"/>
          <p:cNvSpPr txBox="1"/>
          <p:nvPr/>
        </p:nvSpPr>
        <p:spPr>
          <a:xfrm>
            <a:off x="7031736" y="3456432"/>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75" name="TextBox 74"/>
          <p:cNvSpPr txBox="1"/>
          <p:nvPr/>
        </p:nvSpPr>
        <p:spPr>
          <a:xfrm>
            <a:off x="7898130" y="3456432"/>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76" name="TextBox 75"/>
          <p:cNvSpPr txBox="1"/>
          <p:nvPr/>
        </p:nvSpPr>
        <p:spPr>
          <a:xfrm>
            <a:off x="8764524" y="3456432"/>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77" name="TextBox 76"/>
          <p:cNvSpPr txBox="1"/>
          <p:nvPr/>
        </p:nvSpPr>
        <p:spPr>
          <a:xfrm>
            <a:off x="9630918" y="3456432"/>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78" name="TextBox 77"/>
          <p:cNvSpPr txBox="1"/>
          <p:nvPr/>
        </p:nvSpPr>
        <p:spPr>
          <a:xfrm>
            <a:off x="10497312" y="3456432"/>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100%</a:t>
            </a:r>
          </a:p>
        </p:txBody>
      </p:sp>
      <p:sp>
        <p:nvSpPr>
          <p:cNvPr id="79" name="Rectangle 78"/>
          <p:cNvSpPr/>
          <p:nvPr/>
        </p:nvSpPr>
        <p:spPr>
          <a:xfrm>
            <a:off x="548640" y="3767328"/>
            <a:ext cx="110916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58368" y="3858768"/>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Category mismatch</a:t>
            </a:r>
          </a:p>
        </p:txBody>
      </p:sp>
      <p:sp>
        <p:nvSpPr>
          <p:cNvPr id="81" name="TextBox 80"/>
          <p:cNvSpPr txBox="1"/>
          <p:nvPr/>
        </p:nvSpPr>
        <p:spPr>
          <a:xfrm>
            <a:off x="3566160" y="385876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82" name="Rounded Rectangle 81"/>
          <p:cNvSpPr/>
          <p:nvPr/>
        </p:nvSpPr>
        <p:spPr>
          <a:xfrm>
            <a:off x="4688586" y="3831336"/>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688586" y="3849624"/>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4</a:t>
            </a:r>
          </a:p>
        </p:txBody>
      </p:sp>
      <p:sp>
        <p:nvSpPr>
          <p:cNvPr id="84" name="TextBox 83"/>
          <p:cNvSpPr txBox="1"/>
          <p:nvPr/>
        </p:nvSpPr>
        <p:spPr>
          <a:xfrm>
            <a:off x="5298948" y="385876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85" name="Rounded Rectangle 84"/>
          <p:cNvSpPr/>
          <p:nvPr/>
        </p:nvSpPr>
        <p:spPr>
          <a:xfrm>
            <a:off x="6421374" y="3831336"/>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421374" y="3849624"/>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1</a:t>
            </a:r>
          </a:p>
        </p:txBody>
      </p:sp>
      <p:sp>
        <p:nvSpPr>
          <p:cNvPr id="87" name="Rounded Rectangle 86"/>
          <p:cNvSpPr/>
          <p:nvPr/>
        </p:nvSpPr>
        <p:spPr>
          <a:xfrm>
            <a:off x="7287768" y="3831336"/>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7287768" y="3849624"/>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16</a:t>
            </a:r>
          </a:p>
        </p:txBody>
      </p:sp>
      <p:sp>
        <p:nvSpPr>
          <p:cNvPr id="89" name="TextBox 88"/>
          <p:cNvSpPr txBox="1"/>
          <p:nvPr/>
        </p:nvSpPr>
        <p:spPr>
          <a:xfrm>
            <a:off x="7898130" y="385876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90" name="TextBox 89"/>
          <p:cNvSpPr txBox="1"/>
          <p:nvPr/>
        </p:nvSpPr>
        <p:spPr>
          <a:xfrm>
            <a:off x="8764524" y="385876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91" name="TextBox 90"/>
          <p:cNvSpPr txBox="1"/>
          <p:nvPr/>
        </p:nvSpPr>
        <p:spPr>
          <a:xfrm>
            <a:off x="9630918" y="3858768"/>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92" name="TextBox 91"/>
          <p:cNvSpPr txBox="1"/>
          <p:nvPr/>
        </p:nvSpPr>
        <p:spPr>
          <a:xfrm>
            <a:off x="10497312" y="3858768"/>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100%</a:t>
            </a:r>
          </a:p>
        </p:txBody>
      </p:sp>
      <p:sp>
        <p:nvSpPr>
          <p:cNvPr id="93" name="Rectangle 92"/>
          <p:cNvSpPr/>
          <p:nvPr/>
        </p:nvSpPr>
        <p:spPr>
          <a:xfrm>
            <a:off x="548640" y="4169664"/>
            <a:ext cx="11091672" cy="3657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58368" y="4261104"/>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Duplicate claim</a:t>
            </a:r>
          </a:p>
        </p:txBody>
      </p:sp>
      <p:sp>
        <p:nvSpPr>
          <p:cNvPr id="95" name="TextBox 94"/>
          <p:cNvSpPr txBox="1"/>
          <p:nvPr/>
        </p:nvSpPr>
        <p:spPr>
          <a:xfrm>
            <a:off x="3566160" y="426110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96" name="TextBox 95"/>
          <p:cNvSpPr txBox="1"/>
          <p:nvPr/>
        </p:nvSpPr>
        <p:spPr>
          <a:xfrm>
            <a:off x="4432554" y="426110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97" name="TextBox 96"/>
          <p:cNvSpPr txBox="1"/>
          <p:nvPr/>
        </p:nvSpPr>
        <p:spPr>
          <a:xfrm>
            <a:off x="5298948" y="426110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98" name="TextBox 97"/>
          <p:cNvSpPr txBox="1"/>
          <p:nvPr/>
        </p:nvSpPr>
        <p:spPr>
          <a:xfrm>
            <a:off x="6165342" y="426110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99" name="TextBox 98"/>
          <p:cNvSpPr txBox="1"/>
          <p:nvPr/>
        </p:nvSpPr>
        <p:spPr>
          <a:xfrm>
            <a:off x="7031736" y="426110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00" name="Rounded Rectangle 99"/>
          <p:cNvSpPr/>
          <p:nvPr/>
        </p:nvSpPr>
        <p:spPr>
          <a:xfrm>
            <a:off x="8154162" y="4233672"/>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154162" y="4251960"/>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12</a:t>
            </a:r>
          </a:p>
        </p:txBody>
      </p:sp>
      <p:sp>
        <p:nvSpPr>
          <p:cNvPr id="102" name="TextBox 101"/>
          <p:cNvSpPr txBox="1"/>
          <p:nvPr/>
        </p:nvSpPr>
        <p:spPr>
          <a:xfrm>
            <a:off x="8764524" y="426110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03" name="TextBox 102"/>
          <p:cNvSpPr txBox="1"/>
          <p:nvPr/>
        </p:nvSpPr>
        <p:spPr>
          <a:xfrm>
            <a:off x="9630918" y="4261104"/>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04" name="TextBox 103"/>
          <p:cNvSpPr txBox="1"/>
          <p:nvPr/>
        </p:nvSpPr>
        <p:spPr>
          <a:xfrm>
            <a:off x="10497312" y="4261104"/>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92%</a:t>
            </a:r>
          </a:p>
        </p:txBody>
      </p:sp>
      <p:sp>
        <p:nvSpPr>
          <p:cNvPr id="105" name="Rectangle 104"/>
          <p:cNvSpPr/>
          <p:nvPr/>
        </p:nvSpPr>
        <p:spPr>
          <a:xfrm>
            <a:off x="548640" y="4572000"/>
            <a:ext cx="110916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58368" y="4663440"/>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161616"/>
                </a:solidFill>
                <a:latin typeface="Segoe UI"/>
              </a:rPr>
              <a:t>Credit cycle</a:t>
            </a:r>
          </a:p>
        </p:txBody>
      </p:sp>
      <p:sp>
        <p:nvSpPr>
          <p:cNvPr id="107" name="TextBox 106"/>
          <p:cNvSpPr txBox="1"/>
          <p:nvPr/>
        </p:nvSpPr>
        <p:spPr>
          <a:xfrm>
            <a:off x="3566160" y="466344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08" name="TextBox 107"/>
          <p:cNvSpPr txBox="1"/>
          <p:nvPr/>
        </p:nvSpPr>
        <p:spPr>
          <a:xfrm>
            <a:off x="4432554" y="466344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09" name="TextBox 108"/>
          <p:cNvSpPr txBox="1"/>
          <p:nvPr/>
        </p:nvSpPr>
        <p:spPr>
          <a:xfrm>
            <a:off x="5298948" y="466344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10" name="TextBox 109"/>
          <p:cNvSpPr txBox="1"/>
          <p:nvPr/>
        </p:nvSpPr>
        <p:spPr>
          <a:xfrm>
            <a:off x="6165342" y="466344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11" name="TextBox 110"/>
          <p:cNvSpPr txBox="1"/>
          <p:nvPr/>
        </p:nvSpPr>
        <p:spPr>
          <a:xfrm>
            <a:off x="7031736" y="466344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12" name="TextBox 111"/>
          <p:cNvSpPr txBox="1"/>
          <p:nvPr/>
        </p:nvSpPr>
        <p:spPr>
          <a:xfrm>
            <a:off x="7898130" y="4663440"/>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13" name="Rounded Rectangle 112"/>
          <p:cNvSpPr/>
          <p:nvPr/>
        </p:nvSpPr>
        <p:spPr>
          <a:xfrm>
            <a:off x="9020556" y="4636008"/>
            <a:ext cx="420624" cy="237744"/>
          </a:xfrm>
          <a:prstGeom prst="roundRect">
            <a:avLst>
              <a:gd name="adj" fmla="val 8000"/>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9020556" y="4654296"/>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3</a:t>
            </a:r>
          </a:p>
        </p:txBody>
      </p:sp>
      <p:sp>
        <p:nvSpPr>
          <p:cNvPr id="115" name="Rounded Rectangle 114"/>
          <p:cNvSpPr/>
          <p:nvPr/>
        </p:nvSpPr>
        <p:spPr>
          <a:xfrm>
            <a:off x="9886950" y="4636008"/>
            <a:ext cx="420624" cy="23774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9886950" y="4654296"/>
            <a:ext cx="420624" cy="219456"/>
          </a:xfrm>
          <a:prstGeom prst="rect">
            <a:avLst/>
          </a:prstGeom>
          <a:noFill/>
        </p:spPr>
        <p:txBody>
          <a:bodyPr wrap="square" lIns="0" tIns="0" rIns="0" bIns="0" anchor="t">
            <a:spAutoFit/>
          </a:bodyPr>
          <a:lstStyle/>
          <a:p>
            <a:pPr algn="ctr">
              <a:lnSpc>
                <a:spcPct val="100000"/>
              </a:lnSpc>
              <a:spcAft>
                <a:spcPts val="0"/>
              </a:spcAft>
            </a:pPr>
            <a:r>
              <a:rPr sz="900" b="1">
                <a:solidFill>
                  <a:srgbClr val="FFFFFF"/>
                </a:solidFill>
                <a:latin typeface="Segoe UI"/>
              </a:rPr>
              <a:t>20</a:t>
            </a:r>
          </a:p>
        </p:txBody>
      </p:sp>
      <p:sp>
        <p:nvSpPr>
          <p:cNvPr id="117" name="TextBox 116"/>
          <p:cNvSpPr txBox="1"/>
          <p:nvPr/>
        </p:nvSpPr>
        <p:spPr>
          <a:xfrm>
            <a:off x="10497312" y="4663440"/>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24A148"/>
                </a:solidFill>
                <a:latin typeface="Segoe UI"/>
              </a:rPr>
              <a:t>100%</a:t>
            </a:r>
          </a:p>
        </p:txBody>
      </p:sp>
      <p:sp>
        <p:nvSpPr>
          <p:cNvPr id="118" name="Rectangle 117"/>
          <p:cNvSpPr/>
          <p:nvPr/>
        </p:nvSpPr>
        <p:spPr>
          <a:xfrm>
            <a:off x="548640" y="4974336"/>
            <a:ext cx="11091672" cy="365760"/>
          </a:xfrm>
          <a:prstGeom prst="rect">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658368" y="5065776"/>
            <a:ext cx="2834640" cy="274320"/>
          </a:xfrm>
          <a:prstGeom prst="rect">
            <a:avLst/>
          </a:prstGeom>
          <a:noFill/>
        </p:spPr>
        <p:txBody>
          <a:bodyPr wrap="square" lIns="0" tIns="0" rIns="0" bIns="0" anchor="t">
            <a:spAutoFit/>
          </a:bodyPr>
          <a:lstStyle/>
          <a:p>
            <a:pPr algn="l">
              <a:lnSpc>
                <a:spcPct val="100000"/>
              </a:lnSpc>
              <a:spcAft>
                <a:spcPts val="0"/>
              </a:spcAft>
            </a:pPr>
            <a:r>
              <a:rPr sz="1000" b="1">
                <a:solidFill>
                  <a:srgbClr val="DA1E28"/>
                </a:solidFill>
                <a:latin typeface="Segoe UI"/>
              </a:rPr>
              <a:t>Forged but consistent</a:t>
            </a:r>
          </a:p>
        </p:txBody>
      </p:sp>
      <p:sp>
        <p:nvSpPr>
          <p:cNvPr id="120" name="TextBox 119"/>
          <p:cNvSpPr txBox="1"/>
          <p:nvPr/>
        </p:nvSpPr>
        <p:spPr>
          <a:xfrm>
            <a:off x="3566160"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1" name="TextBox 120"/>
          <p:cNvSpPr txBox="1"/>
          <p:nvPr/>
        </p:nvSpPr>
        <p:spPr>
          <a:xfrm>
            <a:off x="4432554"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2" name="TextBox 121"/>
          <p:cNvSpPr txBox="1"/>
          <p:nvPr/>
        </p:nvSpPr>
        <p:spPr>
          <a:xfrm>
            <a:off x="5298948"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3" name="TextBox 122"/>
          <p:cNvSpPr txBox="1"/>
          <p:nvPr/>
        </p:nvSpPr>
        <p:spPr>
          <a:xfrm>
            <a:off x="6165342"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4" name="TextBox 123"/>
          <p:cNvSpPr txBox="1"/>
          <p:nvPr/>
        </p:nvSpPr>
        <p:spPr>
          <a:xfrm>
            <a:off x="7031736"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5" name="TextBox 124"/>
          <p:cNvSpPr txBox="1"/>
          <p:nvPr/>
        </p:nvSpPr>
        <p:spPr>
          <a:xfrm>
            <a:off x="7898130"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6" name="TextBox 125"/>
          <p:cNvSpPr txBox="1"/>
          <p:nvPr/>
        </p:nvSpPr>
        <p:spPr>
          <a:xfrm>
            <a:off x="8764524"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7" name="TextBox 126"/>
          <p:cNvSpPr txBox="1"/>
          <p:nvPr/>
        </p:nvSpPr>
        <p:spPr>
          <a:xfrm>
            <a:off x="9630918" y="5065776"/>
            <a:ext cx="866394" cy="274320"/>
          </a:xfrm>
          <a:prstGeom prst="rect">
            <a:avLst/>
          </a:prstGeom>
          <a:noFill/>
        </p:spPr>
        <p:txBody>
          <a:bodyPr wrap="square" lIns="0" tIns="0" rIns="0" bIns="0" anchor="t">
            <a:spAutoFit/>
          </a:bodyPr>
          <a:lstStyle/>
          <a:p>
            <a:pPr algn="ctr">
              <a:lnSpc>
                <a:spcPct val="100000"/>
              </a:lnSpc>
              <a:spcAft>
                <a:spcPts val="0"/>
              </a:spcAft>
            </a:pPr>
            <a:r>
              <a:rPr sz="1000" b="0">
                <a:solidFill>
                  <a:srgbClr val="D0D0D0"/>
                </a:solidFill>
                <a:latin typeface="Segoe UI"/>
              </a:rPr>
              <a:t>–</a:t>
            </a:r>
          </a:p>
        </p:txBody>
      </p:sp>
      <p:sp>
        <p:nvSpPr>
          <p:cNvPr id="128" name="TextBox 127"/>
          <p:cNvSpPr txBox="1"/>
          <p:nvPr/>
        </p:nvSpPr>
        <p:spPr>
          <a:xfrm>
            <a:off x="10497312" y="5065776"/>
            <a:ext cx="1143000" cy="274320"/>
          </a:xfrm>
          <a:prstGeom prst="rect">
            <a:avLst/>
          </a:prstGeom>
          <a:noFill/>
        </p:spPr>
        <p:txBody>
          <a:bodyPr wrap="square" lIns="0" tIns="0" rIns="0" bIns="0" anchor="t">
            <a:spAutoFit/>
          </a:bodyPr>
          <a:lstStyle/>
          <a:p>
            <a:pPr algn="ctr">
              <a:lnSpc>
                <a:spcPct val="100000"/>
              </a:lnSpc>
              <a:spcAft>
                <a:spcPts val="0"/>
              </a:spcAft>
            </a:pPr>
            <a:r>
              <a:rPr sz="1000" b="1">
                <a:solidFill>
                  <a:srgbClr val="DA1E28"/>
                </a:solidFill>
                <a:latin typeface="Segoe UI"/>
              </a:rPr>
              <a:t>0%  not detectable</a:t>
            </a:r>
          </a:p>
        </p:txBody>
      </p:sp>
      <p:sp>
        <p:nvSpPr>
          <p:cNvPr id="129" name="Rounded Rectangle 128"/>
          <p:cNvSpPr/>
          <p:nvPr/>
        </p:nvSpPr>
        <p:spPr>
          <a:xfrm>
            <a:off x="548640" y="5413248"/>
            <a:ext cx="11091672" cy="896112"/>
          </a:xfrm>
          <a:prstGeom prst="roundRect">
            <a:avLst>
              <a:gd name="adj" fmla="val 8000"/>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777240" y="5504688"/>
            <a:ext cx="10698480" cy="731520"/>
          </a:xfrm>
          <a:prstGeom prst="rect">
            <a:avLst/>
          </a:prstGeom>
          <a:noFill/>
        </p:spPr>
        <p:txBody>
          <a:bodyPr wrap="square" lIns="0" tIns="0" rIns="0" bIns="0" anchor="t">
            <a:spAutoFit/>
          </a:bodyPr>
          <a:lstStyle/>
          <a:p>
            <a:pPr algn="l">
              <a:lnSpc>
                <a:spcPct val="115000"/>
              </a:lnSpc>
              <a:spcAft>
                <a:spcPts val="0"/>
              </a:spcAft>
            </a:pPr>
            <a:r>
              <a:rPr sz="1150" b="1">
                <a:solidFill>
                  <a:srgbClr val="8A3FFC"/>
                </a:solidFill>
                <a:latin typeface="Segoe UI"/>
              </a:rPr>
              <a:t>The moat: capacity fraud is caught only by portfolio reasoning.</a:t>
            </a:r>
            <a:r>
              <a:rPr sz="1100" b="0">
                <a:solidFill>
                  <a:srgbClr val="161616"/>
                </a:solidFill>
                <a:latin typeface="Segoe UI"/>
              </a:rPr>
              <a:t> All 15 cases had internally consistent paperwork — no single-document check can see them.  </a:t>
            </a:r>
            <a:r>
              <a:rPr sz="1100" b="0">
                <a:solidFill>
                  <a:srgbClr val="DA1E28"/>
                </a:solidFill>
                <a:latin typeface="Segoe UI"/>
              </a:rPr>
              <a:t>We also state the honest limit: a forged but fully consistent chain is not detectable from documents (miss rate 1.00).</a:t>
            </a:r>
          </a:p>
        </p:txBody>
      </p:sp>
      <p:sp>
        <p:nvSpPr>
          <p:cNvPr id="131" name="Rectangle 130"/>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measured on a sealed synthetic benchmark · seed 20260930 · reproducible via prototype/pramaan_engine.py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0F62FE"/>
                </a:solidFill>
                <a:latin typeface="Segoe UI"/>
              </a:rPr>
              <a:t>STEP 7 — METHODOLOGY</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We built the detector, then built the test we could fail</a:t>
            </a:r>
          </a:p>
        </p:txBody>
      </p:sp>
      <p:sp>
        <p:nvSpPr>
          <p:cNvPr id="7" name="TextBox 6"/>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08</a:t>
            </a:r>
          </a:p>
        </p:txBody>
      </p:sp>
      <p:sp>
        <p:nvSpPr>
          <p:cNvPr id="8" name="Rectangle 7"/>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463040"/>
            <a:ext cx="2157984" cy="32004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1463040"/>
            <a:ext cx="2157984" cy="5029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4944" y="1600200"/>
            <a:ext cx="1883664" cy="256032"/>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Weeks 1–2</a:t>
            </a:r>
          </a:p>
        </p:txBody>
      </p:sp>
      <p:sp>
        <p:nvSpPr>
          <p:cNvPr id="12" name="TextBox 11"/>
          <p:cNvSpPr txBox="1"/>
          <p:nvPr/>
        </p:nvSpPr>
        <p:spPr>
          <a:xfrm>
            <a:off x="694944" y="1874519"/>
            <a:ext cx="1883664" cy="457200"/>
          </a:xfrm>
          <a:prstGeom prst="rect">
            <a:avLst/>
          </a:prstGeom>
          <a:noFill/>
        </p:spPr>
        <p:txBody>
          <a:bodyPr wrap="square" lIns="0" tIns="0" rIns="0" bIns="0" anchor="t">
            <a:spAutoFit/>
          </a:bodyPr>
          <a:lstStyle/>
          <a:p>
            <a:pPr algn="l">
              <a:lnSpc>
                <a:spcPct val="100000"/>
              </a:lnSpc>
              <a:spcAft>
                <a:spcPts val="0"/>
              </a:spcAft>
            </a:pPr>
            <a:r>
              <a:rPr sz="1250" b="1">
                <a:solidFill>
                  <a:srgbClr val="161616"/>
                </a:solidFill>
                <a:latin typeface="Segoe UI"/>
              </a:rPr>
              <a:t>Discovery</a:t>
            </a:r>
          </a:p>
        </p:txBody>
      </p:sp>
      <p:sp>
        <p:nvSpPr>
          <p:cNvPr id="13" name="TextBox 12"/>
          <p:cNvSpPr txBox="1"/>
          <p:nvPr/>
        </p:nvSpPr>
        <p:spPr>
          <a:xfrm>
            <a:off x="694944" y="2395728"/>
            <a:ext cx="1865376" cy="2194560"/>
          </a:xfrm>
          <a:prstGeom prst="rect">
            <a:avLst/>
          </a:prstGeom>
          <a:noFill/>
        </p:spPr>
        <p:txBody>
          <a:bodyPr wrap="square" lIns="0" tIns="0" rIns="0" bIns="0">
            <a:spAutoFit/>
          </a:bodyPr>
          <a:lstStyle/>
          <a:p>
            <a:pPr>
              <a:lnSpc>
                <a:spcPct val="103000"/>
              </a:lnSpc>
              <a:spcAft>
                <a:spcPts val="700"/>
              </a:spcAft>
            </a:pPr>
            <a:r>
              <a:rPr sz="900" b="1">
                <a:solidFill>
                  <a:srgbClr val="0F62FE"/>
                </a:solidFill>
                <a:latin typeface="Segoe UI"/>
              </a:rPr>
              <a:t>▪ </a:t>
            </a:r>
            <a:r>
              <a:rPr sz="900" b="1">
                <a:solidFill>
                  <a:srgbClr val="161616"/>
                </a:solidFill>
                <a:latin typeface="Segoe UI"/>
              </a:rPr>
              <a:t>10 stakeholder interviews</a:t>
            </a:r>
          </a:p>
          <a:p>
            <a:pPr>
              <a:lnSpc>
                <a:spcPct val="103000"/>
              </a:lnSpc>
              <a:spcAft>
                <a:spcPts val="700"/>
              </a:spcAft>
            </a:pPr>
            <a:r>
              <a:rPr sz="900" b="1">
                <a:solidFill>
                  <a:srgbClr val="0F62FE"/>
                </a:solidFill>
                <a:latin typeface="Segoe UI"/>
              </a:rPr>
              <a:t>▪ </a:t>
            </a:r>
            <a:r>
              <a:rPr sz="900" b="1">
                <a:solidFill>
                  <a:srgbClr val="161616"/>
                </a:solidFill>
                <a:latin typeface="Segoe UI"/>
              </a:rPr>
              <a:t>One category: Category II</a:t>
            </a:r>
          </a:p>
          <a:p>
            <a:pPr>
              <a:lnSpc>
                <a:spcPct val="103000"/>
              </a:lnSpc>
              <a:spcAft>
                <a:spcPts val="700"/>
              </a:spcAft>
            </a:pPr>
            <a:r>
              <a:rPr sz="900" b="1">
                <a:solidFill>
                  <a:srgbClr val="0F62FE"/>
                </a:solidFill>
                <a:latin typeface="Segoe UI"/>
              </a:rPr>
              <a:t>▪ </a:t>
            </a:r>
            <a:r>
              <a:rPr sz="900" b="1">
                <a:solidFill>
                  <a:srgbClr val="161616"/>
                </a:solidFill>
                <a:latin typeface="Segoe UI"/>
              </a:rPr>
              <a:t>Assumption register signed off</a:t>
            </a:r>
          </a:p>
        </p:txBody>
      </p:sp>
      <p:sp>
        <p:nvSpPr>
          <p:cNvPr id="14" name="Rounded Rectangle 13"/>
          <p:cNvSpPr/>
          <p:nvPr/>
        </p:nvSpPr>
        <p:spPr>
          <a:xfrm>
            <a:off x="2839212" y="1463040"/>
            <a:ext cx="2157984" cy="32004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39212" y="1463040"/>
            <a:ext cx="2157984" cy="5029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85516" y="1600200"/>
            <a:ext cx="1883664" cy="256032"/>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Weeks 3–5</a:t>
            </a:r>
          </a:p>
        </p:txBody>
      </p:sp>
      <p:sp>
        <p:nvSpPr>
          <p:cNvPr id="17" name="TextBox 16"/>
          <p:cNvSpPr txBox="1"/>
          <p:nvPr/>
        </p:nvSpPr>
        <p:spPr>
          <a:xfrm>
            <a:off x="2985516" y="1874519"/>
            <a:ext cx="1883664" cy="457200"/>
          </a:xfrm>
          <a:prstGeom prst="rect">
            <a:avLst/>
          </a:prstGeom>
          <a:noFill/>
        </p:spPr>
        <p:txBody>
          <a:bodyPr wrap="square" lIns="0" tIns="0" rIns="0" bIns="0" anchor="t">
            <a:spAutoFit/>
          </a:bodyPr>
          <a:lstStyle/>
          <a:p>
            <a:pPr algn="l">
              <a:lnSpc>
                <a:spcPct val="100000"/>
              </a:lnSpc>
              <a:spcAft>
                <a:spcPts val="0"/>
              </a:spcAft>
            </a:pPr>
            <a:r>
              <a:rPr sz="1250" b="1">
                <a:solidFill>
                  <a:srgbClr val="161616"/>
                </a:solidFill>
                <a:latin typeface="Segoe UI"/>
              </a:rPr>
              <a:t>Narrow core</a:t>
            </a:r>
          </a:p>
        </p:txBody>
      </p:sp>
      <p:sp>
        <p:nvSpPr>
          <p:cNvPr id="18" name="TextBox 17"/>
          <p:cNvSpPr txBox="1"/>
          <p:nvPr/>
        </p:nvSpPr>
        <p:spPr>
          <a:xfrm>
            <a:off x="2985516" y="2395728"/>
            <a:ext cx="1865376" cy="2194560"/>
          </a:xfrm>
          <a:prstGeom prst="rect">
            <a:avLst/>
          </a:prstGeom>
          <a:noFill/>
        </p:spPr>
        <p:txBody>
          <a:bodyPr wrap="square" lIns="0" tIns="0" rIns="0" bIns="0">
            <a:spAutoFit/>
          </a:bodyPr>
          <a:lstStyle/>
          <a:p>
            <a:pPr>
              <a:lnSpc>
                <a:spcPct val="103000"/>
              </a:lnSpc>
              <a:spcAft>
                <a:spcPts val="700"/>
              </a:spcAft>
            </a:pPr>
            <a:r>
              <a:rPr sz="900" b="1">
                <a:solidFill>
                  <a:srgbClr val="0F62FE"/>
                </a:solidFill>
                <a:latin typeface="Segoe UI"/>
              </a:rPr>
              <a:t>▪ </a:t>
            </a:r>
            <a:r>
              <a:rPr sz="900" b="1">
                <a:solidFill>
                  <a:srgbClr val="161616"/>
                </a:solidFill>
                <a:latin typeface="Segoe UI"/>
              </a:rPr>
              <a:t>Two agents, not five</a:t>
            </a:r>
          </a:p>
          <a:p>
            <a:pPr>
              <a:lnSpc>
                <a:spcPct val="103000"/>
              </a:lnSpc>
              <a:spcAft>
                <a:spcPts val="700"/>
              </a:spcAft>
            </a:pPr>
            <a:r>
              <a:rPr sz="900" b="1">
                <a:solidFill>
                  <a:srgbClr val="0F62FE"/>
                </a:solidFill>
                <a:latin typeface="Segoe UI"/>
              </a:rPr>
              <a:t>▪ </a:t>
            </a:r>
            <a:r>
              <a:rPr sz="900" b="1">
                <a:solidFill>
                  <a:srgbClr val="161616"/>
                </a:solidFill>
                <a:latin typeface="Segoe UI"/>
              </a:rPr>
              <a:t>Mass balance, capacity, duplicate</a:t>
            </a:r>
          </a:p>
          <a:p>
            <a:pPr>
              <a:lnSpc>
                <a:spcPct val="103000"/>
              </a:lnSpc>
              <a:spcAft>
                <a:spcPts val="700"/>
              </a:spcAft>
            </a:pPr>
            <a:r>
              <a:rPr sz="900" b="1">
                <a:solidFill>
                  <a:srgbClr val="0F62FE"/>
                </a:solidFill>
                <a:latin typeface="Segoe UI"/>
              </a:rPr>
              <a:t>▪ </a:t>
            </a:r>
            <a:r>
              <a:rPr sz="900" b="1">
                <a:solidFill>
                  <a:srgbClr val="161616"/>
                </a:solidFill>
                <a:latin typeface="Segoe UI"/>
              </a:rPr>
              <a:t>One state, deterministic checks</a:t>
            </a:r>
          </a:p>
        </p:txBody>
      </p:sp>
      <p:sp>
        <p:nvSpPr>
          <p:cNvPr id="19" name="Rounded Rectangle 18"/>
          <p:cNvSpPr/>
          <p:nvPr/>
        </p:nvSpPr>
        <p:spPr>
          <a:xfrm>
            <a:off x="5129784" y="1463040"/>
            <a:ext cx="2157984" cy="32004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129784" y="1463040"/>
            <a:ext cx="2157984" cy="50292"/>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76088" y="1600200"/>
            <a:ext cx="1883664" cy="256032"/>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Weeks 6–7</a:t>
            </a:r>
          </a:p>
        </p:txBody>
      </p:sp>
      <p:sp>
        <p:nvSpPr>
          <p:cNvPr id="22" name="TextBox 21"/>
          <p:cNvSpPr txBox="1"/>
          <p:nvPr/>
        </p:nvSpPr>
        <p:spPr>
          <a:xfrm>
            <a:off x="5276088" y="1874519"/>
            <a:ext cx="1883664" cy="457200"/>
          </a:xfrm>
          <a:prstGeom prst="rect">
            <a:avLst/>
          </a:prstGeom>
          <a:noFill/>
        </p:spPr>
        <p:txBody>
          <a:bodyPr wrap="square" lIns="0" tIns="0" rIns="0" bIns="0" anchor="t">
            <a:spAutoFit/>
          </a:bodyPr>
          <a:lstStyle/>
          <a:p>
            <a:pPr algn="l">
              <a:lnSpc>
                <a:spcPct val="100000"/>
              </a:lnSpc>
              <a:spcAft>
                <a:spcPts val="0"/>
              </a:spcAft>
            </a:pPr>
            <a:r>
              <a:rPr sz="1250" b="1">
                <a:solidFill>
                  <a:srgbClr val="161616"/>
                </a:solidFill>
                <a:latin typeface="Segoe UI"/>
              </a:rPr>
              <a:t>Sealed benchmark</a:t>
            </a:r>
          </a:p>
        </p:txBody>
      </p:sp>
      <p:sp>
        <p:nvSpPr>
          <p:cNvPr id="23" name="TextBox 22"/>
          <p:cNvSpPr txBox="1"/>
          <p:nvPr/>
        </p:nvSpPr>
        <p:spPr>
          <a:xfrm>
            <a:off x="5276088" y="2395728"/>
            <a:ext cx="1865376" cy="2194560"/>
          </a:xfrm>
          <a:prstGeom prst="rect">
            <a:avLst/>
          </a:prstGeom>
          <a:noFill/>
        </p:spPr>
        <p:txBody>
          <a:bodyPr wrap="square" lIns="0" tIns="0" rIns="0" bIns="0">
            <a:spAutoFit/>
          </a:bodyPr>
          <a:lstStyle/>
          <a:p>
            <a:pPr>
              <a:lnSpc>
                <a:spcPct val="103000"/>
              </a:lnSpc>
              <a:spcAft>
                <a:spcPts val="700"/>
              </a:spcAft>
            </a:pPr>
            <a:r>
              <a:rPr sz="900" b="1">
                <a:solidFill>
                  <a:srgbClr val="8A3FFC"/>
                </a:solidFill>
                <a:latin typeface="Segoe UI"/>
              </a:rPr>
              <a:t>▪ </a:t>
            </a:r>
            <a:r>
              <a:rPr sz="900" b="1">
                <a:solidFill>
                  <a:srgbClr val="161616"/>
                </a:solidFill>
                <a:latin typeface="Segoe UI"/>
              </a:rPr>
              <a:t>Cases authored by a second person</a:t>
            </a:r>
          </a:p>
          <a:p>
            <a:pPr>
              <a:lnSpc>
                <a:spcPct val="103000"/>
              </a:lnSpc>
              <a:spcAft>
                <a:spcPts val="700"/>
              </a:spcAft>
            </a:pPr>
            <a:r>
              <a:rPr sz="900" b="1">
                <a:solidFill>
                  <a:srgbClr val="8A3FFC"/>
                </a:solidFill>
                <a:latin typeface="Segoe UI"/>
              </a:rPr>
              <a:t>▪ </a:t>
            </a:r>
            <a:r>
              <a:rPr sz="900" b="1">
                <a:solidFill>
                  <a:srgbClr val="161616"/>
                </a:solidFill>
                <a:latin typeface="Segoe UI"/>
              </a:rPr>
              <a:t>Labels sealed; priors never fitted</a:t>
            </a:r>
          </a:p>
          <a:p>
            <a:pPr>
              <a:lnSpc>
                <a:spcPct val="103000"/>
              </a:lnSpc>
              <a:spcAft>
                <a:spcPts val="700"/>
              </a:spcAft>
            </a:pPr>
            <a:r>
              <a:rPr sz="900" b="1">
                <a:solidFill>
                  <a:srgbClr val="8A3FFC"/>
                </a:solidFill>
                <a:latin typeface="Segoe UI"/>
              </a:rPr>
              <a:t>▪ </a:t>
            </a:r>
            <a:r>
              <a:rPr sz="900" b="1">
                <a:solidFill>
                  <a:srgbClr val="161616"/>
                </a:solidFill>
                <a:latin typeface="Segoe UI"/>
              </a:rPr>
              <a:t>Benign messiness modelled</a:t>
            </a:r>
          </a:p>
        </p:txBody>
      </p:sp>
      <p:sp>
        <p:nvSpPr>
          <p:cNvPr id="24" name="Rounded Rectangle 23"/>
          <p:cNvSpPr/>
          <p:nvPr/>
        </p:nvSpPr>
        <p:spPr>
          <a:xfrm>
            <a:off x="7420356" y="1463040"/>
            <a:ext cx="2157984" cy="32004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20356" y="1463040"/>
            <a:ext cx="2157984" cy="50292"/>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66660" y="1600200"/>
            <a:ext cx="1883664" cy="256032"/>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Weeks 8–9</a:t>
            </a:r>
          </a:p>
        </p:txBody>
      </p:sp>
      <p:sp>
        <p:nvSpPr>
          <p:cNvPr id="27" name="TextBox 26"/>
          <p:cNvSpPr txBox="1"/>
          <p:nvPr/>
        </p:nvSpPr>
        <p:spPr>
          <a:xfrm>
            <a:off x="7566660" y="1874519"/>
            <a:ext cx="1883664" cy="457200"/>
          </a:xfrm>
          <a:prstGeom prst="rect">
            <a:avLst/>
          </a:prstGeom>
          <a:noFill/>
        </p:spPr>
        <p:txBody>
          <a:bodyPr wrap="square" lIns="0" tIns="0" rIns="0" bIns="0" anchor="t">
            <a:spAutoFit/>
          </a:bodyPr>
          <a:lstStyle/>
          <a:p>
            <a:pPr algn="l">
              <a:lnSpc>
                <a:spcPct val="100000"/>
              </a:lnSpc>
              <a:spcAft>
                <a:spcPts val="0"/>
              </a:spcAft>
            </a:pPr>
            <a:r>
              <a:rPr sz="1250" b="1">
                <a:solidFill>
                  <a:srgbClr val="161616"/>
                </a:solidFill>
                <a:latin typeface="Segoe UI"/>
              </a:rPr>
              <a:t>Blind red team</a:t>
            </a:r>
          </a:p>
        </p:txBody>
      </p:sp>
      <p:sp>
        <p:nvSpPr>
          <p:cNvPr id="28" name="TextBox 27"/>
          <p:cNvSpPr txBox="1"/>
          <p:nvPr/>
        </p:nvSpPr>
        <p:spPr>
          <a:xfrm>
            <a:off x="7566660" y="2395728"/>
            <a:ext cx="1865376" cy="2194560"/>
          </a:xfrm>
          <a:prstGeom prst="rect">
            <a:avLst/>
          </a:prstGeom>
          <a:noFill/>
        </p:spPr>
        <p:txBody>
          <a:bodyPr wrap="square" lIns="0" tIns="0" rIns="0" bIns="0">
            <a:spAutoFit/>
          </a:bodyPr>
          <a:lstStyle/>
          <a:p>
            <a:pPr>
              <a:lnSpc>
                <a:spcPct val="103000"/>
              </a:lnSpc>
              <a:spcAft>
                <a:spcPts val="700"/>
              </a:spcAft>
            </a:pPr>
            <a:r>
              <a:rPr sz="900" b="1">
                <a:solidFill>
                  <a:srgbClr val="8A3FFC"/>
                </a:solidFill>
                <a:latin typeface="Segoe UI"/>
              </a:rPr>
              <a:t>▪ </a:t>
            </a:r>
            <a:r>
              <a:rPr sz="900" b="1">
                <a:solidFill>
                  <a:srgbClr val="161616"/>
                </a:solidFill>
                <a:latin typeface="Segoe UI"/>
              </a:rPr>
              <a:t>Held-out set run blind</a:t>
            </a:r>
          </a:p>
          <a:p>
            <a:pPr>
              <a:lnSpc>
                <a:spcPct val="103000"/>
              </a:lnSpc>
              <a:spcAft>
                <a:spcPts val="700"/>
              </a:spcAft>
            </a:pPr>
            <a:r>
              <a:rPr sz="900" b="1">
                <a:solidFill>
                  <a:srgbClr val="8A3FFC"/>
                </a:solidFill>
                <a:latin typeface="Segoe UI"/>
              </a:rPr>
              <a:t>▪ </a:t>
            </a:r>
            <a:r>
              <a:rPr sz="900" b="1">
                <a:solidFill>
                  <a:srgbClr val="161616"/>
                </a:solidFill>
                <a:latin typeface="Segoe UI"/>
              </a:rPr>
              <a:t>Every miss published</a:t>
            </a:r>
          </a:p>
          <a:p>
            <a:pPr>
              <a:lnSpc>
                <a:spcPct val="103000"/>
              </a:lnSpc>
              <a:spcAft>
                <a:spcPts val="700"/>
              </a:spcAft>
            </a:pPr>
            <a:r>
              <a:rPr sz="900" b="1">
                <a:solidFill>
                  <a:srgbClr val="8A3FFC"/>
                </a:solidFill>
                <a:latin typeface="Segoe UI"/>
              </a:rPr>
              <a:t>▪ </a:t>
            </a:r>
            <a:r>
              <a:rPr sz="900" b="1">
                <a:solidFill>
                  <a:srgbClr val="161616"/>
                </a:solidFill>
                <a:latin typeface="Segoe UI"/>
              </a:rPr>
              <a:t>Distributed-capacity gap closed</a:t>
            </a:r>
          </a:p>
        </p:txBody>
      </p:sp>
      <p:sp>
        <p:nvSpPr>
          <p:cNvPr id="29" name="Rounded Rectangle 28"/>
          <p:cNvSpPr/>
          <p:nvPr/>
        </p:nvSpPr>
        <p:spPr>
          <a:xfrm>
            <a:off x="9710928" y="1463040"/>
            <a:ext cx="2157984" cy="32004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710928" y="1463040"/>
            <a:ext cx="2157984" cy="50292"/>
          </a:xfrm>
          <a:prstGeom prst="rect">
            <a:avLst/>
          </a:prstGeom>
          <a:solidFill>
            <a:srgbClr val="24A1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57232" y="1600200"/>
            <a:ext cx="1883664" cy="256032"/>
          </a:xfrm>
          <a:prstGeom prst="rect">
            <a:avLst/>
          </a:prstGeom>
          <a:noFill/>
        </p:spPr>
        <p:txBody>
          <a:bodyPr wrap="square" lIns="0" tIns="0" rIns="0" bIns="0" anchor="t">
            <a:spAutoFit/>
          </a:bodyPr>
          <a:lstStyle/>
          <a:p>
            <a:pPr algn="l">
              <a:lnSpc>
                <a:spcPct val="100000"/>
              </a:lnSpc>
              <a:spcAft>
                <a:spcPts val="0"/>
              </a:spcAft>
            </a:pPr>
            <a:r>
              <a:rPr sz="1000" b="1">
                <a:solidFill>
                  <a:srgbClr val="24A148"/>
                </a:solidFill>
                <a:latin typeface="Segoe UI"/>
              </a:rPr>
              <a:t>Weeks 10–12</a:t>
            </a:r>
          </a:p>
        </p:txBody>
      </p:sp>
      <p:sp>
        <p:nvSpPr>
          <p:cNvPr id="32" name="TextBox 31"/>
          <p:cNvSpPr txBox="1"/>
          <p:nvPr/>
        </p:nvSpPr>
        <p:spPr>
          <a:xfrm>
            <a:off x="9857232" y="1874519"/>
            <a:ext cx="1883664" cy="457200"/>
          </a:xfrm>
          <a:prstGeom prst="rect">
            <a:avLst/>
          </a:prstGeom>
          <a:noFill/>
        </p:spPr>
        <p:txBody>
          <a:bodyPr wrap="square" lIns="0" tIns="0" rIns="0" bIns="0" anchor="t">
            <a:spAutoFit/>
          </a:bodyPr>
          <a:lstStyle/>
          <a:p>
            <a:pPr algn="l">
              <a:lnSpc>
                <a:spcPct val="100000"/>
              </a:lnSpc>
              <a:spcAft>
                <a:spcPts val="0"/>
              </a:spcAft>
            </a:pPr>
            <a:r>
              <a:rPr sz="1250" b="1">
                <a:solidFill>
                  <a:srgbClr val="161616"/>
                </a:solidFill>
                <a:latin typeface="Segoe UI"/>
              </a:rPr>
              <a:t>Scoped pilot</a:t>
            </a:r>
          </a:p>
        </p:txBody>
      </p:sp>
      <p:sp>
        <p:nvSpPr>
          <p:cNvPr id="33" name="TextBox 32"/>
          <p:cNvSpPr txBox="1"/>
          <p:nvPr/>
        </p:nvSpPr>
        <p:spPr>
          <a:xfrm>
            <a:off x="9857232" y="2395728"/>
            <a:ext cx="1865376" cy="2194560"/>
          </a:xfrm>
          <a:prstGeom prst="rect">
            <a:avLst/>
          </a:prstGeom>
          <a:noFill/>
        </p:spPr>
        <p:txBody>
          <a:bodyPr wrap="square" lIns="0" tIns="0" rIns="0" bIns="0">
            <a:spAutoFit/>
          </a:bodyPr>
          <a:lstStyle/>
          <a:p>
            <a:pPr>
              <a:lnSpc>
                <a:spcPct val="103000"/>
              </a:lnSpc>
              <a:spcAft>
                <a:spcPts val="700"/>
              </a:spcAft>
            </a:pPr>
            <a:r>
              <a:rPr sz="900" b="1">
                <a:solidFill>
                  <a:srgbClr val="24A148"/>
                </a:solidFill>
                <a:latin typeface="Segoe UI"/>
              </a:rPr>
              <a:t>▪ </a:t>
            </a:r>
            <a:r>
              <a:rPr sz="900" b="1">
                <a:solidFill>
                  <a:srgbClr val="161616"/>
                </a:solidFill>
                <a:latin typeface="Segoe UI"/>
              </a:rPr>
              <a:t>One state, one PIBO, ~10 processors</a:t>
            </a:r>
          </a:p>
          <a:p>
            <a:pPr>
              <a:lnSpc>
                <a:spcPct val="103000"/>
              </a:lnSpc>
              <a:spcAft>
                <a:spcPts val="700"/>
              </a:spcAft>
            </a:pPr>
            <a:r>
              <a:rPr sz="900" b="1">
                <a:solidFill>
                  <a:srgbClr val="24A148"/>
                </a:solidFill>
                <a:latin typeface="Segoe UI"/>
              </a:rPr>
              <a:t>▪ </a:t>
            </a:r>
            <a:r>
              <a:rPr sz="900" b="1">
                <a:solidFill>
                  <a:srgbClr val="161616"/>
                </a:solidFill>
                <a:latin typeface="Segoe UI"/>
              </a:rPr>
              <a:t>Category II tonnes only</a:t>
            </a:r>
          </a:p>
          <a:p>
            <a:pPr>
              <a:lnSpc>
                <a:spcPct val="103000"/>
              </a:lnSpc>
              <a:spcAft>
                <a:spcPts val="700"/>
              </a:spcAft>
            </a:pPr>
            <a:r>
              <a:rPr sz="900" b="1">
                <a:solidFill>
                  <a:srgbClr val="24A148"/>
                </a:solidFill>
                <a:latin typeface="Segoe UI"/>
              </a:rPr>
              <a:t>▪ </a:t>
            </a:r>
            <a:r>
              <a:rPr sz="900" b="1">
                <a:solidFill>
                  <a:srgbClr val="161616"/>
                </a:solidFill>
                <a:latin typeface="Segoe UI"/>
              </a:rPr>
              <a:t>Cost per verified tonne measured</a:t>
            </a:r>
          </a:p>
        </p:txBody>
      </p:sp>
      <p:sp>
        <p:nvSpPr>
          <p:cNvPr id="34" name="Rounded Rectangle 33"/>
          <p:cNvSpPr/>
          <p:nvPr/>
        </p:nvSpPr>
        <p:spPr>
          <a:xfrm>
            <a:off x="548640" y="4828032"/>
            <a:ext cx="11091672" cy="1481328"/>
          </a:xfrm>
          <a:prstGeom prst="roundRect">
            <a:avLst>
              <a:gd name="adj" fmla="val 8000"/>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4956048"/>
            <a:ext cx="10698480" cy="274320"/>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WHY THE METHODOLOGY MATTERS AS MUCH AS THE RESULT</a:t>
            </a:r>
          </a:p>
        </p:txBody>
      </p:sp>
      <p:sp>
        <p:nvSpPr>
          <p:cNvPr id="36" name="TextBox 35"/>
          <p:cNvSpPr txBox="1"/>
          <p:nvPr/>
        </p:nvSpPr>
        <p:spPr>
          <a:xfrm>
            <a:off x="777240" y="5266944"/>
            <a:ext cx="10698480" cy="960120"/>
          </a:xfrm>
          <a:prstGeom prst="rect">
            <a:avLst/>
          </a:prstGeom>
          <a:noFill/>
        </p:spPr>
        <p:txBody>
          <a:bodyPr wrap="square" lIns="0" tIns="0" rIns="0" bIns="0">
            <a:spAutoFit/>
          </a:bodyPr>
          <a:lstStyle/>
          <a:p>
            <a:pPr>
              <a:lnSpc>
                <a:spcPct val="103000"/>
              </a:lnSpc>
              <a:spcAft>
                <a:spcPts val="400"/>
              </a:spcAft>
            </a:pPr>
            <a:r>
              <a:rPr sz="1000" b="1">
                <a:solidFill>
                  <a:srgbClr val="0F62FE"/>
                </a:solidFill>
                <a:latin typeface="Segoe UI"/>
              </a:rPr>
              <a:t>▪ </a:t>
            </a:r>
            <a:r>
              <a:rPr sz="1000" b="1">
                <a:solidFill>
                  <a:srgbClr val="161616"/>
                </a:solidFill>
                <a:latin typeface="Segoe UI"/>
              </a:rPr>
              <a:t>Scope is cut, not promised</a:t>
            </a:r>
            <a:r>
              <a:rPr sz="1000">
                <a:solidFill>
                  <a:srgbClr val="525252"/>
                </a:solidFill>
                <a:latin typeface="Segoe UI"/>
              </a:rPr>
              <a:t> — the twelve weeks ship the narrow thing that runs: two agents, three checks, one category, one state. The other three agents are staged after week 12, not claimed as delivered.</a:t>
            </a:r>
          </a:p>
          <a:p>
            <a:pPr>
              <a:lnSpc>
                <a:spcPct val="103000"/>
              </a:lnSpc>
              <a:spcAft>
                <a:spcPts val="400"/>
              </a:spcAft>
            </a:pPr>
            <a:r>
              <a:rPr sz="1000" b="1">
                <a:solidFill>
                  <a:srgbClr val="0F62FE"/>
                </a:solidFill>
                <a:latin typeface="Segoe UI"/>
              </a:rPr>
              <a:t>▪ </a:t>
            </a:r>
            <a:r>
              <a:rPr sz="1000" b="1">
                <a:solidFill>
                  <a:srgbClr val="161616"/>
                </a:solidFill>
                <a:latin typeface="Segoe UI"/>
              </a:rPr>
              <a:t>Labels are sealed</a:t>
            </a:r>
            <a:r>
              <a:rPr sz="1000">
                <a:solidFill>
                  <a:srgbClr val="525252"/>
                </a:solidFill>
                <a:latin typeface="Segoe UI"/>
              </a:rPr>
              <a:t> — the engine never sees ground truth; thresholds are domain priors, not values tuned until the numbers looked good.</a:t>
            </a:r>
          </a:p>
          <a:p>
            <a:pPr>
              <a:lnSpc>
                <a:spcPct val="103000"/>
              </a:lnSpc>
              <a:spcAft>
                <a:spcPts val="400"/>
              </a:spcAft>
            </a:pPr>
            <a:r>
              <a:rPr sz="1000" b="1">
                <a:solidFill>
                  <a:srgbClr val="0F62FE"/>
                </a:solidFill>
                <a:latin typeface="Segoe UI"/>
              </a:rPr>
              <a:t>▪ </a:t>
            </a:r>
            <a:r>
              <a:rPr sz="1000" b="1">
                <a:solidFill>
                  <a:srgbClr val="161616"/>
                </a:solidFill>
                <a:latin typeface="Segoe UI"/>
              </a:rPr>
              <a:t>Adjudication is blind</a:t>
            </a:r>
            <a:r>
              <a:rPr sz="1000">
                <a:solidFill>
                  <a:srgbClr val="525252"/>
                </a:solidFill>
                <a:latin typeface="Segoe UI"/>
              </a:rPr>
              <a:t> — in the pilot an independent auditor rules on our disagreements, and the benchmark generator is published so every figure can be re-run.</a:t>
            </a:r>
          </a:p>
        </p:txBody>
      </p:sp>
      <p:sp>
        <p:nvSpPr>
          <p:cNvPr id="37" name="Rectangle 36"/>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SDG 12 Responsible Consumption &amp; Production · IBM SkillsBuild Internship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24A1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24A148"/>
                </a:solidFill>
                <a:latin typeface="Segoe UI"/>
              </a:rPr>
              <a:t>STEP 8 — WHAT THE FEASIBILITY MODEL SHOWS</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What our model finds, on synthetic data only</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09</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26464"/>
            <a:ext cx="5486400" cy="274320"/>
          </a:xfrm>
          <a:prstGeom prst="rect">
            <a:avLst/>
          </a:prstGeom>
          <a:noFill/>
        </p:spPr>
        <p:txBody>
          <a:bodyPr wrap="square" lIns="0" tIns="0" rIns="0" bIns="0" anchor="t">
            <a:spAutoFit/>
          </a:bodyPr>
          <a:lstStyle/>
          <a:p>
            <a:pPr algn="l">
              <a:lnSpc>
                <a:spcPct val="100000"/>
              </a:lnSpc>
              <a:spcAft>
                <a:spcPts val="0"/>
              </a:spcAft>
            </a:pPr>
            <a:r>
              <a:rPr sz="1000" b="1">
                <a:solidFill>
                  <a:srgbClr val="8D8D8D"/>
                </a:solidFill>
                <a:latin typeface="Segoe UI"/>
              </a:rPr>
              <a:t>FRAUD SURFACED AGAINST A FIXED HUMAN-REVIEW BUDGET</a:t>
            </a:r>
          </a:p>
        </p:txBody>
      </p:sp>
      <p:pic>
        <p:nvPicPr>
          <p:cNvPr id="8" name="Picture 7" descr="fig_budget.png"/>
          <p:cNvPicPr>
            <a:picLocks noChangeAspect="1"/>
          </p:cNvPicPr>
          <p:nvPr/>
        </p:nvPicPr>
        <p:blipFill>
          <a:blip r:embed="rId3"/>
          <a:stretch>
            <a:fillRect/>
          </a:stretch>
        </p:blipFill>
        <p:spPr>
          <a:xfrm>
            <a:off x="548640" y="1755648"/>
            <a:ext cx="5623560" cy="2267565"/>
          </a:xfrm>
          <a:prstGeom prst="rect">
            <a:avLst/>
          </a:prstGeom>
        </p:spPr>
      </p:pic>
      <p:sp>
        <p:nvSpPr>
          <p:cNvPr id="9" name="TextBox 8"/>
          <p:cNvSpPr txBox="1"/>
          <p:nvPr/>
        </p:nvSpPr>
        <p:spPr>
          <a:xfrm>
            <a:off x="548640" y="4206240"/>
            <a:ext cx="5623560" cy="457200"/>
          </a:xfrm>
          <a:prstGeom prst="rect">
            <a:avLst/>
          </a:prstGeom>
          <a:noFill/>
        </p:spPr>
        <p:txBody>
          <a:bodyPr wrap="square" lIns="0" tIns="0" rIns="0" bIns="0" anchor="t">
            <a:spAutoFit/>
          </a:bodyPr>
          <a:lstStyle/>
          <a:p>
            <a:pPr algn="l">
              <a:lnSpc>
                <a:spcPct val="110000"/>
              </a:lnSpc>
              <a:spcAft>
                <a:spcPts val="0"/>
              </a:spcAft>
            </a:pPr>
            <a:r>
              <a:rPr sz="980" b="0">
                <a:solidFill>
                  <a:srgbClr val="525252"/>
                </a:solidFill>
                <a:latin typeface="Segoe UI"/>
              </a:rPr>
              <a:t>Screening every certificate is free; human judgement is the scarce resource. At whatever review budget a client actually has, the engine finds several times more fraud than random sampling.</a:t>
            </a:r>
          </a:p>
        </p:txBody>
      </p:sp>
      <p:sp>
        <p:nvSpPr>
          <p:cNvPr id="10" name="Rounded Rectangle 9"/>
          <p:cNvSpPr/>
          <p:nvPr/>
        </p:nvSpPr>
        <p:spPr>
          <a:xfrm>
            <a:off x="6400800" y="1463040"/>
            <a:ext cx="2578608" cy="10241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463040"/>
            <a:ext cx="54864" cy="1024128"/>
          </a:xfrm>
          <a:prstGeom prst="rect">
            <a:avLst/>
          </a:prstGeom>
          <a:solidFill>
            <a:srgbClr val="24A1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47104" y="1545336"/>
            <a:ext cx="2359152" cy="411480"/>
          </a:xfrm>
          <a:prstGeom prst="rect">
            <a:avLst/>
          </a:prstGeom>
          <a:noFill/>
        </p:spPr>
        <p:txBody>
          <a:bodyPr wrap="square" lIns="0" tIns="0" rIns="0" bIns="0" anchor="t">
            <a:spAutoFit/>
          </a:bodyPr>
          <a:lstStyle/>
          <a:p>
            <a:pPr algn="l">
              <a:lnSpc>
                <a:spcPct val="100000"/>
              </a:lnSpc>
              <a:spcAft>
                <a:spcPts val="0"/>
              </a:spcAft>
            </a:pPr>
            <a:r>
              <a:rPr sz="2000" b="1">
                <a:solidFill>
                  <a:srgbClr val="24A148"/>
                </a:solidFill>
                <a:latin typeface="Segoe UI"/>
              </a:rPr>
              <a:t>99.3%</a:t>
            </a:r>
          </a:p>
        </p:txBody>
      </p:sp>
      <p:sp>
        <p:nvSpPr>
          <p:cNvPr id="13" name="TextBox 12"/>
          <p:cNvSpPr txBox="1"/>
          <p:nvPr/>
        </p:nvSpPr>
        <p:spPr>
          <a:xfrm>
            <a:off x="6547104" y="1938528"/>
            <a:ext cx="2322576" cy="5120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recall on our own synthetic benchmark, for fraud the documents themselves contradict</a:t>
            </a:r>
          </a:p>
        </p:txBody>
      </p:sp>
      <p:sp>
        <p:nvSpPr>
          <p:cNvPr id="14" name="Rounded Rectangle 13"/>
          <p:cNvSpPr/>
          <p:nvPr/>
        </p:nvSpPr>
        <p:spPr>
          <a:xfrm>
            <a:off x="9116568" y="1463040"/>
            <a:ext cx="2578608" cy="10241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116568" y="1463040"/>
            <a:ext cx="54864" cy="102412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62872" y="1545336"/>
            <a:ext cx="2359152" cy="411480"/>
          </a:xfrm>
          <a:prstGeom prst="rect">
            <a:avLst/>
          </a:prstGeom>
          <a:noFill/>
        </p:spPr>
        <p:txBody>
          <a:bodyPr wrap="square" lIns="0" tIns="0" rIns="0" bIns="0" anchor="t">
            <a:spAutoFit/>
          </a:bodyPr>
          <a:lstStyle/>
          <a:p>
            <a:pPr algn="l">
              <a:lnSpc>
                <a:spcPct val="100000"/>
              </a:lnSpc>
              <a:spcAft>
                <a:spcPts val="0"/>
              </a:spcAft>
            </a:pPr>
            <a:r>
              <a:rPr sz="2000" b="1">
                <a:solidFill>
                  <a:srgbClr val="0F62FE"/>
                </a:solidFill>
                <a:latin typeface="Segoe UI"/>
              </a:rPr>
              <a:t>76.1%</a:t>
            </a:r>
          </a:p>
        </p:txBody>
      </p:sp>
      <p:sp>
        <p:nvSpPr>
          <p:cNvPr id="17" name="TextBox 16"/>
          <p:cNvSpPr txBox="1"/>
          <p:nvPr/>
        </p:nvSpPr>
        <p:spPr>
          <a:xfrm>
            <a:off x="9262872" y="1938528"/>
            <a:ext cx="2322576" cy="5120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of synthetic certificates cleared with no human effort; review needed on 23.9%</a:t>
            </a:r>
          </a:p>
        </p:txBody>
      </p:sp>
      <p:sp>
        <p:nvSpPr>
          <p:cNvPr id="18" name="Rounded Rectangle 17"/>
          <p:cNvSpPr/>
          <p:nvPr/>
        </p:nvSpPr>
        <p:spPr>
          <a:xfrm>
            <a:off x="6400800" y="2578608"/>
            <a:ext cx="2578608" cy="10241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0" y="2578608"/>
            <a:ext cx="54864" cy="1024128"/>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47104" y="2660904"/>
            <a:ext cx="2359152" cy="411480"/>
          </a:xfrm>
          <a:prstGeom prst="rect">
            <a:avLst/>
          </a:prstGeom>
          <a:noFill/>
        </p:spPr>
        <p:txBody>
          <a:bodyPr wrap="square" lIns="0" tIns="0" rIns="0" bIns="0" anchor="t">
            <a:spAutoFit/>
          </a:bodyPr>
          <a:lstStyle/>
          <a:p>
            <a:pPr algn="l">
              <a:lnSpc>
                <a:spcPct val="100000"/>
              </a:lnSpc>
              <a:spcAft>
                <a:spcPts val="0"/>
              </a:spcAft>
            </a:pPr>
            <a:r>
              <a:rPr sz="2000" b="1">
                <a:solidFill>
                  <a:srgbClr val="BF8B2E"/>
                </a:solidFill>
                <a:latin typeface="Segoe UI"/>
              </a:rPr>
              <a:t>₹3.10 cr</a:t>
            </a:r>
          </a:p>
        </p:txBody>
      </p:sp>
      <p:sp>
        <p:nvSpPr>
          <p:cNvPr id="21" name="TextBox 20"/>
          <p:cNvSpPr txBox="1"/>
          <p:nvPr/>
        </p:nvSpPr>
        <p:spPr>
          <a:xfrm>
            <a:off x="6547104" y="3054096"/>
            <a:ext cx="2322576" cy="5120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of invalid credits flagged in one simulated ₹15.48 crore portfolio</a:t>
            </a:r>
          </a:p>
        </p:txBody>
      </p:sp>
      <p:sp>
        <p:nvSpPr>
          <p:cNvPr id="22" name="Rounded Rectangle 21"/>
          <p:cNvSpPr/>
          <p:nvPr/>
        </p:nvSpPr>
        <p:spPr>
          <a:xfrm>
            <a:off x="9116568" y="2578608"/>
            <a:ext cx="2578608" cy="102412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16568" y="2578608"/>
            <a:ext cx="54864" cy="1024128"/>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62872" y="2660904"/>
            <a:ext cx="2359152" cy="411480"/>
          </a:xfrm>
          <a:prstGeom prst="rect">
            <a:avLst/>
          </a:prstGeom>
          <a:noFill/>
        </p:spPr>
        <p:txBody>
          <a:bodyPr wrap="square" lIns="0" tIns="0" rIns="0" bIns="0" anchor="t">
            <a:spAutoFit/>
          </a:bodyPr>
          <a:lstStyle/>
          <a:p>
            <a:pPr algn="l">
              <a:lnSpc>
                <a:spcPct val="100000"/>
              </a:lnSpc>
              <a:spcAft>
                <a:spcPts val="0"/>
              </a:spcAft>
            </a:pPr>
            <a:r>
              <a:rPr sz="2000" b="1">
                <a:solidFill>
                  <a:srgbClr val="8A3FFC"/>
                </a:solidFill>
                <a:latin typeface="Segoe UI"/>
              </a:rPr>
              <a:t>91%</a:t>
            </a:r>
          </a:p>
        </p:txBody>
      </p:sp>
      <p:sp>
        <p:nvSpPr>
          <p:cNvPr id="25" name="TextBox 24"/>
          <p:cNvSpPr txBox="1"/>
          <p:nvPr/>
        </p:nvSpPr>
        <p:spPr>
          <a:xfrm>
            <a:off x="9262872" y="3054096"/>
            <a:ext cx="2322576" cy="512064"/>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of fraud surfaced within a 20% review budget, against 20% for random sampling</a:t>
            </a:r>
          </a:p>
        </p:txBody>
      </p:sp>
      <p:sp>
        <p:nvSpPr>
          <p:cNvPr id="26" name="Rounded Rectangle 25"/>
          <p:cNvSpPr/>
          <p:nvPr/>
        </p:nvSpPr>
        <p:spPr>
          <a:xfrm>
            <a:off x="6400800" y="3767328"/>
            <a:ext cx="5294376" cy="2487168"/>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3858768"/>
            <a:ext cx="4937760" cy="256032"/>
          </a:xfrm>
          <a:prstGeom prst="rect">
            <a:avLst/>
          </a:prstGeom>
          <a:noFill/>
        </p:spPr>
        <p:txBody>
          <a:bodyPr wrap="square" lIns="0" tIns="0" rIns="0" bIns="0" anchor="t">
            <a:spAutoFit/>
          </a:bodyPr>
          <a:lstStyle/>
          <a:p>
            <a:pPr algn="l">
              <a:lnSpc>
                <a:spcPct val="100000"/>
              </a:lnSpc>
              <a:spcAft>
                <a:spcPts val="0"/>
              </a:spcAft>
            </a:pPr>
            <a:r>
              <a:rPr sz="950" b="1">
                <a:solidFill>
                  <a:srgbClr val="BF8B2E"/>
                </a:solidFill>
                <a:latin typeface="Segoe UI"/>
              </a:rPr>
              <a:t>HOW WE TESTED IT — AND WHAT WE GOT WRONG</a:t>
            </a:r>
          </a:p>
        </p:txBody>
      </p:sp>
      <p:sp>
        <p:nvSpPr>
          <p:cNvPr id="28" name="TextBox 27"/>
          <p:cNvSpPr txBox="1"/>
          <p:nvPr/>
        </p:nvSpPr>
        <p:spPr>
          <a:xfrm>
            <a:off x="6583680" y="4133087"/>
            <a:ext cx="4983480" cy="365760"/>
          </a:xfrm>
          <a:prstGeom prst="rect">
            <a:avLst/>
          </a:prstGeom>
          <a:noFill/>
        </p:spPr>
        <p:txBody>
          <a:bodyPr wrap="square" lIns="0" tIns="0" rIns="0" bIns="0" anchor="t">
            <a:spAutoFit/>
          </a:bodyPr>
          <a:lstStyle/>
          <a:p>
            <a:pPr algn="l">
              <a:lnSpc>
                <a:spcPct val="105000"/>
              </a:lnSpc>
              <a:spcAft>
                <a:spcPts val="0"/>
              </a:spcAft>
            </a:pPr>
            <a:r>
              <a:rPr sz="950" b="1">
                <a:solidFill>
                  <a:srgbClr val="FFFFFF"/>
                </a:solidFill>
                <a:latin typeface="Segoe UI"/>
              </a:rPr>
              <a:t>In-house benchmark</a:t>
            </a:r>
            <a:r>
              <a:rPr sz="950" b="0">
                <a:solidFill>
                  <a:srgbClr val="BEBEBE"/>
                </a:solidFill>
                <a:latin typeface="Segoe UI"/>
              </a:rPr>
              <a:t>  (sealed, 1,153 cases): 90.7% recall, 59.6% precision</a:t>
            </a:r>
          </a:p>
        </p:txBody>
      </p:sp>
      <p:sp>
        <p:nvSpPr>
          <p:cNvPr id="29" name="TextBox 28"/>
          <p:cNvSpPr txBox="1"/>
          <p:nvPr/>
        </p:nvSpPr>
        <p:spPr>
          <a:xfrm>
            <a:off x="6583680" y="4407408"/>
            <a:ext cx="4983480" cy="365760"/>
          </a:xfrm>
          <a:prstGeom prst="rect">
            <a:avLst/>
          </a:prstGeom>
          <a:noFill/>
        </p:spPr>
        <p:txBody>
          <a:bodyPr wrap="square" lIns="0" tIns="0" rIns="0" bIns="0" anchor="t">
            <a:spAutoFit/>
          </a:bodyPr>
          <a:lstStyle/>
          <a:p>
            <a:pPr algn="l">
              <a:lnSpc>
                <a:spcPct val="105000"/>
              </a:lnSpc>
              <a:spcAft>
                <a:spcPts val="0"/>
              </a:spcAft>
            </a:pPr>
            <a:r>
              <a:rPr sz="950" b="1">
                <a:solidFill>
                  <a:srgbClr val="FFFFFF"/>
                </a:solidFill>
                <a:latin typeface="Segoe UI"/>
              </a:rPr>
              <a:t>Held-out set</a:t>
            </a:r>
            <a:r>
              <a:rPr sz="950" b="0">
                <a:solidFill>
                  <a:srgbClr val="BEBEBE"/>
                </a:solidFill>
                <a:latin typeface="Segoe UI"/>
              </a:rPr>
              <a:t>  (authored by different logic, 54 cases): </a:t>
            </a:r>
            <a:r>
              <a:rPr sz="950" b="1">
                <a:solidFill>
                  <a:srgbClr val="6FDC97"/>
                </a:solidFill>
                <a:latin typeface="Segoe UI"/>
              </a:rPr>
              <a:t>64.0% recall, 100% precision</a:t>
            </a:r>
          </a:p>
        </p:txBody>
      </p:sp>
      <p:sp>
        <p:nvSpPr>
          <p:cNvPr id="30" name="TextBox 29"/>
          <p:cNvSpPr txBox="1"/>
          <p:nvPr/>
        </p:nvSpPr>
        <p:spPr>
          <a:xfrm>
            <a:off x="6583680" y="4663440"/>
            <a:ext cx="4983480" cy="384048"/>
          </a:xfrm>
          <a:prstGeom prst="rect">
            <a:avLst/>
          </a:prstGeom>
          <a:noFill/>
        </p:spPr>
        <p:txBody>
          <a:bodyPr wrap="square" lIns="0" tIns="0" rIns="0" bIns="0" anchor="t">
            <a:spAutoFit/>
          </a:bodyPr>
          <a:lstStyle/>
          <a:p>
            <a:pPr algn="l">
              <a:lnSpc>
                <a:spcPct val="105000"/>
              </a:lnSpc>
              <a:spcAft>
                <a:spcPts val="0"/>
              </a:spcAft>
            </a:pPr>
            <a:r>
              <a:rPr sz="900" b="0">
                <a:solidFill>
                  <a:srgbClr val="BEBEBE"/>
                </a:solidFill>
                <a:latin typeface="Segoe UI"/>
              </a:rPr>
              <a:t>Excluding the deliberately undetectable forgery class: 94.1% recall. With only 25 fraudulent cases, read 64% as a range of roughly 45-83%, not a precise figure.</a:t>
            </a:r>
          </a:p>
        </p:txBody>
      </p:sp>
      <p:sp>
        <p:nvSpPr>
          <p:cNvPr id="31" name="TextBox 30"/>
          <p:cNvSpPr txBox="1"/>
          <p:nvPr/>
        </p:nvSpPr>
        <p:spPr>
          <a:xfrm>
            <a:off x="6583680" y="5084064"/>
            <a:ext cx="4937760" cy="228600"/>
          </a:xfrm>
          <a:prstGeom prst="rect">
            <a:avLst/>
          </a:prstGeom>
          <a:noFill/>
        </p:spPr>
        <p:txBody>
          <a:bodyPr wrap="square" lIns="0" tIns="0" rIns="0" bIns="0" anchor="t">
            <a:spAutoFit/>
          </a:bodyPr>
          <a:lstStyle/>
          <a:p>
            <a:pPr algn="l">
              <a:lnSpc>
                <a:spcPct val="100000"/>
              </a:lnSpc>
              <a:spcAft>
                <a:spcPts val="0"/>
              </a:spcAft>
            </a:pPr>
            <a:r>
              <a:rPr sz="850" b="1">
                <a:solidFill>
                  <a:srgbClr val="BF8B2E"/>
                </a:solidFill>
                <a:latin typeface="Segoe UI"/>
              </a:rPr>
              <a:t>THE TWO GAPS INDEPENDENT TESTING EXPOSED</a:t>
            </a:r>
          </a:p>
        </p:txBody>
      </p:sp>
      <p:sp>
        <p:nvSpPr>
          <p:cNvPr id="32" name="TextBox 31"/>
          <p:cNvSpPr txBox="1"/>
          <p:nvPr/>
        </p:nvSpPr>
        <p:spPr>
          <a:xfrm>
            <a:off x="6583680" y="5303520"/>
            <a:ext cx="4983480" cy="574709"/>
          </a:xfrm>
          <a:prstGeom prst="rect">
            <a:avLst/>
          </a:prstGeom>
          <a:noFill/>
        </p:spPr>
        <p:txBody>
          <a:bodyPr wrap="square" lIns="0" tIns="0" rIns="0" bIns="0">
            <a:spAutoFit/>
          </a:bodyPr>
          <a:lstStyle/>
          <a:p>
            <a:pPr>
              <a:lnSpc>
                <a:spcPct val="103000"/>
              </a:lnSpc>
              <a:spcAft>
                <a:spcPts val="300"/>
              </a:spcAft>
            </a:pPr>
            <a:r>
              <a:rPr sz="860" b="1" dirty="0">
                <a:solidFill>
                  <a:schemeClr val="bg1">
                    <a:lumMod val="65000"/>
                  </a:schemeClr>
                </a:solidFill>
                <a:latin typeface="Segoe UI"/>
              </a:rPr>
              <a:t>▪ A second inflated claim in a breaching month hides</a:t>
            </a:r>
            <a:r>
              <a:rPr sz="860" dirty="0">
                <a:solidFill>
                  <a:schemeClr val="bg1">
                    <a:lumMod val="65000"/>
                  </a:schemeClr>
                </a:solidFill>
                <a:latin typeface="Segoe UI"/>
              </a:rPr>
              <a:t> — only the largest claim is escalated (50% on that family).</a:t>
            </a:r>
          </a:p>
          <a:p>
            <a:pPr>
              <a:lnSpc>
                <a:spcPct val="103000"/>
              </a:lnSpc>
              <a:spcAft>
                <a:spcPts val="300"/>
              </a:spcAft>
            </a:pPr>
            <a:r>
              <a:rPr sz="860" b="1" dirty="0">
                <a:solidFill>
                  <a:schemeClr val="bg1">
                    <a:lumMod val="65000"/>
                  </a:schemeClr>
                </a:solidFill>
                <a:latin typeface="Segoe UI"/>
              </a:rPr>
              <a:t>▪ A fully consistent forgery is undetectable from documents</a:t>
            </a:r>
            <a:r>
              <a:rPr sz="860" dirty="0">
                <a:solidFill>
                  <a:schemeClr val="bg1">
                    <a:lumMod val="65000"/>
                  </a:schemeClr>
                </a:solidFill>
                <a:latin typeface="Segoe UI"/>
              </a:rPr>
              <a:t> — miss rate 1.00, needs physical evidence.</a:t>
            </a:r>
          </a:p>
        </p:txBody>
      </p:sp>
      <p:sp>
        <p:nvSpPr>
          <p:cNvPr id="33" name="Rectangle 32"/>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two evaluations, both labelled · in-house seed 20260930 · held-out freeze f0fb6b26c220718e · both reproducible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BF8B2E"/>
                </a:solidFill>
                <a:latin typeface="Segoe UI"/>
              </a:rPr>
              <a:t>STEP 9 — BUSINESS MODEL &amp; UNIT ECONOMICS</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Priced against the loss we prevent, not our own cost</a:t>
            </a:r>
          </a:p>
        </p:txBody>
      </p:sp>
      <p:sp>
        <p:nvSpPr>
          <p:cNvPr id="7" name="TextBox 6"/>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10</a:t>
            </a:r>
          </a:p>
        </p:txBody>
      </p:sp>
      <p:sp>
        <p:nvSpPr>
          <p:cNvPr id="8" name="Rectangle 7"/>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426464"/>
            <a:ext cx="5486400" cy="274320"/>
          </a:xfrm>
          <a:prstGeom prst="rect">
            <a:avLst/>
          </a:prstGeom>
          <a:noFill/>
        </p:spPr>
        <p:txBody>
          <a:bodyPr wrap="square" lIns="0" tIns="0" rIns="0" bIns="0" anchor="t">
            <a:spAutoFit/>
          </a:bodyPr>
          <a:lstStyle/>
          <a:p>
            <a:pPr algn="l">
              <a:lnSpc>
                <a:spcPct val="100000"/>
              </a:lnSpc>
              <a:spcAft>
                <a:spcPts val="0"/>
              </a:spcAft>
            </a:pPr>
            <a:r>
              <a:rPr sz="1000" b="1">
                <a:solidFill>
                  <a:srgbClr val="8D8D8D"/>
                </a:solidFill>
                <a:latin typeface="Segoe UI"/>
              </a:rPr>
              <a:t>MODELLED COST PER VERIFIED TONNE — ₹7.50</a:t>
            </a:r>
          </a:p>
        </p:txBody>
      </p:sp>
      <p:sp>
        <p:nvSpPr>
          <p:cNvPr id="10" name="TextBox 9"/>
          <p:cNvSpPr txBox="1"/>
          <p:nvPr/>
        </p:nvSpPr>
        <p:spPr>
          <a:xfrm>
            <a:off x="548640" y="1819656"/>
            <a:ext cx="3291840" cy="274320"/>
          </a:xfrm>
          <a:prstGeom prst="rect">
            <a:avLst/>
          </a:prstGeom>
          <a:noFill/>
        </p:spPr>
        <p:txBody>
          <a:bodyPr wrap="square" lIns="0" tIns="0" rIns="0" bIns="0" anchor="t">
            <a:spAutoFit/>
          </a:bodyPr>
          <a:lstStyle/>
          <a:p>
            <a:pPr algn="l">
              <a:lnSpc>
                <a:spcPct val="100000"/>
              </a:lnSpc>
              <a:spcAft>
                <a:spcPts val="0"/>
              </a:spcAft>
            </a:pPr>
            <a:r>
              <a:rPr sz="1000" b="0">
                <a:solidFill>
                  <a:srgbClr val="525252"/>
                </a:solidFill>
                <a:latin typeface="Segoe UI"/>
              </a:rPr>
              <a:t>Field-truth sampling</a:t>
            </a:r>
          </a:p>
        </p:txBody>
      </p:sp>
      <p:sp>
        <p:nvSpPr>
          <p:cNvPr id="11" name="Rectangle 10"/>
          <p:cNvSpPr/>
          <p:nvPr/>
        </p:nvSpPr>
        <p:spPr>
          <a:xfrm>
            <a:off x="3886200" y="1810512"/>
            <a:ext cx="3931920" cy="3108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86200" y="1810512"/>
            <a:ext cx="3931920" cy="310896"/>
          </a:xfrm>
          <a:prstGeom prst="rect">
            <a:avLst/>
          </a:prstGeom>
          <a:solidFill>
            <a:srgbClr val="DA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36992" y="1828800"/>
            <a:ext cx="822960" cy="274320"/>
          </a:xfrm>
          <a:prstGeom prst="rect">
            <a:avLst/>
          </a:prstGeom>
          <a:noFill/>
        </p:spPr>
        <p:txBody>
          <a:bodyPr wrap="square" lIns="0" tIns="0" rIns="0" bIns="0" anchor="t">
            <a:spAutoFit/>
          </a:bodyPr>
          <a:lstStyle/>
          <a:p>
            <a:pPr algn="l">
              <a:lnSpc>
                <a:spcPct val="100000"/>
              </a:lnSpc>
              <a:spcAft>
                <a:spcPts val="0"/>
              </a:spcAft>
            </a:pPr>
            <a:r>
              <a:rPr sz="1050" b="1">
                <a:solidFill>
                  <a:srgbClr val="DA1E28"/>
                </a:solidFill>
                <a:latin typeface="Segoe UI"/>
              </a:rPr>
              <a:t>₹5.00</a:t>
            </a:r>
          </a:p>
        </p:txBody>
      </p:sp>
      <p:sp>
        <p:nvSpPr>
          <p:cNvPr id="14" name="TextBox 13"/>
          <p:cNvSpPr txBox="1"/>
          <p:nvPr/>
        </p:nvSpPr>
        <p:spPr>
          <a:xfrm>
            <a:off x="548640" y="2258568"/>
            <a:ext cx="3291840" cy="274320"/>
          </a:xfrm>
          <a:prstGeom prst="rect">
            <a:avLst/>
          </a:prstGeom>
          <a:noFill/>
        </p:spPr>
        <p:txBody>
          <a:bodyPr wrap="square" lIns="0" tIns="0" rIns="0" bIns="0" anchor="t">
            <a:spAutoFit/>
          </a:bodyPr>
          <a:lstStyle/>
          <a:p>
            <a:pPr algn="l">
              <a:lnSpc>
                <a:spcPct val="100000"/>
              </a:lnSpc>
              <a:spcAft>
                <a:spcPts val="0"/>
              </a:spcAft>
            </a:pPr>
            <a:r>
              <a:rPr sz="1000" b="0">
                <a:solidFill>
                  <a:srgbClr val="525252"/>
                </a:solidFill>
                <a:latin typeface="Segoe UI"/>
              </a:rPr>
              <a:t>Platform &amp; orchestration</a:t>
            </a:r>
          </a:p>
        </p:txBody>
      </p:sp>
      <p:sp>
        <p:nvSpPr>
          <p:cNvPr id="15" name="Rectangle 14"/>
          <p:cNvSpPr/>
          <p:nvPr/>
        </p:nvSpPr>
        <p:spPr>
          <a:xfrm>
            <a:off x="3886200" y="2249424"/>
            <a:ext cx="3931920" cy="3108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886200" y="2249424"/>
            <a:ext cx="157276" cy="310896"/>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36992" y="2267712"/>
            <a:ext cx="822960" cy="274320"/>
          </a:xfrm>
          <a:prstGeom prst="rect">
            <a:avLst/>
          </a:prstGeom>
          <a:noFill/>
        </p:spPr>
        <p:txBody>
          <a:bodyPr wrap="square" lIns="0" tIns="0" rIns="0" bIns="0" anchor="t">
            <a:spAutoFit/>
          </a:bodyPr>
          <a:lstStyle/>
          <a:p>
            <a:pPr algn="l">
              <a:lnSpc>
                <a:spcPct val="100000"/>
              </a:lnSpc>
              <a:spcAft>
                <a:spcPts val="0"/>
              </a:spcAft>
            </a:pPr>
            <a:r>
              <a:rPr sz="1050" b="1">
                <a:solidFill>
                  <a:srgbClr val="525252"/>
                </a:solidFill>
                <a:latin typeface="Segoe UI"/>
              </a:rPr>
              <a:t>₹0.20</a:t>
            </a:r>
          </a:p>
        </p:txBody>
      </p:sp>
      <p:sp>
        <p:nvSpPr>
          <p:cNvPr id="18" name="TextBox 17"/>
          <p:cNvSpPr txBox="1"/>
          <p:nvPr/>
        </p:nvSpPr>
        <p:spPr>
          <a:xfrm>
            <a:off x="548640" y="2697480"/>
            <a:ext cx="3291840" cy="274320"/>
          </a:xfrm>
          <a:prstGeom prst="rect">
            <a:avLst/>
          </a:prstGeom>
          <a:noFill/>
        </p:spPr>
        <p:txBody>
          <a:bodyPr wrap="square" lIns="0" tIns="0" rIns="0" bIns="0" anchor="t">
            <a:spAutoFit/>
          </a:bodyPr>
          <a:lstStyle/>
          <a:p>
            <a:pPr algn="l">
              <a:lnSpc>
                <a:spcPct val="100000"/>
              </a:lnSpc>
              <a:spcAft>
                <a:spcPts val="0"/>
              </a:spcAft>
            </a:pPr>
            <a:r>
              <a:rPr sz="1000" b="0">
                <a:solidFill>
                  <a:srgbClr val="525252"/>
                </a:solidFill>
                <a:latin typeface="Segoe UI"/>
              </a:rPr>
              <a:t>Document extraction (Granite)</a:t>
            </a:r>
          </a:p>
        </p:txBody>
      </p:sp>
      <p:sp>
        <p:nvSpPr>
          <p:cNvPr id="19" name="Rectangle 18"/>
          <p:cNvSpPr/>
          <p:nvPr/>
        </p:nvSpPr>
        <p:spPr>
          <a:xfrm>
            <a:off x="3886200" y="2688336"/>
            <a:ext cx="3931920" cy="3108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86200" y="2688336"/>
            <a:ext cx="353872" cy="31089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36992" y="2706624"/>
            <a:ext cx="822960" cy="274320"/>
          </a:xfrm>
          <a:prstGeom prst="rect">
            <a:avLst/>
          </a:prstGeom>
          <a:noFill/>
        </p:spPr>
        <p:txBody>
          <a:bodyPr wrap="square" lIns="0" tIns="0" rIns="0" bIns="0" anchor="t">
            <a:spAutoFit/>
          </a:bodyPr>
          <a:lstStyle/>
          <a:p>
            <a:pPr algn="l">
              <a:lnSpc>
                <a:spcPct val="100000"/>
              </a:lnSpc>
              <a:spcAft>
                <a:spcPts val="0"/>
              </a:spcAft>
            </a:pPr>
            <a:r>
              <a:rPr sz="1050" b="1">
                <a:solidFill>
                  <a:srgbClr val="0F62FE"/>
                </a:solidFill>
                <a:latin typeface="Segoe UI"/>
              </a:rPr>
              <a:t>₹0.45</a:t>
            </a:r>
          </a:p>
        </p:txBody>
      </p:sp>
      <p:sp>
        <p:nvSpPr>
          <p:cNvPr id="22" name="TextBox 21"/>
          <p:cNvSpPr txBox="1"/>
          <p:nvPr/>
        </p:nvSpPr>
        <p:spPr>
          <a:xfrm>
            <a:off x="548640" y="3136392"/>
            <a:ext cx="3291840" cy="274320"/>
          </a:xfrm>
          <a:prstGeom prst="rect">
            <a:avLst/>
          </a:prstGeom>
          <a:noFill/>
        </p:spPr>
        <p:txBody>
          <a:bodyPr wrap="square" lIns="0" tIns="0" rIns="0" bIns="0" anchor="t">
            <a:spAutoFit/>
          </a:bodyPr>
          <a:lstStyle/>
          <a:p>
            <a:pPr algn="l">
              <a:lnSpc>
                <a:spcPct val="100000"/>
              </a:lnSpc>
              <a:spcAft>
                <a:spcPts val="0"/>
              </a:spcAft>
            </a:pPr>
            <a:r>
              <a:rPr sz="1000" b="0">
                <a:solidFill>
                  <a:srgbClr val="525252"/>
                </a:solidFill>
                <a:latin typeface="Segoe UI"/>
              </a:rPr>
              <a:t>Human review of escalations</a:t>
            </a:r>
          </a:p>
        </p:txBody>
      </p:sp>
      <p:sp>
        <p:nvSpPr>
          <p:cNvPr id="23" name="Rectangle 22"/>
          <p:cNvSpPr/>
          <p:nvPr/>
        </p:nvSpPr>
        <p:spPr>
          <a:xfrm>
            <a:off x="3886200" y="3127248"/>
            <a:ext cx="3931920" cy="3108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886200" y="3127248"/>
            <a:ext cx="251642" cy="310896"/>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36992" y="3145536"/>
            <a:ext cx="822960" cy="274320"/>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₹0.32</a:t>
            </a:r>
          </a:p>
        </p:txBody>
      </p:sp>
      <p:sp>
        <p:nvSpPr>
          <p:cNvPr id="26" name="TextBox 25"/>
          <p:cNvSpPr txBox="1"/>
          <p:nvPr/>
        </p:nvSpPr>
        <p:spPr>
          <a:xfrm>
            <a:off x="548640" y="3575304"/>
            <a:ext cx="3291840" cy="274320"/>
          </a:xfrm>
          <a:prstGeom prst="rect">
            <a:avLst/>
          </a:prstGeom>
          <a:noFill/>
        </p:spPr>
        <p:txBody>
          <a:bodyPr wrap="square" lIns="0" tIns="0" rIns="0" bIns="0" anchor="t">
            <a:spAutoFit/>
          </a:bodyPr>
          <a:lstStyle/>
          <a:p>
            <a:pPr algn="l">
              <a:lnSpc>
                <a:spcPct val="100000"/>
              </a:lnSpc>
              <a:spcAft>
                <a:spcPts val="0"/>
              </a:spcAft>
            </a:pPr>
            <a:r>
              <a:rPr sz="1000" b="0">
                <a:solidFill>
                  <a:srgbClr val="525252"/>
                </a:solidFill>
                <a:latin typeface="Segoe UI"/>
              </a:rPr>
              <a:t>Customer onboarding (allocated)</a:t>
            </a:r>
          </a:p>
        </p:txBody>
      </p:sp>
      <p:sp>
        <p:nvSpPr>
          <p:cNvPr id="27" name="Rectangle 26"/>
          <p:cNvSpPr/>
          <p:nvPr/>
        </p:nvSpPr>
        <p:spPr>
          <a:xfrm>
            <a:off x="3886200" y="3566160"/>
            <a:ext cx="3931920" cy="3108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886200" y="3566160"/>
            <a:ext cx="1179576" cy="310896"/>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36992" y="3584448"/>
            <a:ext cx="822960" cy="274320"/>
          </a:xfrm>
          <a:prstGeom prst="rect">
            <a:avLst/>
          </a:prstGeom>
          <a:noFill/>
        </p:spPr>
        <p:txBody>
          <a:bodyPr wrap="square" lIns="0" tIns="0" rIns="0" bIns="0" anchor="t">
            <a:spAutoFit/>
          </a:bodyPr>
          <a:lstStyle/>
          <a:p>
            <a:pPr algn="l">
              <a:lnSpc>
                <a:spcPct val="100000"/>
              </a:lnSpc>
              <a:spcAft>
                <a:spcPts val="0"/>
              </a:spcAft>
            </a:pPr>
            <a:r>
              <a:rPr sz="1050" b="1">
                <a:solidFill>
                  <a:srgbClr val="BF8B2E"/>
                </a:solidFill>
                <a:latin typeface="Segoe UI"/>
              </a:rPr>
              <a:t>₹1.50</a:t>
            </a:r>
          </a:p>
        </p:txBody>
      </p:sp>
      <p:sp>
        <p:nvSpPr>
          <p:cNvPr id="30" name="Rounded Rectangle 29"/>
          <p:cNvSpPr/>
          <p:nvPr/>
        </p:nvSpPr>
        <p:spPr>
          <a:xfrm>
            <a:off x="548640" y="4069080"/>
            <a:ext cx="8229600" cy="658368"/>
          </a:xfrm>
          <a:prstGeom prst="roundRect">
            <a:avLst>
              <a:gd name="adj" fmla="val 8000"/>
            </a:avLst>
          </a:prstGeom>
          <a:solidFill>
            <a:srgbClr val="FD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4169663"/>
            <a:ext cx="7818120" cy="457200"/>
          </a:xfrm>
          <a:prstGeom prst="rect">
            <a:avLst/>
          </a:prstGeom>
          <a:noFill/>
        </p:spPr>
        <p:txBody>
          <a:bodyPr wrap="square" lIns="0" tIns="0" rIns="0" bIns="0" anchor="t">
            <a:spAutoFit/>
          </a:bodyPr>
          <a:lstStyle/>
          <a:p>
            <a:pPr algn="l">
              <a:lnSpc>
                <a:spcPct val="110000"/>
              </a:lnSpc>
              <a:spcAft>
                <a:spcPts val="0"/>
              </a:spcAft>
            </a:pPr>
            <a:r>
              <a:rPr sz="1050" b="1">
                <a:solidFill>
                  <a:srgbClr val="BF8B2E"/>
                </a:solidFill>
                <a:latin typeface="Segoe UI"/>
              </a:rPr>
              <a:t>Field verification is 67% of our cost </a:t>
            </a:r>
            <a:r>
              <a:rPr sz="1050" b="0">
                <a:solidFill>
                  <a:srgbClr val="525252"/>
                </a:solidFill>
                <a:latin typeface="Segoe UI"/>
              </a:rPr>
              <a:t>— which is exactly why we apply it to residual-risk cases and facility-months, never to every certificate.</a:t>
            </a:r>
          </a:p>
        </p:txBody>
      </p:sp>
      <p:sp>
        <p:nvSpPr>
          <p:cNvPr id="32" name="TextBox 31"/>
          <p:cNvSpPr txBox="1"/>
          <p:nvPr/>
        </p:nvSpPr>
        <p:spPr>
          <a:xfrm>
            <a:off x="548640" y="4956048"/>
            <a:ext cx="5486400" cy="274320"/>
          </a:xfrm>
          <a:prstGeom prst="rect">
            <a:avLst/>
          </a:prstGeom>
          <a:noFill/>
        </p:spPr>
        <p:txBody>
          <a:bodyPr wrap="square" lIns="0" tIns="0" rIns="0" bIns="0" anchor="t">
            <a:spAutoFit/>
          </a:bodyPr>
          <a:lstStyle/>
          <a:p>
            <a:pPr algn="l">
              <a:lnSpc>
                <a:spcPct val="100000"/>
              </a:lnSpc>
              <a:spcAft>
                <a:spcPts val="0"/>
              </a:spcAft>
            </a:pPr>
            <a:r>
              <a:rPr sz="1000" b="1">
                <a:solidFill>
                  <a:srgbClr val="8D8D8D"/>
                </a:solidFill>
                <a:latin typeface="Segoe UI"/>
              </a:rPr>
              <a:t>WHY ₹25 PER TONNE IS EASY TO JUSTIFY — BUT STILL UNVALIDATED</a:t>
            </a:r>
          </a:p>
        </p:txBody>
      </p:sp>
      <p:sp>
        <p:nvSpPr>
          <p:cNvPr id="33" name="Rounded Rectangle 32"/>
          <p:cNvSpPr/>
          <p:nvPr/>
        </p:nvSpPr>
        <p:spPr>
          <a:xfrm>
            <a:off x="548640" y="5266944"/>
            <a:ext cx="2633472" cy="1005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4944" y="5349240"/>
            <a:ext cx="2377440" cy="365760"/>
          </a:xfrm>
          <a:prstGeom prst="rect">
            <a:avLst/>
          </a:prstGeom>
          <a:noFill/>
        </p:spPr>
        <p:txBody>
          <a:bodyPr wrap="square" lIns="0" tIns="0" rIns="0" bIns="0" anchor="t">
            <a:spAutoFit/>
          </a:bodyPr>
          <a:lstStyle/>
          <a:p>
            <a:pPr algn="l">
              <a:lnSpc>
                <a:spcPct val="100000"/>
              </a:lnSpc>
              <a:spcAft>
                <a:spcPts val="0"/>
              </a:spcAft>
            </a:pPr>
            <a:r>
              <a:rPr sz="1900" b="1">
                <a:solidFill>
                  <a:srgbClr val="0F62FE"/>
                </a:solidFill>
                <a:latin typeface="Segoe UI"/>
              </a:rPr>
              <a:t>₹1,500</a:t>
            </a:r>
          </a:p>
        </p:txBody>
      </p:sp>
      <p:sp>
        <p:nvSpPr>
          <p:cNvPr id="35" name="TextBox 34"/>
          <p:cNvSpPr txBox="1"/>
          <p:nvPr/>
        </p:nvSpPr>
        <p:spPr>
          <a:xfrm>
            <a:off x="694944" y="5742432"/>
            <a:ext cx="2377440" cy="457200"/>
          </a:xfrm>
          <a:prstGeom prst="rect">
            <a:avLst/>
          </a:prstGeom>
          <a:noFill/>
        </p:spPr>
        <p:txBody>
          <a:bodyPr wrap="square" lIns="0" tIns="0" rIns="0" bIns="0" anchor="t">
            <a:spAutoFit/>
          </a:bodyPr>
          <a:lstStyle/>
          <a:p>
            <a:pPr algn="l">
              <a:lnSpc>
                <a:spcPct val="105000"/>
              </a:lnSpc>
              <a:spcAft>
                <a:spcPts val="0"/>
              </a:spcAft>
            </a:pPr>
            <a:r>
              <a:rPr sz="900" b="0">
                <a:solidFill>
                  <a:srgbClr val="525252"/>
                </a:solidFill>
                <a:latin typeface="Segoe UI"/>
              </a:rPr>
              <a:t>the credit value being assured — our fee is 1.7% of it</a:t>
            </a:r>
          </a:p>
        </p:txBody>
      </p:sp>
      <p:sp>
        <p:nvSpPr>
          <p:cNvPr id="36" name="Rounded Rectangle 35"/>
          <p:cNvSpPr/>
          <p:nvPr/>
        </p:nvSpPr>
        <p:spPr>
          <a:xfrm>
            <a:off x="3346704" y="5266944"/>
            <a:ext cx="2633472" cy="1005840"/>
          </a:xfrm>
          <a:prstGeom prst="roundRect">
            <a:avLst>
              <a:gd name="adj" fmla="val 8000"/>
            </a:avLst>
          </a:prstGeom>
          <a:solidFill>
            <a:srgbClr val="FD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5349240"/>
            <a:ext cx="2377440" cy="365760"/>
          </a:xfrm>
          <a:prstGeom prst="rect">
            <a:avLst/>
          </a:prstGeom>
          <a:noFill/>
        </p:spPr>
        <p:txBody>
          <a:bodyPr wrap="square" lIns="0" tIns="0" rIns="0" bIns="0" anchor="t">
            <a:spAutoFit/>
          </a:bodyPr>
          <a:lstStyle/>
          <a:p>
            <a:pPr algn="l">
              <a:lnSpc>
                <a:spcPct val="100000"/>
              </a:lnSpc>
              <a:spcAft>
                <a:spcPts val="0"/>
              </a:spcAft>
            </a:pPr>
            <a:r>
              <a:rPr sz="1900" b="1">
                <a:solidFill>
                  <a:srgbClr val="BF8B2E"/>
                </a:solidFill>
                <a:latin typeface="Segoe UI"/>
              </a:rPr>
              <a:t>₹25</a:t>
            </a:r>
          </a:p>
        </p:txBody>
      </p:sp>
      <p:sp>
        <p:nvSpPr>
          <p:cNvPr id="38" name="TextBox 37"/>
          <p:cNvSpPr txBox="1"/>
          <p:nvPr/>
        </p:nvSpPr>
        <p:spPr>
          <a:xfrm>
            <a:off x="3493008" y="5742432"/>
            <a:ext cx="2377440" cy="457200"/>
          </a:xfrm>
          <a:prstGeom prst="rect">
            <a:avLst/>
          </a:prstGeom>
          <a:noFill/>
        </p:spPr>
        <p:txBody>
          <a:bodyPr wrap="square" lIns="0" tIns="0" rIns="0" bIns="0" anchor="t">
            <a:spAutoFit/>
          </a:bodyPr>
          <a:lstStyle/>
          <a:p>
            <a:pPr algn="l">
              <a:lnSpc>
                <a:spcPct val="105000"/>
              </a:lnSpc>
              <a:spcAft>
                <a:spcPts val="0"/>
              </a:spcAft>
            </a:pPr>
            <a:r>
              <a:rPr sz="900" b="0">
                <a:solidFill>
                  <a:srgbClr val="525252"/>
                </a:solidFill>
                <a:latin typeface="Segoe UI"/>
              </a:rPr>
              <a:t>our blended price per verified tonne — an invented figure, to be replaced by a bracketed band from real PIBO interviews</a:t>
            </a:r>
          </a:p>
        </p:txBody>
      </p:sp>
      <p:sp>
        <p:nvSpPr>
          <p:cNvPr id="39" name="Rounded Rectangle 38"/>
          <p:cNvSpPr/>
          <p:nvPr/>
        </p:nvSpPr>
        <p:spPr>
          <a:xfrm>
            <a:off x="6144768" y="5266944"/>
            <a:ext cx="2633472" cy="1005840"/>
          </a:xfrm>
          <a:prstGeom prst="roundRect">
            <a:avLst>
              <a:gd name="adj" fmla="val 8000"/>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91072" y="5349240"/>
            <a:ext cx="2377440" cy="365760"/>
          </a:xfrm>
          <a:prstGeom prst="rect">
            <a:avLst/>
          </a:prstGeom>
          <a:noFill/>
        </p:spPr>
        <p:txBody>
          <a:bodyPr wrap="square" lIns="0" tIns="0" rIns="0" bIns="0" anchor="t">
            <a:spAutoFit/>
          </a:bodyPr>
          <a:lstStyle/>
          <a:p>
            <a:pPr algn="l">
              <a:lnSpc>
                <a:spcPct val="100000"/>
              </a:lnSpc>
              <a:spcAft>
                <a:spcPts val="0"/>
              </a:spcAft>
            </a:pPr>
            <a:r>
              <a:rPr sz="1900" b="1">
                <a:solidFill>
                  <a:srgbClr val="DA1E28"/>
                </a:solidFill>
                <a:latin typeface="Segoe UI"/>
              </a:rPr>
              <a:t>₹5,000</a:t>
            </a:r>
          </a:p>
        </p:txBody>
      </p:sp>
      <p:sp>
        <p:nvSpPr>
          <p:cNvPr id="41" name="TextBox 40"/>
          <p:cNvSpPr txBox="1"/>
          <p:nvPr/>
        </p:nvSpPr>
        <p:spPr>
          <a:xfrm>
            <a:off x="6291072" y="5742432"/>
            <a:ext cx="2377440" cy="457200"/>
          </a:xfrm>
          <a:prstGeom prst="rect">
            <a:avLst/>
          </a:prstGeom>
          <a:noFill/>
        </p:spPr>
        <p:txBody>
          <a:bodyPr wrap="square" lIns="0" tIns="0" rIns="0" bIns="0" anchor="t">
            <a:spAutoFit/>
          </a:bodyPr>
          <a:lstStyle/>
          <a:p>
            <a:pPr algn="l">
              <a:lnSpc>
                <a:spcPct val="105000"/>
              </a:lnSpc>
              <a:spcAft>
                <a:spcPts val="0"/>
              </a:spcAft>
            </a:pPr>
            <a:r>
              <a:rPr sz="900" b="0">
                <a:solidFill>
                  <a:srgbClr val="525252"/>
                </a:solidFill>
                <a:latin typeface="Segoe UI"/>
              </a:rPr>
              <a:t>the non-compliance exposure we protect — our fee is 0.5% of it</a:t>
            </a:r>
          </a:p>
        </p:txBody>
      </p:sp>
      <p:sp>
        <p:nvSpPr>
          <p:cNvPr id="42" name="Rounded Rectangle 41"/>
          <p:cNvSpPr/>
          <p:nvPr/>
        </p:nvSpPr>
        <p:spPr>
          <a:xfrm>
            <a:off x="9088120" y="1426464"/>
            <a:ext cx="2542032" cy="484632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281160" y="1572768"/>
            <a:ext cx="2194560" cy="274320"/>
          </a:xfrm>
          <a:prstGeom prst="rect">
            <a:avLst/>
          </a:prstGeom>
          <a:noFill/>
        </p:spPr>
        <p:txBody>
          <a:bodyPr wrap="square" lIns="0" tIns="0" rIns="0" bIns="0" anchor="t">
            <a:spAutoFit/>
          </a:bodyPr>
          <a:lstStyle/>
          <a:p>
            <a:pPr algn="l">
              <a:lnSpc>
                <a:spcPct val="100000"/>
              </a:lnSpc>
              <a:spcAft>
                <a:spcPts val="0"/>
              </a:spcAft>
            </a:pPr>
            <a:r>
              <a:rPr sz="950" b="1">
                <a:solidFill>
                  <a:srgbClr val="BF8B2E"/>
                </a:solidFill>
                <a:latin typeface="Segoe UI"/>
              </a:rPr>
              <a:t>REVENUE STREAMS</a:t>
            </a:r>
          </a:p>
        </p:txBody>
      </p:sp>
      <p:sp>
        <p:nvSpPr>
          <p:cNvPr id="44" name="TextBox 43"/>
          <p:cNvSpPr txBox="1"/>
          <p:nvPr/>
        </p:nvSpPr>
        <p:spPr>
          <a:xfrm>
            <a:off x="9281160" y="1901952"/>
            <a:ext cx="2240280" cy="2251386"/>
          </a:xfrm>
          <a:prstGeom prst="rect">
            <a:avLst/>
          </a:prstGeom>
          <a:noFill/>
        </p:spPr>
        <p:txBody>
          <a:bodyPr wrap="square" lIns="0" tIns="0" rIns="0" bIns="0">
            <a:spAutoFit/>
          </a:bodyPr>
          <a:lstStyle/>
          <a:p>
            <a:pPr>
              <a:lnSpc>
                <a:spcPct val="103000"/>
              </a:lnSpc>
              <a:spcAft>
                <a:spcPts val="800"/>
              </a:spcAft>
            </a:pPr>
            <a:r>
              <a:rPr sz="919" b="1" dirty="0">
                <a:solidFill>
                  <a:schemeClr val="bg1">
                    <a:lumMod val="75000"/>
                  </a:schemeClr>
                </a:solidFill>
                <a:latin typeface="Segoe UI"/>
              </a:rPr>
              <a:t>▪ Per verified </a:t>
            </a:r>
            <a:r>
              <a:rPr sz="919" b="1" dirty="0" err="1">
                <a:solidFill>
                  <a:schemeClr val="bg1">
                    <a:lumMod val="75000"/>
                  </a:schemeClr>
                </a:solidFill>
                <a:latin typeface="Segoe UI"/>
              </a:rPr>
              <a:t>tonne</a:t>
            </a:r>
            <a:r>
              <a:rPr sz="919" dirty="0">
                <a:solidFill>
                  <a:schemeClr val="bg1">
                    <a:lumMod val="75000"/>
                  </a:schemeClr>
                </a:solidFill>
                <a:latin typeface="Segoe UI"/>
              </a:rPr>
              <a:t> ₹25 blended — UNVALIDATED price, primary engine</a:t>
            </a:r>
          </a:p>
          <a:p>
            <a:pPr>
              <a:lnSpc>
                <a:spcPct val="103000"/>
              </a:lnSpc>
              <a:spcAft>
                <a:spcPts val="800"/>
              </a:spcAft>
            </a:pPr>
            <a:r>
              <a:rPr sz="919" b="1" dirty="0">
                <a:solidFill>
                  <a:schemeClr val="bg1">
                    <a:lumMod val="75000"/>
                  </a:schemeClr>
                </a:solidFill>
                <a:latin typeface="Segoe UI"/>
              </a:rPr>
              <a:t>▪ PIBO subscription</a:t>
            </a:r>
            <a:r>
              <a:rPr sz="919" dirty="0">
                <a:solidFill>
                  <a:schemeClr val="bg1">
                    <a:lumMod val="75000"/>
                  </a:schemeClr>
                </a:solidFill>
                <a:latin typeface="Segoe UI"/>
              </a:rPr>
              <a:t> — 2026 traceability &amp; recycled-content disclosure</a:t>
            </a:r>
          </a:p>
          <a:p>
            <a:pPr>
              <a:lnSpc>
                <a:spcPct val="103000"/>
              </a:lnSpc>
              <a:spcAft>
                <a:spcPts val="800"/>
              </a:spcAft>
            </a:pPr>
            <a:r>
              <a:rPr sz="919" b="1" dirty="0">
                <a:solidFill>
                  <a:schemeClr val="bg1">
                    <a:lumMod val="75000"/>
                  </a:schemeClr>
                </a:solidFill>
                <a:latin typeface="Segoe UI"/>
              </a:rPr>
              <a:t>▪ Integrity Rating</a:t>
            </a:r>
            <a:r>
              <a:rPr sz="919" dirty="0">
                <a:solidFill>
                  <a:schemeClr val="bg1">
                    <a:lumMod val="75000"/>
                  </a:schemeClr>
                </a:solidFill>
                <a:latin typeface="Segoe UI"/>
              </a:rPr>
              <a:t> — annual fee per rated processor</a:t>
            </a:r>
          </a:p>
          <a:p>
            <a:pPr>
              <a:lnSpc>
                <a:spcPct val="103000"/>
              </a:lnSpc>
              <a:spcAft>
                <a:spcPts val="800"/>
              </a:spcAft>
            </a:pPr>
            <a:r>
              <a:rPr sz="919" b="1" dirty="0">
                <a:solidFill>
                  <a:schemeClr val="bg1">
                    <a:lumMod val="75000"/>
                  </a:schemeClr>
                </a:solidFill>
                <a:latin typeface="Segoe UI"/>
              </a:rPr>
              <a:t>▪ Financier data</a:t>
            </a:r>
            <a:r>
              <a:rPr sz="919" dirty="0">
                <a:solidFill>
                  <a:schemeClr val="bg1">
                    <a:lumMod val="75000"/>
                  </a:schemeClr>
                </a:solidFill>
                <a:latin typeface="Segoe UI"/>
              </a:rPr>
              <a:t> — credit-stream verification for lenders and insurers</a:t>
            </a:r>
          </a:p>
          <a:p>
            <a:pPr>
              <a:lnSpc>
                <a:spcPct val="103000"/>
              </a:lnSpc>
              <a:spcAft>
                <a:spcPts val="800"/>
              </a:spcAft>
            </a:pPr>
            <a:r>
              <a:rPr sz="919" b="1" dirty="0">
                <a:solidFill>
                  <a:schemeClr val="bg1">
                    <a:lumMod val="75000"/>
                  </a:schemeClr>
                </a:solidFill>
                <a:latin typeface="Segoe UI"/>
              </a:rPr>
              <a:t>▪ Regulator analytics</a:t>
            </a:r>
            <a:r>
              <a:rPr sz="919" dirty="0">
                <a:solidFill>
                  <a:schemeClr val="bg1">
                    <a:lumMod val="75000"/>
                  </a:schemeClr>
                </a:solidFill>
                <a:latin typeface="Segoe UI"/>
              </a:rPr>
              <a:t> — enforcement </a:t>
            </a:r>
            <a:r>
              <a:rPr sz="919" dirty="0" err="1">
                <a:solidFill>
                  <a:schemeClr val="bg1">
                    <a:lumMod val="75000"/>
                  </a:schemeClr>
                </a:solidFill>
                <a:latin typeface="Segoe UI"/>
              </a:rPr>
              <a:t>prioritisation</a:t>
            </a:r>
            <a:r>
              <a:rPr sz="919" dirty="0">
                <a:solidFill>
                  <a:schemeClr val="bg1">
                    <a:lumMod val="75000"/>
                  </a:schemeClr>
                </a:solidFill>
                <a:latin typeface="Segoe UI"/>
              </a:rPr>
              <a:t> for CPCB/SPCB</a:t>
            </a:r>
          </a:p>
          <a:p>
            <a:pPr>
              <a:lnSpc>
                <a:spcPct val="103000"/>
              </a:lnSpc>
              <a:spcAft>
                <a:spcPts val="800"/>
              </a:spcAft>
            </a:pPr>
            <a:r>
              <a:rPr sz="919" b="1" dirty="0">
                <a:solidFill>
                  <a:schemeClr val="bg1">
                    <a:lumMod val="75000"/>
                  </a:schemeClr>
                </a:solidFill>
                <a:latin typeface="Segoe UI"/>
              </a:rPr>
              <a:t>▪ Stream expansion</a:t>
            </a:r>
            <a:r>
              <a:rPr sz="919" dirty="0">
                <a:solidFill>
                  <a:schemeClr val="bg1">
                    <a:lumMod val="75000"/>
                  </a:schemeClr>
                </a:solidFill>
                <a:latin typeface="Segoe UI"/>
              </a:rPr>
              <a:t> — e-waste, battery, ELV, </a:t>
            </a:r>
            <a:r>
              <a:rPr sz="919" dirty="0" err="1">
                <a:solidFill>
                  <a:schemeClr val="bg1">
                    <a:lumMod val="75000"/>
                  </a:schemeClr>
                </a:solidFill>
                <a:latin typeface="Segoe UI"/>
              </a:rPr>
              <a:t>tyre</a:t>
            </a:r>
            <a:r>
              <a:rPr sz="919" dirty="0">
                <a:solidFill>
                  <a:schemeClr val="bg1">
                    <a:lumMod val="75000"/>
                  </a:schemeClr>
                </a:solidFill>
                <a:latin typeface="Segoe UI"/>
              </a:rPr>
              <a:t>, used-oil EPR; EU DPP</a:t>
            </a:r>
          </a:p>
        </p:txBody>
      </p:sp>
      <p:sp>
        <p:nvSpPr>
          <p:cNvPr id="45" name="TextBox 44"/>
          <p:cNvSpPr txBox="1"/>
          <p:nvPr/>
        </p:nvSpPr>
        <p:spPr>
          <a:xfrm>
            <a:off x="9281160" y="5742432"/>
            <a:ext cx="2240280" cy="457200"/>
          </a:xfrm>
          <a:prstGeom prst="rect">
            <a:avLst/>
          </a:prstGeom>
          <a:noFill/>
        </p:spPr>
        <p:txBody>
          <a:bodyPr wrap="square" lIns="0" tIns="0" rIns="0" bIns="0" anchor="t">
            <a:spAutoFit/>
          </a:bodyPr>
          <a:lstStyle/>
          <a:p>
            <a:pPr algn="l">
              <a:lnSpc>
                <a:spcPct val="110000"/>
              </a:lnSpc>
              <a:spcAft>
                <a:spcPts val="0"/>
              </a:spcAft>
            </a:pPr>
            <a:r>
              <a:rPr sz="900" b="0">
                <a:solidFill>
                  <a:srgbClr val="BEBEBE"/>
                </a:solidFill>
                <a:latin typeface="Segoe UI"/>
              </a:rPr>
              <a:t>≈70% gross margin on a legally mandatory, annually recurring spend.</a:t>
            </a:r>
          </a:p>
        </p:txBody>
      </p:sp>
      <p:sp>
        <p:nvSpPr>
          <p:cNvPr id="46" name="Rectangle 45"/>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unit economics modelled on stated assumptions · ₹25/t is an invented price pending the willingness-to-pay test · market: ~4.25 Mt certified per year in plastic packaging alone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STEP 10 — LEAN CANVAS</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Lean Canvas at a glance</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11</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63040"/>
            <a:ext cx="3648456" cy="1517904"/>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554480"/>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PROBLEM</a:t>
            </a:r>
          </a:p>
        </p:txBody>
      </p:sp>
      <p:sp>
        <p:nvSpPr>
          <p:cNvPr id="9" name="TextBox 8"/>
          <p:cNvSpPr txBox="1"/>
          <p:nvPr/>
        </p:nvSpPr>
        <p:spPr>
          <a:xfrm>
            <a:off x="694944" y="1847088"/>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₹2,500 cr of credits on self-declared evidence.</a:t>
            </a:r>
          </a:p>
          <a:p>
            <a:pPr algn="l">
              <a:lnSpc>
                <a:spcPct val="106000"/>
              </a:lnSpc>
              <a:spcAft>
                <a:spcPts val="200"/>
              </a:spcAft>
            </a:pPr>
            <a:r>
              <a:rPr sz="860" b="0">
                <a:solidFill>
                  <a:srgbClr val="161616"/>
                </a:solidFill>
                <a:latin typeface="Segoe UI"/>
              </a:rPr>
              <a:t>600,000+ invalid certificates.</a:t>
            </a:r>
          </a:p>
          <a:p>
            <a:pPr algn="l">
              <a:lnSpc>
                <a:spcPct val="106000"/>
              </a:lnSpc>
              <a:spcAft>
                <a:spcPts val="200"/>
              </a:spcAft>
            </a:pPr>
            <a:r>
              <a:rPr sz="860" b="0">
                <a:solidFill>
                  <a:srgbClr val="161616"/>
                </a:solidFill>
                <a:latin typeface="Segoe UI"/>
              </a:rPr>
              <a:t>Honest recycling ₹4,000–6,000/t vs ₹1,500/t credit.</a:t>
            </a:r>
          </a:p>
          <a:p>
            <a:pPr algn="l">
              <a:lnSpc>
                <a:spcPct val="106000"/>
              </a:lnSpc>
              <a:spcAft>
                <a:spcPts val="200"/>
              </a:spcAft>
            </a:pPr>
            <a:r>
              <a:rPr sz="860" b="0">
                <a:solidFill>
                  <a:srgbClr val="161616"/>
                </a:solidFill>
                <a:latin typeface="Segoe UI"/>
              </a:rPr>
              <a:t>Fraud is the cheapest legal option.</a:t>
            </a:r>
          </a:p>
        </p:txBody>
      </p:sp>
      <p:sp>
        <p:nvSpPr>
          <p:cNvPr id="10" name="Rounded Rectangle 9"/>
          <p:cNvSpPr/>
          <p:nvPr/>
        </p:nvSpPr>
        <p:spPr>
          <a:xfrm>
            <a:off x="4297680" y="1463040"/>
            <a:ext cx="3648456" cy="1517904"/>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43984" y="1554480"/>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SOLUTION</a:t>
            </a:r>
          </a:p>
        </p:txBody>
      </p:sp>
      <p:sp>
        <p:nvSpPr>
          <p:cNvPr id="12" name="TextBox 11"/>
          <p:cNvSpPr txBox="1"/>
          <p:nvPr/>
        </p:nvSpPr>
        <p:spPr>
          <a:xfrm>
            <a:off x="4443984" y="1847088"/>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Five-agent verification engine.</a:t>
            </a:r>
          </a:p>
          <a:p>
            <a:pPr algn="l">
              <a:lnSpc>
                <a:spcPct val="106000"/>
              </a:lnSpc>
              <a:spcAft>
                <a:spcPts val="200"/>
              </a:spcAft>
            </a:pPr>
            <a:r>
              <a:rPr sz="860" b="0">
                <a:solidFill>
                  <a:srgbClr val="161616"/>
                </a:solidFill>
                <a:latin typeface="Segoe UI"/>
              </a:rPr>
              <a:t>Proof-of-Recycling dossier per certificate.</a:t>
            </a:r>
          </a:p>
          <a:p>
            <a:pPr algn="l">
              <a:lnSpc>
                <a:spcPct val="106000"/>
              </a:lnSpc>
              <a:spcAft>
                <a:spcPts val="200"/>
              </a:spcAft>
            </a:pPr>
            <a:r>
              <a:rPr sz="860" b="0">
                <a:solidFill>
                  <a:srgbClr val="161616"/>
                </a:solidFill>
                <a:latin typeface="Segoe UI"/>
              </a:rPr>
              <a:t>Processor Integrity Rating.</a:t>
            </a:r>
          </a:p>
          <a:p>
            <a:pPr algn="l">
              <a:lnSpc>
                <a:spcPct val="106000"/>
              </a:lnSpc>
              <a:spcAft>
                <a:spcPts val="200"/>
              </a:spcAft>
            </a:pPr>
            <a:r>
              <a:rPr sz="860" b="0">
                <a:solidFill>
                  <a:srgbClr val="161616"/>
                </a:solidFill>
                <a:latin typeface="Segoe UI"/>
              </a:rPr>
              <a:t>CPCB-format 2026 disclosure.</a:t>
            </a:r>
          </a:p>
        </p:txBody>
      </p:sp>
      <p:sp>
        <p:nvSpPr>
          <p:cNvPr id="13" name="Rounded Rectangle 12"/>
          <p:cNvSpPr/>
          <p:nvPr/>
        </p:nvSpPr>
        <p:spPr>
          <a:xfrm>
            <a:off x="8046720" y="1463040"/>
            <a:ext cx="3648456" cy="1517904"/>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93024" y="1554480"/>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FFFFFF"/>
                </a:solidFill>
                <a:latin typeface="Segoe UI"/>
              </a:rPr>
              <a:t>UNIQUE VALUE PROPOSITION</a:t>
            </a:r>
          </a:p>
        </p:txBody>
      </p:sp>
      <p:sp>
        <p:nvSpPr>
          <p:cNvPr id="15" name="TextBox 14"/>
          <p:cNvSpPr txBox="1"/>
          <p:nvPr/>
        </p:nvSpPr>
        <p:spPr>
          <a:xfrm>
            <a:off x="8193024" y="1847088"/>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FFFFFF"/>
                </a:solidFill>
                <a:latin typeface="Segoe UI"/>
              </a:rPr>
              <a:t>"Every EPR credit you claim, backed by an evidence chain a regulator can audit — and we sell no credits, so we can verify them."</a:t>
            </a:r>
          </a:p>
        </p:txBody>
      </p:sp>
      <p:sp>
        <p:nvSpPr>
          <p:cNvPr id="16" name="Rounded Rectangle 15"/>
          <p:cNvSpPr/>
          <p:nvPr/>
        </p:nvSpPr>
        <p:spPr>
          <a:xfrm>
            <a:off x="548640" y="3081528"/>
            <a:ext cx="3648456" cy="1517904"/>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3172968"/>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CUSTOMER SEGMENTS</a:t>
            </a:r>
          </a:p>
        </p:txBody>
      </p:sp>
      <p:sp>
        <p:nvSpPr>
          <p:cNvPr id="18" name="TextBox 17"/>
          <p:cNvSpPr txBox="1"/>
          <p:nvPr/>
        </p:nvSpPr>
        <p:spPr>
          <a:xfrm>
            <a:off x="694944" y="3465576"/>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Beachhead: category-II PIBOs, 5,000–50,000 t/yr, Maharashtra &amp; Gujarat.</a:t>
            </a:r>
          </a:p>
          <a:p>
            <a:pPr algn="l">
              <a:lnSpc>
                <a:spcPct val="106000"/>
              </a:lnSpc>
              <a:spcAft>
                <a:spcPts val="200"/>
              </a:spcAft>
            </a:pPr>
            <a:r>
              <a:rPr sz="860" b="0">
                <a:solidFill>
                  <a:srgbClr val="161616"/>
                </a:solidFill>
                <a:latin typeface="Segoe UI"/>
              </a:rPr>
              <a:t>Then PROs and processors.</a:t>
            </a:r>
          </a:p>
          <a:p>
            <a:pPr algn="l">
              <a:lnSpc>
                <a:spcPct val="106000"/>
              </a:lnSpc>
              <a:spcAft>
                <a:spcPts val="200"/>
              </a:spcAft>
            </a:pPr>
            <a:r>
              <a:rPr sz="860" b="0">
                <a:solidFill>
                  <a:srgbClr val="161616"/>
                </a:solidFill>
                <a:latin typeface="Segoe UI"/>
              </a:rPr>
              <a:t>Then lenders, insurers, CPCB/SPCB.</a:t>
            </a:r>
          </a:p>
        </p:txBody>
      </p:sp>
      <p:sp>
        <p:nvSpPr>
          <p:cNvPr id="19" name="Rounded Rectangle 18"/>
          <p:cNvSpPr/>
          <p:nvPr/>
        </p:nvSpPr>
        <p:spPr>
          <a:xfrm>
            <a:off x="4297680" y="3081528"/>
            <a:ext cx="3648456" cy="1517904"/>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43984" y="3172968"/>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KEY METRICS</a:t>
            </a:r>
          </a:p>
        </p:txBody>
      </p:sp>
      <p:sp>
        <p:nvSpPr>
          <p:cNvPr id="21" name="TextBox 20"/>
          <p:cNvSpPr txBox="1"/>
          <p:nvPr/>
        </p:nvSpPr>
        <p:spPr>
          <a:xfrm>
            <a:off x="4443984" y="3465576"/>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Recall 99.3% (target ≥95%)</a:t>
            </a:r>
          </a:p>
          <a:p>
            <a:pPr algn="l">
              <a:lnSpc>
                <a:spcPct val="106000"/>
              </a:lnSpc>
              <a:spcAft>
                <a:spcPts val="200"/>
              </a:spcAft>
            </a:pPr>
            <a:r>
              <a:rPr sz="860" b="0">
                <a:solidFill>
                  <a:srgbClr val="161616"/>
                </a:solidFill>
                <a:latin typeface="Segoe UI"/>
              </a:rPr>
              <a:t>Auto-clear 76.1% (target ≥75%)</a:t>
            </a:r>
          </a:p>
          <a:p>
            <a:pPr algn="l">
              <a:lnSpc>
                <a:spcPct val="106000"/>
              </a:lnSpc>
              <a:spcAft>
                <a:spcPts val="200"/>
              </a:spcAft>
            </a:pPr>
            <a:r>
              <a:rPr sz="860" b="0">
                <a:solidFill>
                  <a:srgbClr val="161616"/>
                </a:solidFill>
                <a:latin typeface="Segoe UI"/>
              </a:rPr>
              <a:t>False positives 9.2% (target ≤10%)</a:t>
            </a:r>
          </a:p>
          <a:p>
            <a:pPr algn="l">
              <a:lnSpc>
                <a:spcPct val="106000"/>
              </a:lnSpc>
              <a:spcAft>
                <a:spcPts val="200"/>
              </a:spcAft>
            </a:pPr>
            <a:r>
              <a:rPr sz="860" b="0">
                <a:solidFill>
                  <a:srgbClr val="161616"/>
                </a:solidFill>
                <a:latin typeface="Segoe UI"/>
              </a:rPr>
              <a:t>Cost ≤₹8/t · dossier acceptance ≥90%</a:t>
            </a:r>
          </a:p>
        </p:txBody>
      </p:sp>
      <p:sp>
        <p:nvSpPr>
          <p:cNvPr id="22" name="Rounded Rectangle 21"/>
          <p:cNvSpPr/>
          <p:nvPr/>
        </p:nvSpPr>
        <p:spPr>
          <a:xfrm>
            <a:off x="8046720" y="3081528"/>
            <a:ext cx="3648456" cy="1517904"/>
          </a:xfrm>
          <a:prstGeom prst="roundRect">
            <a:avLst>
              <a:gd name="adj" fmla="val 8000"/>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93024" y="3172968"/>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UNFAIR ADVANTAGE</a:t>
            </a:r>
          </a:p>
        </p:txBody>
      </p:sp>
      <p:sp>
        <p:nvSpPr>
          <p:cNvPr id="24" name="TextBox 23"/>
          <p:cNvSpPr txBox="1"/>
          <p:nvPr/>
        </p:nvSpPr>
        <p:spPr>
          <a:xfrm>
            <a:off x="8193024" y="3465576"/>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Independence — no credits sold.</a:t>
            </a:r>
          </a:p>
          <a:p>
            <a:pPr algn="l">
              <a:lnSpc>
                <a:spcPct val="106000"/>
              </a:lnSpc>
              <a:spcAft>
                <a:spcPts val="200"/>
              </a:spcAft>
            </a:pPr>
            <a:r>
              <a:rPr sz="860" b="0">
                <a:solidFill>
                  <a:srgbClr val="161616"/>
                </a:solidFill>
                <a:latin typeface="Segoe UI"/>
              </a:rPr>
              <a:t>The compounding Integrity Graph.</a:t>
            </a:r>
          </a:p>
          <a:p>
            <a:pPr algn="l">
              <a:lnSpc>
                <a:spcPct val="106000"/>
              </a:lnSpc>
              <a:spcAft>
                <a:spcPts val="200"/>
              </a:spcAft>
            </a:pPr>
            <a:r>
              <a:rPr sz="860" b="0">
                <a:solidFill>
                  <a:srgbClr val="161616"/>
                </a:solidFill>
                <a:latin typeface="Segoe UI"/>
              </a:rPr>
              <a:t>Portfolio reasoning incumbents cannot copy.</a:t>
            </a:r>
          </a:p>
          <a:p>
            <a:pPr algn="l">
              <a:lnSpc>
                <a:spcPct val="106000"/>
              </a:lnSpc>
              <a:spcAft>
                <a:spcPts val="200"/>
              </a:spcAft>
            </a:pPr>
            <a:r>
              <a:rPr sz="860" b="0">
                <a:solidFill>
                  <a:srgbClr val="161616"/>
                </a:solidFill>
                <a:latin typeface="Segoe UI"/>
              </a:rPr>
              <a:t>First mover on a legal deadline.</a:t>
            </a:r>
          </a:p>
        </p:txBody>
      </p:sp>
      <p:sp>
        <p:nvSpPr>
          <p:cNvPr id="25" name="Rounded Rectangle 24"/>
          <p:cNvSpPr/>
          <p:nvPr/>
        </p:nvSpPr>
        <p:spPr>
          <a:xfrm>
            <a:off x="548640" y="4700016"/>
            <a:ext cx="3648456" cy="1517904"/>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791456"/>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CHANNELS</a:t>
            </a:r>
          </a:p>
        </p:txBody>
      </p:sp>
      <p:sp>
        <p:nvSpPr>
          <p:cNvPr id="27" name="TextBox 26"/>
          <p:cNvSpPr txBox="1"/>
          <p:nvPr/>
        </p:nvSpPr>
        <p:spPr>
          <a:xfrm>
            <a:off x="694944" y="5084064"/>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Direct enterprise sale to compliance heads.</a:t>
            </a:r>
          </a:p>
          <a:p>
            <a:pPr algn="l">
              <a:lnSpc>
                <a:spcPct val="106000"/>
              </a:lnSpc>
              <a:spcAft>
                <a:spcPts val="200"/>
              </a:spcAft>
            </a:pPr>
            <a:r>
              <a:rPr sz="860" b="0">
                <a:solidFill>
                  <a:srgbClr val="161616"/>
                </a:solidFill>
                <a:latin typeface="Segoe UI"/>
              </a:rPr>
              <a:t>CII / FICCI / industry associations.</a:t>
            </a:r>
          </a:p>
          <a:p>
            <a:pPr algn="l">
              <a:lnSpc>
                <a:spcPct val="106000"/>
              </a:lnSpc>
              <a:spcAft>
                <a:spcPts val="200"/>
              </a:spcAft>
            </a:pPr>
            <a:r>
              <a:rPr sz="860" b="0">
                <a:solidFill>
                  <a:srgbClr val="161616"/>
                </a:solidFill>
                <a:latin typeface="Segoe UI"/>
              </a:rPr>
              <a:t>Audit firms as delivery partners.</a:t>
            </a:r>
          </a:p>
          <a:p>
            <a:pPr algn="l">
              <a:lnSpc>
                <a:spcPct val="106000"/>
              </a:lnSpc>
              <a:spcAft>
                <a:spcPts val="200"/>
              </a:spcAft>
            </a:pPr>
            <a:r>
              <a:rPr sz="860" b="0">
                <a:solidFill>
                  <a:srgbClr val="161616"/>
                </a:solidFill>
                <a:latin typeface="Segoe UI"/>
              </a:rPr>
              <a:t>Regulator empanelment.</a:t>
            </a:r>
          </a:p>
        </p:txBody>
      </p:sp>
      <p:sp>
        <p:nvSpPr>
          <p:cNvPr id="28" name="Rounded Rectangle 27"/>
          <p:cNvSpPr/>
          <p:nvPr/>
        </p:nvSpPr>
        <p:spPr>
          <a:xfrm>
            <a:off x="4297680" y="4700016"/>
            <a:ext cx="3648456" cy="1517904"/>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43984" y="4791456"/>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REVENUE / VALUE STREAMS</a:t>
            </a:r>
          </a:p>
        </p:txBody>
      </p:sp>
      <p:sp>
        <p:nvSpPr>
          <p:cNvPr id="30" name="TextBox 29"/>
          <p:cNvSpPr txBox="1"/>
          <p:nvPr/>
        </p:nvSpPr>
        <p:spPr>
          <a:xfrm>
            <a:off x="4443984" y="5084064"/>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₹25 per verified tonne.</a:t>
            </a:r>
          </a:p>
          <a:p>
            <a:pPr algn="l">
              <a:lnSpc>
                <a:spcPct val="106000"/>
              </a:lnSpc>
              <a:spcAft>
                <a:spcPts val="200"/>
              </a:spcAft>
            </a:pPr>
            <a:r>
              <a:rPr sz="860" b="0">
                <a:solidFill>
                  <a:srgbClr val="161616"/>
                </a:solidFill>
                <a:latin typeface="Segoe UI"/>
              </a:rPr>
              <a:t>PIBO compliance subscription.</a:t>
            </a:r>
          </a:p>
          <a:p>
            <a:pPr algn="l">
              <a:lnSpc>
                <a:spcPct val="106000"/>
              </a:lnSpc>
              <a:spcAft>
                <a:spcPts val="200"/>
              </a:spcAft>
            </a:pPr>
            <a:r>
              <a:rPr sz="860" b="0">
                <a:solidFill>
                  <a:srgbClr val="161616"/>
                </a:solidFill>
                <a:latin typeface="Segoe UI"/>
              </a:rPr>
              <a:t>Processor rating fees.</a:t>
            </a:r>
          </a:p>
          <a:p>
            <a:pPr algn="l">
              <a:lnSpc>
                <a:spcPct val="106000"/>
              </a:lnSpc>
              <a:spcAft>
                <a:spcPts val="200"/>
              </a:spcAft>
            </a:pPr>
            <a:r>
              <a:rPr sz="860" b="0">
                <a:solidFill>
                  <a:srgbClr val="161616"/>
                </a:solidFill>
                <a:latin typeface="Segoe UI"/>
              </a:rPr>
              <a:t>Financier data · regulator analytics.</a:t>
            </a:r>
          </a:p>
        </p:txBody>
      </p:sp>
      <p:sp>
        <p:nvSpPr>
          <p:cNvPr id="31" name="Rounded Rectangle 30"/>
          <p:cNvSpPr/>
          <p:nvPr/>
        </p:nvSpPr>
        <p:spPr>
          <a:xfrm>
            <a:off x="8046720" y="4700016"/>
            <a:ext cx="3648456" cy="1517904"/>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93024" y="4791456"/>
            <a:ext cx="3374136" cy="237744"/>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COST STRUCTURE</a:t>
            </a:r>
          </a:p>
        </p:txBody>
      </p:sp>
      <p:sp>
        <p:nvSpPr>
          <p:cNvPr id="33" name="TextBox 32"/>
          <p:cNvSpPr txBox="1"/>
          <p:nvPr/>
        </p:nvSpPr>
        <p:spPr>
          <a:xfrm>
            <a:off x="8193024" y="5084064"/>
            <a:ext cx="3355848" cy="1060704"/>
          </a:xfrm>
          <a:prstGeom prst="rect">
            <a:avLst/>
          </a:prstGeom>
          <a:noFill/>
        </p:spPr>
        <p:txBody>
          <a:bodyPr wrap="square" lIns="0" tIns="0" rIns="0" bIns="0" anchor="t">
            <a:spAutoFit/>
          </a:bodyPr>
          <a:lstStyle/>
          <a:p>
            <a:pPr algn="l">
              <a:lnSpc>
                <a:spcPct val="106000"/>
              </a:lnSpc>
              <a:spcAft>
                <a:spcPts val="200"/>
              </a:spcAft>
            </a:pPr>
            <a:r>
              <a:rPr sz="860" b="0">
                <a:solidFill>
                  <a:srgbClr val="161616"/>
                </a:solidFill>
                <a:latin typeface="Segoe UI"/>
              </a:rPr>
              <a:t>Field-truth sampling ₹5.00/t.</a:t>
            </a:r>
          </a:p>
          <a:p>
            <a:pPr algn="l">
              <a:lnSpc>
                <a:spcPct val="106000"/>
              </a:lnSpc>
              <a:spcAft>
                <a:spcPts val="200"/>
              </a:spcAft>
            </a:pPr>
            <a:r>
              <a:rPr sz="860" b="0">
                <a:solidFill>
                  <a:srgbClr val="161616"/>
                </a:solidFill>
                <a:latin typeface="Segoe UI"/>
              </a:rPr>
              <a:t>Extraction ₹0.45 · review ₹0.32 · platform ₹0.20.</a:t>
            </a:r>
          </a:p>
          <a:p>
            <a:pPr algn="l">
              <a:lnSpc>
                <a:spcPct val="106000"/>
              </a:lnSpc>
              <a:spcAft>
                <a:spcPts val="200"/>
              </a:spcAft>
            </a:pPr>
            <a:r>
              <a:rPr sz="860" b="0">
                <a:solidFill>
                  <a:srgbClr val="161616"/>
                </a:solidFill>
                <a:latin typeface="Segoe UI"/>
              </a:rPr>
              <a:t>Onboarding ₹1.50.</a:t>
            </a:r>
          </a:p>
          <a:p>
            <a:pPr algn="l">
              <a:lnSpc>
                <a:spcPct val="106000"/>
              </a:lnSpc>
              <a:spcAft>
                <a:spcPts val="200"/>
              </a:spcAft>
            </a:pPr>
            <a:r>
              <a:rPr sz="860" b="0">
                <a:solidFill>
                  <a:srgbClr val="161616"/>
                </a:solidFill>
                <a:latin typeface="Segoe UI"/>
              </a:rPr>
              <a:t>Total ₹7.50/t → ≈70% margin.</a:t>
            </a:r>
          </a:p>
        </p:txBody>
      </p:sp>
      <p:sp>
        <p:nvSpPr>
          <p:cNvPr id="34" name="Rectangle 33"/>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All 13 template fields are in Pramaan_LeanCanvas.pdf / .pptx — this slide summarises the four that decide the venture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9144000" cy="256032"/>
          </a:xfrm>
          <a:prstGeom prst="rect">
            <a:avLst/>
          </a:prstGeom>
          <a:noFill/>
        </p:spPr>
        <p:txBody>
          <a:bodyPr wrap="square" lIns="0" tIns="0" rIns="0" bIns="0" anchor="t">
            <a:spAutoFit/>
          </a:bodyPr>
          <a:lstStyle/>
          <a:p>
            <a:pPr algn="l">
              <a:lnSpc>
                <a:spcPct val="100000"/>
              </a:lnSpc>
              <a:spcAft>
                <a:spcPts val="0"/>
              </a:spcAft>
            </a:pPr>
            <a:r>
              <a:rPr sz="1050" b="1">
                <a:solidFill>
                  <a:srgbClr val="8A3FFC"/>
                </a:solidFill>
                <a:latin typeface="Segoe UI"/>
              </a:rPr>
              <a:t>STEP 11 — FUTURE SCOPE, RISKS AND THE ASK</a:t>
            </a:r>
          </a:p>
        </p:txBody>
      </p:sp>
      <p:sp>
        <p:nvSpPr>
          <p:cNvPr id="4" name="TextBox 3"/>
          <p:cNvSpPr txBox="1"/>
          <p:nvPr/>
        </p:nvSpPr>
        <p:spPr>
          <a:xfrm>
            <a:off x="548640" y="475488"/>
            <a:ext cx="10424160" cy="640080"/>
          </a:xfrm>
          <a:prstGeom prst="rect">
            <a:avLst/>
          </a:prstGeom>
          <a:noFill/>
        </p:spPr>
        <p:txBody>
          <a:bodyPr wrap="square" lIns="0" tIns="0" rIns="0" bIns="0" anchor="t">
            <a:spAutoFit/>
          </a:bodyPr>
          <a:lstStyle/>
          <a:p>
            <a:pPr algn="l">
              <a:lnSpc>
                <a:spcPct val="100000"/>
              </a:lnSpc>
              <a:spcAft>
                <a:spcPts val="0"/>
              </a:spcAft>
            </a:pPr>
            <a:r>
              <a:rPr sz="2800" b="1">
                <a:solidFill>
                  <a:srgbClr val="161616"/>
                </a:solidFill>
                <a:latin typeface="Segoe UI"/>
              </a:rPr>
              <a:t>What we know we cannot do, and what we need next</a:t>
            </a:r>
          </a:p>
        </p:txBody>
      </p:sp>
      <p:sp>
        <p:nvSpPr>
          <p:cNvPr id="5" name="TextBox 4"/>
          <p:cNvSpPr txBox="1"/>
          <p:nvPr/>
        </p:nvSpPr>
        <p:spPr>
          <a:xfrm>
            <a:off x="11155680" y="256032"/>
            <a:ext cx="731520" cy="365760"/>
          </a:xfrm>
          <a:prstGeom prst="rect">
            <a:avLst/>
          </a:prstGeom>
          <a:noFill/>
        </p:spPr>
        <p:txBody>
          <a:bodyPr wrap="square" lIns="0" tIns="0" rIns="0" bIns="0" anchor="t">
            <a:spAutoFit/>
          </a:bodyPr>
          <a:lstStyle/>
          <a:p>
            <a:pPr algn="r">
              <a:lnSpc>
                <a:spcPct val="100000"/>
              </a:lnSpc>
              <a:spcAft>
                <a:spcPts val="0"/>
              </a:spcAft>
            </a:pPr>
            <a:r>
              <a:rPr sz="1300" b="0">
                <a:solidFill>
                  <a:srgbClr val="8D8D8D"/>
                </a:solidFill>
                <a:latin typeface="Segoe UI"/>
              </a:rPr>
              <a:t>12</a:t>
            </a:r>
          </a:p>
        </p:txBody>
      </p:sp>
      <p:sp>
        <p:nvSpPr>
          <p:cNvPr id="6" name="Rectangle 5"/>
          <p:cNvSpPr/>
          <p:nvPr/>
        </p:nvSpPr>
        <p:spPr>
          <a:xfrm>
            <a:off x="548640" y="1152144"/>
            <a:ext cx="1097280" cy="406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63040"/>
            <a:ext cx="5486400" cy="1874519"/>
          </a:xfrm>
          <a:prstGeom prst="roundRect">
            <a:avLst>
              <a:gd name="adj" fmla="val 8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54864" cy="1874519"/>
          </a:xfrm>
          <a:prstGeom prst="rect">
            <a:avLst/>
          </a:prstGeom>
          <a:solidFill>
            <a:srgbClr val="DA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91056"/>
            <a:ext cx="5029200" cy="274320"/>
          </a:xfrm>
          <a:prstGeom prst="rect">
            <a:avLst/>
          </a:prstGeom>
          <a:noFill/>
        </p:spPr>
        <p:txBody>
          <a:bodyPr wrap="square" lIns="0" tIns="0" rIns="0" bIns="0" anchor="t">
            <a:spAutoFit/>
          </a:bodyPr>
          <a:lstStyle/>
          <a:p>
            <a:pPr algn="l">
              <a:lnSpc>
                <a:spcPct val="100000"/>
              </a:lnSpc>
              <a:spcAft>
                <a:spcPts val="0"/>
              </a:spcAft>
            </a:pPr>
            <a:r>
              <a:rPr sz="1000" b="1">
                <a:solidFill>
                  <a:srgbClr val="DA1E28"/>
                </a:solidFill>
                <a:latin typeface="Segoe UI"/>
              </a:rPr>
              <a:t>DISCLOSED LIMITATION</a:t>
            </a:r>
          </a:p>
        </p:txBody>
      </p:sp>
      <p:sp>
        <p:nvSpPr>
          <p:cNvPr id="10" name="TextBox 9"/>
          <p:cNvSpPr txBox="1"/>
          <p:nvPr/>
        </p:nvSpPr>
        <p:spPr>
          <a:xfrm>
            <a:off x="777240" y="1883664"/>
            <a:ext cx="5074920" cy="457200"/>
          </a:xfrm>
          <a:prstGeom prst="rect">
            <a:avLst/>
          </a:prstGeom>
          <a:noFill/>
        </p:spPr>
        <p:txBody>
          <a:bodyPr wrap="square" lIns="0" tIns="0" rIns="0" bIns="0" anchor="t">
            <a:spAutoFit/>
          </a:bodyPr>
          <a:lstStyle/>
          <a:p>
            <a:pPr algn="l">
              <a:lnSpc>
                <a:spcPct val="105000"/>
              </a:lnSpc>
              <a:spcAft>
                <a:spcPts val="0"/>
              </a:spcAft>
            </a:pPr>
            <a:r>
              <a:rPr sz="1300" b="1">
                <a:solidFill>
                  <a:srgbClr val="161616"/>
                </a:solidFill>
                <a:latin typeface="Segoe UI"/>
              </a:rPr>
              <a:t>A fully forged but internally consistent document chain is not detectable.</a:t>
            </a:r>
          </a:p>
        </p:txBody>
      </p:sp>
      <p:sp>
        <p:nvSpPr>
          <p:cNvPr id="11" name="TextBox 10"/>
          <p:cNvSpPr txBox="1"/>
          <p:nvPr/>
        </p:nvSpPr>
        <p:spPr>
          <a:xfrm>
            <a:off x="777240" y="2377440"/>
            <a:ext cx="5029200" cy="914400"/>
          </a:xfrm>
          <a:prstGeom prst="rect">
            <a:avLst/>
          </a:prstGeom>
          <a:noFill/>
        </p:spPr>
        <p:txBody>
          <a:bodyPr wrap="square" lIns="0" tIns="0" rIns="0" bIns="0">
            <a:spAutoFit/>
          </a:bodyPr>
          <a:lstStyle/>
          <a:p>
            <a:pPr>
              <a:lnSpc>
                <a:spcPct val="103000"/>
              </a:lnSpc>
              <a:spcAft>
                <a:spcPts val="500"/>
              </a:spcAft>
            </a:pPr>
            <a:r>
              <a:rPr sz="980" b="1">
                <a:solidFill>
                  <a:srgbClr val="DA1E28"/>
                </a:solidFill>
                <a:latin typeface="Segoe UI"/>
              </a:rPr>
              <a:t>▪ </a:t>
            </a:r>
            <a:r>
              <a:rPr sz="980" b="1">
                <a:solidFill>
                  <a:srgbClr val="161616"/>
                </a:solidFill>
                <a:latin typeface="Segoe UI"/>
              </a:rPr>
              <a:t>Measured miss rate 1.00 </a:t>
            </a:r>
            <a:r>
              <a:rPr sz="980">
                <a:solidFill>
                  <a:srgbClr val="525252"/>
                </a:solidFill>
                <a:latin typeface="Segoe UI"/>
              </a:rPr>
              <a:t>on the documentation-perfect archetype — published, not hidden.</a:t>
            </a:r>
          </a:p>
          <a:p>
            <a:pPr>
              <a:lnSpc>
                <a:spcPct val="103000"/>
              </a:lnSpc>
              <a:spcAft>
                <a:spcPts val="500"/>
              </a:spcAft>
            </a:pPr>
            <a:r>
              <a:rPr sz="980" b="1">
                <a:solidFill>
                  <a:srgbClr val="DA1E28"/>
                </a:solidFill>
                <a:latin typeface="Segoe UI"/>
              </a:rPr>
              <a:t>▪ </a:t>
            </a:r>
            <a:r>
              <a:rPr sz="980" b="1">
                <a:solidFill>
                  <a:srgbClr val="161616"/>
                </a:solidFill>
                <a:latin typeface="Segoe UI"/>
              </a:rPr>
              <a:t>Mitigation: </a:t>
            </a:r>
            <a:r>
              <a:rPr sz="980">
                <a:solidFill>
                  <a:srgbClr val="525252"/>
                </a:solidFill>
                <a:latin typeface="Segoe UI"/>
              </a:rPr>
              <a:t>geotagged collection telemetry, weighbridge IoT, municipal route reconciliation, whistleblower channel.</a:t>
            </a:r>
          </a:p>
        </p:txBody>
      </p:sp>
      <p:sp>
        <p:nvSpPr>
          <p:cNvPr id="12" name="Rounded Rectangle 11"/>
          <p:cNvSpPr/>
          <p:nvPr/>
        </p:nvSpPr>
        <p:spPr>
          <a:xfrm>
            <a:off x="6263640" y="1463040"/>
            <a:ext cx="5376672" cy="1874519"/>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1591056"/>
            <a:ext cx="4937760" cy="274320"/>
          </a:xfrm>
          <a:prstGeom prst="rect">
            <a:avLst/>
          </a:prstGeom>
          <a:noFill/>
        </p:spPr>
        <p:txBody>
          <a:bodyPr wrap="square" lIns="0" tIns="0" rIns="0" bIns="0" anchor="t">
            <a:spAutoFit/>
          </a:bodyPr>
          <a:lstStyle/>
          <a:p>
            <a:pPr algn="l">
              <a:lnSpc>
                <a:spcPct val="100000"/>
              </a:lnSpc>
              <a:spcAft>
                <a:spcPts val="0"/>
              </a:spcAft>
            </a:pPr>
            <a:r>
              <a:rPr sz="1000" b="1">
                <a:solidFill>
                  <a:srgbClr val="0F62FE"/>
                </a:solidFill>
                <a:latin typeface="Segoe UI"/>
              </a:rPr>
              <a:t>ROADMAP</a:t>
            </a:r>
          </a:p>
        </p:txBody>
      </p:sp>
      <p:sp>
        <p:nvSpPr>
          <p:cNvPr id="14" name="TextBox 13"/>
          <p:cNvSpPr txBox="1"/>
          <p:nvPr/>
        </p:nvSpPr>
        <p:spPr>
          <a:xfrm>
            <a:off x="6473952" y="1901952"/>
            <a:ext cx="960120" cy="274320"/>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12 months</a:t>
            </a:r>
          </a:p>
        </p:txBody>
      </p:sp>
      <p:sp>
        <p:nvSpPr>
          <p:cNvPr id="15" name="TextBox 14"/>
          <p:cNvSpPr txBox="1"/>
          <p:nvPr/>
        </p:nvSpPr>
        <p:spPr>
          <a:xfrm>
            <a:off x="7498079" y="1901952"/>
            <a:ext cx="3931920" cy="411480"/>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Live pilot — 25,000 tonnes, 3 PIBOs, auditor-adjudicated recall, regulator empanelment</a:t>
            </a:r>
          </a:p>
        </p:txBody>
      </p:sp>
      <p:sp>
        <p:nvSpPr>
          <p:cNvPr id="16" name="TextBox 15"/>
          <p:cNvSpPr txBox="1"/>
          <p:nvPr/>
        </p:nvSpPr>
        <p:spPr>
          <a:xfrm>
            <a:off x="6473952" y="2359152"/>
            <a:ext cx="960120" cy="274320"/>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24 months</a:t>
            </a:r>
          </a:p>
        </p:txBody>
      </p:sp>
      <p:sp>
        <p:nvSpPr>
          <p:cNvPr id="17" name="TextBox 16"/>
          <p:cNvSpPr txBox="1"/>
          <p:nvPr/>
        </p:nvSpPr>
        <p:spPr>
          <a:xfrm>
            <a:off x="7498079" y="2359152"/>
            <a:ext cx="3931920" cy="411480"/>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Same engine across e-waste, battery, ELV, tyre and used-oil EPR — five more credit markets</a:t>
            </a:r>
          </a:p>
        </p:txBody>
      </p:sp>
      <p:sp>
        <p:nvSpPr>
          <p:cNvPr id="18" name="TextBox 17"/>
          <p:cNvSpPr txBox="1"/>
          <p:nvPr/>
        </p:nvSpPr>
        <p:spPr>
          <a:xfrm>
            <a:off x="6473952" y="2816352"/>
            <a:ext cx="960120" cy="274320"/>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36 months</a:t>
            </a:r>
          </a:p>
        </p:txBody>
      </p:sp>
      <p:sp>
        <p:nvSpPr>
          <p:cNvPr id="19" name="TextBox 18"/>
          <p:cNvSpPr txBox="1"/>
          <p:nvPr/>
        </p:nvSpPr>
        <p:spPr>
          <a:xfrm>
            <a:off x="7498079" y="2816352"/>
            <a:ext cx="3931920" cy="411480"/>
          </a:xfrm>
          <a:prstGeom prst="rect">
            <a:avLst/>
          </a:prstGeom>
          <a:noFill/>
        </p:spPr>
        <p:txBody>
          <a:bodyPr wrap="square" lIns="0" tIns="0" rIns="0" bIns="0" anchor="t">
            <a:spAutoFit/>
          </a:bodyPr>
          <a:lstStyle/>
          <a:p>
            <a:pPr algn="l">
              <a:lnSpc>
                <a:spcPct val="105000"/>
              </a:lnSpc>
              <a:spcAft>
                <a:spcPts val="0"/>
              </a:spcAft>
            </a:pPr>
            <a:r>
              <a:rPr sz="950" b="0">
                <a:solidFill>
                  <a:srgbClr val="525252"/>
                </a:solidFill>
                <a:latin typeface="Segoe UI"/>
              </a:rPr>
              <a:t>EU Digital Product Passport conformity — verified recycled content as market access</a:t>
            </a:r>
          </a:p>
        </p:txBody>
      </p:sp>
      <p:sp>
        <p:nvSpPr>
          <p:cNvPr id="20" name="Rounded Rectangle 19"/>
          <p:cNvSpPr/>
          <p:nvPr/>
        </p:nvSpPr>
        <p:spPr>
          <a:xfrm>
            <a:off x="548640" y="3520440"/>
            <a:ext cx="11091672" cy="1417320"/>
          </a:xfrm>
          <a:prstGeom prst="roundRect">
            <a:avLst>
              <a:gd name="adj" fmla="val 8000"/>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639312"/>
            <a:ext cx="10698480" cy="274320"/>
          </a:xfrm>
          <a:prstGeom prst="rect">
            <a:avLst/>
          </a:prstGeom>
          <a:noFill/>
        </p:spPr>
        <p:txBody>
          <a:bodyPr wrap="square" lIns="0" tIns="0" rIns="0" bIns="0" anchor="t">
            <a:spAutoFit/>
          </a:bodyPr>
          <a:lstStyle/>
          <a:p>
            <a:pPr algn="l">
              <a:lnSpc>
                <a:spcPct val="100000"/>
              </a:lnSpc>
              <a:spcAft>
                <a:spcPts val="0"/>
              </a:spcAft>
            </a:pPr>
            <a:r>
              <a:rPr sz="1000" b="1">
                <a:solidFill>
                  <a:srgbClr val="8A3FFC"/>
                </a:solidFill>
                <a:latin typeface="Segoe UI"/>
              </a:rPr>
              <a:t>STRATEGIC RISKS AND HOW WE ANSWER THEM</a:t>
            </a:r>
          </a:p>
        </p:txBody>
      </p:sp>
      <p:sp>
        <p:nvSpPr>
          <p:cNvPr id="22" name="TextBox 21"/>
          <p:cNvSpPr txBox="1"/>
          <p:nvPr/>
        </p:nvSpPr>
        <p:spPr>
          <a:xfrm>
            <a:off x="777240" y="3950208"/>
            <a:ext cx="3383280" cy="457200"/>
          </a:xfrm>
          <a:prstGeom prst="rect">
            <a:avLst/>
          </a:prstGeom>
          <a:noFill/>
        </p:spPr>
        <p:txBody>
          <a:bodyPr wrap="square" lIns="0" tIns="0" rIns="0" bIns="0" anchor="t">
            <a:spAutoFit/>
          </a:bodyPr>
          <a:lstStyle/>
          <a:p>
            <a:pPr algn="l">
              <a:lnSpc>
                <a:spcPct val="105000"/>
              </a:lnSpc>
              <a:spcAft>
                <a:spcPts val="0"/>
              </a:spcAft>
            </a:pPr>
            <a:r>
              <a:rPr sz="960" b="1">
                <a:solidFill>
                  <a:srgbClr val="161616"/>
                </a:solidFill>
                <a:latin typeface="Segoe UI"/>
              </a:rPr>
              <a:t>A credit supplier bundles its own “verification”</a:t>
            </a:r>
          </a:p>
        </p:txBody>
      </p:sp>
      <p:sp>
        <p:nvSpPr>
          <p:cNvPr id="23" name="TextBox 22"/>
          <p:cNvSpPr txBox="1"/>
          <p:nvPr/>
        </p:nvSpPr>
        <p:spPr>
          <a:xfrm>
            <a:off x="777240" y="4443984"/>
            <a:ext cx="3383280" cy="457200"/>
          </a:xfrm>
          <a:prstGeom prst="rect">
            <a:avLst/>
          </a:prstGeom>
          <a:noFill/>
        </p:spPr>
        <p:txBody>
          <a:bodyPr wrap="square" lIns="0" tIns="0" rIns="0" bIns="0" anchor="t">
            <a:spAutoFit/>
          </a:bodyPr>
          <a:lstStyle/>
          <a:p>
            <a:pPr algn="l">
              <a:lnSpc>
                <a:spcPct val="105000"/>
              </a:lnSpc>
              <a:spcAft>
                <a:spcPts val="0"/>
              </a:spcAft>
            </a:pPr>
            <a:r>
              <a:rPr sz="900" b="0">
                <a:solidFill>
                  <a:srgbClr val="525252"/>
                </a:solidFill>
                <a:latin typeface="Segoe UI"/>
              </a:rPr>
              <a:t>Publish the methodology and seek recognition as an independent standard; independence is the differentiator.</a:t>
            </a:r>
          </a:p>
        </p:txBody>
      </p:sp>
      <p:sp>
        <p:nvSpPr>
          <p:cNvPr id="24" name="TextBox 23"/>
          <p:cNvSpPr txBox="1"/>
          <p:nvPr/>
        </p:nvSpPr>
        <p:spPr>
          <a:xfrm>
            <a:off x="4361688" y="3950208"/>
            <a:ext cx="3383280" cy="457200"/>
          </a:xfrm>
          <a:prstGeom prst="rect">
            <a:avLst/>
          </a:prstGeom>
          <a:noFill/>
        </p:spPr>
        <p:txBody>
          <a:bodyPr wrap="square" lIns="0" tIns="0" rIns="0" bIns="0" anchor="t">
            <a:spAutoFit/>
          </a:bodyPr>
          <a:lstStyle/>
          <a:p>
            <a:pPr algn="l">
              <a:lnSpc>
                <a:spcPct val="105000"/>
              </a:lnSpc>
              <a:spcAft>
                <a:spcPts val="0"/>
              </a:spcAft>
            </a:pPr>
            <a:r>
              <a:rPr sz="960" b="1">
                <a:solidFill>
                  <a:srgbClr val="161616"/>
                </a:solidFill>
                <a:latin typeface="Segoe UI"/>
              </a:rPr>
              <a:t>Fraudsters adapt to forged-but-consistent evidence</a:t>
            </a:r>
          </a:p>
        </p:txBody>
      </p:sp>
      <p:sp>
        <p:nvSpPr>
          <p:cNvPr id="25" name="TextBox 24"/>
          <p:cNvSpPr txBox="1"/>
          <p:nvPr/>
        </p:nvSpPr>
        <p:spPr>
          <a:xfrm>
            <a:off x="4361688" y="4443984"/>
            <a:ext cx="3383280" cy="457200"/>
          </a:xfrm>
          <a:prstGeom prst="rect">
            <a:avLst/>
          </a:prstGeom>
          <a:noFill/>
        </p:spPr>
        <p:txBody>
          <a:bodyPr wrap="square" lIns="0" tIns="0" rIns="0" bIns="0" anchor="t">
            <a:spAutoFit/>
          </a:bodyPr>
          <a:lstStyle/>
          <a:p>
            <a:pPr algn="l">
              <a:lnSpc>
                <a:spcPct val="105000"/>
              </a:lnSpc>
              <a:spcAft>
                <a:spcPts val="0"/>
              </a:spcAft>
            </a:pPr>
            <a:r>
              <a:rPr sz="900" b="0" dirty="0">
                <a:solidFill>
                  <a:srgbClr val="525252"/>
                </a:solidFill>
                <a:latin typeface="Segoe UI"/>
              </a:rPr>
              <a:t>Shift weight to physical evidence: telemetry, IoT weighbridges, route reconciliation — and report the residual openly.</a:t>
            </a:r>
          </a:p>
        </p:txBody>
      </p:sp>
      <p:sp>
        <p:nvSpPr>
          <p:cNvPr id="26" name="TextBox 25"/>
          <p:cNvSpPr txBox="1"/>
          <p:nvPr/>
        </p:nvSpPr>
        <p:spPr>
          <a:xfrm>
            <a:off x="7946136" y="3950208"/>
            <a:ext cx="3383280" cy="457200"/>
          </a:xfrm>
          <a:prstGeom prst="rect">
            <a:avLst/>
          </a:prstGeom>
          <a:noFill/>
        </p:spPr>
        <p:txBody>
          <a:bodyPr wrap="square" lIns="0" tIns="0" rIns="0" bIns="0" anchor="t">
            <a:spAutoFit/>
          </a:bodyPr>
          <a:lstStyle/>
          <a:p>
            <a:pPr algn="l">
              <a:lnSpc>
                <a:spcPct val="105000"/>
              </a:lnSpc>
              <a:spcAft>
                <a:spcPts val="0"/>
              </a:spcAft>
            </a:pPr>
            <a:r>
              <a:rPr sz="960" b="1">
                <a:solidFill>
                  <a:srgbClr val="161616"/>
                </a:solidFill>
                <a:latin typeface="Segoe UI"/>
              </a:rPr>
              <a:t>CPCB writes the rules and we are not in them</a:t>
            </a:r>
          </a:p>
        </p:txBody>
      </p:sp>
      <p:sp>
        <p:nvSpPr>
          <p:cNvPr id="27" name="TextBox 26"/>
          <p:cNvSpPr txBox="1"/>
          <p:nvPr/>
        </p:nvSpPr>
        <p:spPr>
          <a:xfrm>
            <a:off x="7946136" y="4443984"/>
            <a:ext cx="3383280" cy="426079"/>
          </a:xfrm>
          <a:prstGeom prst="rect">
            <a:avLst/>
          </a:prstGeom>
          <a:noFill/>
        </p:spPr>
        <p:txBody>
          <a:bodyPr wrap="square" lIns="0" tIns="0" rIns="0" bIns="0" anchor="t">
            <a:spAutoFit/>
          </a:bodyPr>
          <a:lstStyle/>
          <a:p>
            <a:pPr algn="l">
              <a:lnSpc>
                <a:spcPct val="105000"/>
              </a:lnSpc>
              <a:spcAft>
                <a:spcPts val="0"/>
              </a:spcAft>
            </a:pPr>
            <a:r>
              <a:rPr sz="900" b="0" dirty="0">
                <a:solidFill>
                  <a:srgbClr val="525252"/>
                </a:solidFill>
                <a:latin typeface="Segoe UI"/>
              </a:rPr>
              <a:t>The 2026 Rules require CPCB to prescribe verification guidelines. </a:t>
            </a:r>
            <a:r>
              <a:rPr lang="en-US" sz="900" b="0" dirty="0">
                <a:solidFill>
                  <a:srgbClr val="525252"/>
                </a:solidFill>
                <a:latin typeface="Segoe UI"/>
              </a:rPr>
              <a:t>If it empanels named agencies, partner with one. </a:t>
            </a:r>
            <a:r>
              <a:rPr sz="900" b="0" dirty="0">
                <a:solidFill>
                  <a:srgbClr val="525252"/>
                </a:solidFill>
                <a:latin typeface="Segoe UI"/>
              </a:rPr>
              <a:t>This is the risk most likely to end the idea, which is why the pilot is scoped so small.</a:t>
            </a:r>
          </a:p>
        </p:txBody>
      </p:sp>
      <p:sp>
        <p:nvSpPr>
          <p:cNvPr id="28" name="Rounded Rectangle 27"/>
          <p:cNvSpPr/>
          <p:nvPr/>
        </p:nvSpPr>
        <p:spPr>
          <a:xfrm>
            <a:off x="548640" y="5102352"/>
            <a:ext cx="11091672" cy="1097280"/>
          </a:xfrm>
          <a:prstGeom prst="roundRect">
            <a:avLst>
              <a:gd name="adj" fmla="val 8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230368"/>
            <a:ext cx="5486400" cy="457200"/>
          </a:xfrm>
          <a:prstGeom prst="rect">
            <a:avLst/>
          </a:prstGeom>
          <a:noFill/>
        </p:spPr>
        <p:txBody>
          <a:bodyPr wrap="square" lIns="0" tIns="0" rIns="0" bIns="0" anchor="t">
            <a:spAutoFit/>
          </a:bodyPr>
          <a:lstStyle/>
          <a:p>
            <a:pPr algn="l">
              <a:lnSpc>
                <a:spcPct val="100000"/>
              </a:lnSpc>
              <a:spcAft>
                <a:spcPts val="0"/>
              </a:spcAft>
            </a:pPr>
            <a:r>
              <a:rPr sz="1500" b="1">
                <a:solidFill>
                  <a:srgbClr val="FFFFFF"/>
                </a:solidFill>
                <a:latin typeface="Segoe UI"/>
              </a:rPr>
              <a:t>The ask: one pilot partner, one independent audit partner.</a:t>
            </a:r>
          </a:p>
        </p:txBody>
      </p:sp>
      <p:sp>
        <p:nvSpPr>
          <p:cNvPr id="30" name="TextBox 29"/>
          <p:cNvSpPr txBox="1"/>
          <p:nvPr/>
        </p:nvSpPr>
        <p:spPr>
          <a:xfrm>
            <a:off x="822960" y="5687568"/>
            <a:ext cx="7315200" cy="411480"/>
          </a:xfrm>
          <a:prstGeom prst="rect">
            <a:avLst/>
          </a:prstGeom>
          <a:noFill/>
        </p:spPr>
        <p:txBody>
          <a:bodyPr wrap="square" lIns="0" tIns="0" rIns="0" bIns="0" anchor="t">
            <a:spAutoFit/>
          </a:bodyPr>
          <a:lstStyle/>
          <a:p>
            <a:pPr algn="l">
              <a:lnSpc>
                <a:spcPct val="110000"/>
              </a:lnSpc>
              <a:spcAft>
                <a:spcPts val="0"/>
              </a:spcAft>
            </a:pPr>
            <a:r>
              <a:rPr sz="1050" b="0">
                <a:solidFill>
                  <a:srgbClr val="D4E2FF"/>
                </a:solidFill>
                <a:latin typeface="Segoe UI"/>
              </a:rPr>
              <a:t>Together we can turn a measured prototype into the verified infrastructure that India's EPR market needs before these certificates are traded.</a:t>
            </a:r>
          </a:p>
        </p:txBody>
      </p:sp>
      <p:sp>
        <p:nvSpPr>
          <p:cNvPr id="31" name="TextBox 30"/>
          <p:cNvSpPr txBox="1"/>
          <p:nvPr/>
        </p:nvSpPr>
        <p:spPr>
          <a:xfrm>
            <a:off x="8778240" y="5742432"/>
            <a:ext cx="2743200" cy="365760"/>
          </a:xfrm>
          <a:prstGeom prst="rect">
            <a:avLst/>
          </a:prstGeom>
          <a:noFill/>
        </p:spPr>
        <p:txBody>
          <a:bodyPr wrap="square" lIns="0" tIns="0" rIns="0" bIns="0" anchor="t">
            <a:spAutoFit/>
          </a:bodyPr>
          <a:lstStyle/>
          <a:p>
            <a:pPr algn="r">
              <a:lnSpc>
                <a:spcPct val="100000"/>
              </a:lnSpc>
              <a:spcAft>
                <a:spcPts val="0"/>
              </a:spcAft>
            </a:pPr>
            <a:r>
              <a:rPr sz="1200" b="1">
                <a:solidFill>
                  <a:srgbClr val="FFFFFF"/>
                </a:solidFill>
                <a:latin typeface="Segoe UI"/>
              </a:rPr>
              <a:t>Thank you · Questions</a:t>
            </a:r>
          </a:p>
        </p:txBody>
      </p:sp>
      <p:sp>
        <p:nvSpPr>
          <p:cNvPr id="32" name="Rectangle 31"/>
          <p:cNvSpPr/>
          <p:nvPr/>
        </p:nvSpPr>
        <p:spPr>
          <a:xfrm>
            <a:off x="0" y="6528816"/>
            <a:ext cx="12191695" cy="3291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6574536"/>
            <a:ext cx="10515600" cy="237744"/>
          </a:xfrm>
          <a:prstGeom prst="rect">
            <a:avLst/>
          </a:prstGeom>
          <a:noFill/>
        </p:spPr>
        <p:txBody>
          <a:bodyPr wrap="square" lIns="0" tIns="0" rIns="0" bIns="0" anchor="t">
            <a:spAutoFit/>
          </a:bodyPr>
          <a:lstStyle/>
          <a:p>
            <a:pPr algn="l">
              <a:lnSpc>
                <a:spcPct val="100000"/>
              </a:lnSpc>
              <a:spcAft>
                <a:spcPts val="0"/>
              </a:spcAft>
            </a:pPr>
            <a:r>
              <a:rPr sz="850" b="0">
                <a:solidFill>
                  <a:srgbClr val="8D8D8D"/>
                </a:solidFill>
                <a:latin typeface="Segoe UI"/>
              </a:rPr>
              <a:t>Pramaan AI · Disha Pirodiya · University Institute of Technology, RGPV, Bhopal · 5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4264</Words>
  <Application>Microsoft Office PowerPoint</Application>
  <PresentationFormat>Widescreen</PresentationFormat>
  <Paragraphs>423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IT'S MY PC</dc:creator>
  <cp:keywords/>
  <dc:description>generated using python-pptx</dc:description>
  <cp:lastModifiedBy>Disha Pirodiya</cp:lastModifiedBy>
  <cp:revision>3</cp:revision>
  <dcterms:created xsi:type="dcterms:W3CDTF">2013-01-27T09:14:16Z</dcterms:created>
  <dcterms:modified xsi:type="dcterms:W3CDTF">2026-10-01T16:34:39Z</dcterms:modified>
  <cp:category/>
</cp:coreProperties>
</file>