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9906000" cy="6858000" type="A4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ＭＳ Ｐゴシック" panose="020B0600070205080204" pitchFamily="34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ＭＳ Ｐゴシック" panose="020B0600070205080204" pitchFamily="34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ＭＳ Ｐゴシック" panose="020B0600070205080204" pitchFamily="34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ＭＳ Ｐゴシック" panose="020B0600070205080204" pitchFamily="34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ＭＳ Ｐゴシック" panose="020B0600070205080204" pitchFamily="34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ＭＳ Ｐゴシック" panose="020B0600070205080204" pitchFamily="34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ＭＳ Ｐゴシック" panose="020B0600070205080204" pitchFamily="34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ＭＳ Ｐゴシック" panose="020B0600070205080204" pitchFamily="34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ＭＳ Ｐゴシック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12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>
    <p:restoredLeft sz="4386"/>
    <p:restoredTop sz="94682"/>
  </p:normalViewPr>
  <p:slideViewPr>
    <p:cSldViewPr snapToObjects="1">
      <p:cViewPr>
        <p:scale>
          <a:sx n="100" d="100"/>
          <a:sy n="100" d="100"/>
        </p:scale>
        <p:origin x="182" y="-907"/>
      </p:cViewPr>
      <p:guideLst>
        <p:guide orient="horz" pos="2160"/>
        <p:guide pos="312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an Canv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/>
          <p:cNvSpPr>
            <a:spLocks noGrp="1"/>
          </p:cNvSpPr>
          <p:nvPr>
            <p:ph type="body" sz="quarter" idx="10"/>
          </p:nvPr>
        </p:nvSpPr>
        <p:spPr>
          <a:xfrm>
            <a:off x="309424" y="1066800"/>
            <a:ext cx="1754326" cy="1530000"/>
          </a:xfrm>
          <a:prstGeom prst="rect">
            <a:avLst/>
          </a:prstGeom>
          <a:solidFill>
            <a:srgbClr val="FFFFFF"/>
          </a:solidFill>
        </p:spPr>
        <p:txBody>
          <a:bodyPr vert="horz"/>
          <a:lstStyle>
            <a:lvl1pPr marL="0" indent="0">
              <a:buNone/>
              <a:defRPr sz="900"/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0" name="Text Placeholder 8"/>
          <p:cNvSpPr>
            <a:spLocks noGrp="1"/>
          </p:cNvSpPr>
          <p:nvPr>
            <p:ph type="body" sz="quarter" idx="11"/>
          </p:nvPr>
        </p:nvSpPr>
        <p:spPr>
          <a:xfrm>
            <a:off x="2185335" y="1066800"/>
            <a:ext cx="1754326" cy="1530000"/>
          </a:xfrm>
          <a:prstGeom prst="rect">
            <a:avLst/>
          </a:prstGeom>
          <a:solidFill>
            <a:srgbClr val="FFFFFF"/>
          </a:solidFill>
        </p:spPr>
        <p:txBody>
          <a:bodyPr vert="horz"/>
          <a:lstStyle>
            <a:lvl1pPr marL="0" indent="0">
              <a:buNone/>
              <a:defRPr sz="900"/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1" name="Text Placeholder 8"/>
          <p:cNvSpPr>
            <a:spLocks noGrp="1"/>
          </p:cNvSpPr>
          <p:nvPr>
            <p:ph type="body" sz="quarter" idx="12"/>
          </p:nvPr>
        </p:nvSpPr>
        <p:spPr>
          <a:xfrm>
            <a:off x="4067689" y="1066800"/>
            <a:ext cx="1754326" cy="1530000"/>
          </a:xfrm>
          <a:prstGeom prst="rect">
            <a:avLst/>
          </a:prstGeom>
          <a:solidFill>
            <a:srgbClr val="FFFFFF"/>
          </a:solidFill>
        </p:spPr>
        <p:txBody>
          <a:bodyPr vert="horz"/>
          <a:lstStyle>
            <a:lvl1pPr marL="0" indent="0">
              <a:buNone/>
              <a:defRPr sz="900"/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2" name="Text Placeholder 8"/>
          <p:cNvSpPr>
            <a:spLocks noGrp="1"/>
          </p:cNvSpPr>
          <p:nvPr>
            <p:ph type="body" sz="quarter" idx="13"/>
          </p:nvPr>
        </p:nvSpPr>
        <p:spPr>
          <a:xfrm>
            <a:off x="5948526" y="1056067"/>
            <a:ext cx="1754326" cy="1530000"/>
          </a:xfrm>
          <a:prstGeom prst="rect">
            <a:avLst/>
          </a:prstGeom>
          <a:solidFill>
            <a:srgbClr val="FFFFFF"/>
          </a:solidFill>
        </p:spPr>
        <p:txBody>
          <a:bodyPr vert="horz"/>
          <a:lstStyle>
            <a:lvl1pPr marL="0" indent="0">
              <a:buNone/>
              <a:defRPr sz="900"/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3" name="Text Placeholder 8"/>
          <p:cNvSpPr>
            <a:spLocks noGrp="1"/>
          </p:cNvSpPr>
          <p:nvPr>
            <p:ph type="body" sz="quarter" idx="14"/>
          </p:nvPr>
        </p:nvSpPr>
        <p:spPr>
          <a:xfrm>
            <a:off x="7835806" y="1056067"/>
            <a:ext cx="1754326" cy="1530000"/>
          </a:xfrm>
          <a:prstGeom prst="rect">
            <a:avLst/>
          </a:prstGeom>
          <a:solidFill>
            <a:srgbClr val="FFFFFF"/>
          </a:solidFill>
        </p:spPr>
        <p:txBody>
          <a:bodyPr vert="horz"/>
          <a:lstStyle>
            <a:lvl1pPr marL="0" indent="0">
              <a:buNone/>
              <a:defRPr sz="900"/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4" name="Text Placeholder 8"/>
          <p:cNvSpPr>
            <a:spLocks noGrp="1"/>
          </p:cNvSpPr>
          <p:nvPr>
            <p:ph type="body" sz="quarter" idx="15"/>
          </p:nvPr>
        </p:nvSpPr>
        <p:spPr>
          <a:xfrm>
            <a:off x="309424" y="2965800"/>
            <a:ext cx="1754326" cy="1530000"/>
          </a:xfrm>
          <a:prstGeom prst="rect">
            <a:avLst/>
          </a:prstGeom>
          <a:solidFill>
            <a:srgbClr val="FFFFFF"/>
          </a:solidFill>
        </p:spPr>
        <p:txBody>
          <a:bodyPr vert="horz"/>
          <a:lstStyle>
            <a:lvl1pPr marL="0" indent="0">
              <a:buNone/>
              <a:defRPr sz="900"/>
            </a:lvl1pPr>
          </a:lstStyle>
          <a:p>
            <a:pPr lvl="0"/>
            <a:endParaRPr lang="en-GB" dirty="0"/>
          </a:p>
        </p:txBody>
      </p:sp>
      <p:sp>
        <p:nvSpPr>
          <p:cNvPr id="15" name="Text Placeholder 8"/>
          <p:cNvSpPr>
            <a:spLocks noGrp="1"/>
          </p:cNvSpPr>
          <p:nvPr>
            <p:ph type="body" sz="quarter" idx="16"/>
          </p:nvPr>
        </p:nvSpPr>
        <p:spPr>
          <a:xfrm>
            <a:off x="2196704" y="2965800"/>
            <a:ext cx="1754326" cy="1530000"/>
          </a:xfrm>
          <a:prstGeom prst="rect">
            <a:avLst/>
          </a:prstGeom>
          <a:solidFill>
            <a:srgbClr val="FFFFFF"/>
          </a:solidFill>
        </p:spPr>
        <p:txBody>
          <a:bodyPr vert="horz"/>
          <a:lstStyle>
            <a:lvl1pPr marL="0" indent="0">
              <a:buNone/>
              <a:defRPr sz="900" baseline="0"/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6" name="Text Placeholder 8"/>
          <p:cNvSpPr>
            <a:spLocks noGrp="1"/>
          </p:cNvSpPr>
          <p:nvPr>
            <p:ph type="body" sz="quarter" idx="17"/>
          </p:nvPr>
        </p:nvSpPr>
        <p:spPr>
          <a:xfrm>
            <a:off x="4072615" y="2965800"/>
            <a:ext cx="1754326" cy="1530000"/>
          </a:xfrm>
          <a:prstGeom prst="rect">
            <a:avLst/>
          </a:prstGeom>
          <a:solidFill>
            <a:srgbClr val="FFFFFF"/>
          </a:solidFill>
        </p:spPr>
        <p:txBody>
          <a:bodyPr vert="horz"/>
          <a:lstStyle>
            <a:lvl1pPr marL="0" indent="0">
              <a:buNone/>
              <a:defRPr sz="900"/>
            </a:lvl1pPr>
          </a:lstStyle>
          <a:p>
            <a:pPr lvl="0"/>
            <a:endParaRPr lang="en-GB" dirty="0"/>
          </a:p>
        </p:txBody>
      </p:sp>
      <p:sp>
        <p:nvSpPr>
          <p:cNvPr id="17" name="Text Placeholder 8"/>
          <p:cNvSpPr>
            <a:spLocks noGrp="1"/>
          </p:cNvSpPr>
          <p:nvPr>
            <p:ph type="body" sz="quarter" idx="18"/>
          </p:nvPr>
        </p:nvSpPr>
        <p:spPr>
          <a:xfrm>
            <a:off x="5952078" y="2965800"/>
            <a:ext cx="1754326" cy="1530000"/>
          </a:xfrm>
          <a:prstGeom prst="rect">
            <a:avLst/>
          </a:prstGeom>
          <a:solidFill>
            <a:srgbClr val="FFFFFF"/>
          </a:solidFill>
        </p:spPr>
        <p:txBody>
          <a:bodyPr vert="horz"/>
          <a:lstStyle>
            <a:lvl1pPr marL="0" indent="0">
              <a:buNone/>
              <a:defRPr sz="900"/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8" name="Text Placeholder 8"/>
          <p:cNvSpPr>
            <a:spLocks noGrp="1"/>
          </p:cNvSpPr>
          <p:nvPr>
            <p:ph type="body" sz="quarter" idx="19"/>
          </p:nvPr>
        </p:nvSpPr>
        <p:spPr>
          <a:xfrm>
            <a:off x="7835806" y="2965563"/>
            <a:ext cx="1754326" cy="1530000"/>
          </a:xfrm>
          <a:prstGeom prst="rect">
            <a:avLst/>
          </a:prstGeom>
          <a:solidFill>
            <a:srgbClr val="FFFFFF"/>
          </a:solidFill>
        </p:spPr>
        <p:txBody>
          <a:bodyPr vert="horz"/>
          <a:lstStyle>
            <a:lvl1pPr marL="0" indent="0">
              <a:buNone/>
              <a:defRPr sz="900"/>
            </a:lvl1pPr>
          </a:lstStyle>
          <a:p>
            <a:pPr lvl="0"/>
            <a:endParaRPr lang="en-GB" dirty="0"/>
          </a:p>
        </p:txBody>
      </p:sp>
      <p:sp>
        <p:nvSpPr>
          <p:cNvPr id="19" name="Text Placeholder 8"/>
          <p:cNvSpPr>
            <a:spLocks noGrp="1"/>
          </p:cNvSpPr>
          <p:nvPr>
            <p:ph type="body" sz="quarter" idx="20"/>
          </p:nvPr>
        </p:nvSpPr>
        <p:spPr>
          <a:xfrm>
            <a:off x="309424" y="4876800"/>
            <a:ext cx="4561026" cy="1447800"/>
          </a:xfrm>
          <a:prstGeom prst="rect">
            <a:avLst/>
          </a:prstGeom>
          <a:solidFill>
            <a:srgbClr val="FFFFFF"/>
          </a:solidFill>
        </p:spPr>
        <p:txBody>
          <a:bodyPr vert="horz"/>
          <a:lstStyle>
            <a:lvl1pPr marL="0" indent="0">
              <a:buNone/>
              <a:defRPr sz="900" baseline="0"/>
            </a:lvl1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20" name="Text Placeholder 8"/>
          <p:cNvSpPr>
            <a:spLocks noGrp="1"/>
          </p:cNvSpPr>
          <p:nvPr>
            <p:ph type="body" sz="quarter" idx="21"/>
          </p:nvPr>
        </p:nvSpPr>
        <p:spPr>
          <a:xfrm>
            <a:off x="5056350" y="4876800"/>
            <a:ext cx="4533783" cy="1447800"/>
          </a:xfrm>
          <a:prstGeom prst="rect">
            <a:avLst/>
          </a:prstGeom>
          <a:solidFill>
            <a:srgbClr val="FFFFFF"/>
          </a:solidFill>
        </p:spPr>
        <p:txBody>
          <a:bodyPr vert="horz"/>
          <a:lstStyle>
            <a:lvl1pPr marL="0" indent="0">
              <a:buNone/>
              <a:defRPr sz="900"/>
            </a:lvl1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22" name="Text Placeholder 8"/>
          <p:cNvSpPr>
            <a:spLocks noGrp="1"/>
          </p:cNvSpPr>
          <p:nvPr>
            <p:ph type="body" sz="quarter" idx="22"/>
          </p:nvPr>
        </p:nvSpPr>
        <p:spPr>
          <a:xfrm>
            <a:off x="3962400" y="381000"/>
            <a:ext cx="1403350" cy="228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vert="horz"/>
          <a:lstStyle>
            <a:lvl1pPr marL="0" indent="0">
              <a:buNone/>
              <a:defRPr sz="900" baseline="0"/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3" name="Text Placeholder 8"/>
          <p:cNvSpPr>
            <a:spLocks noGrp="1"/>
          </p:cNvSpPr>
          <p:nvPr>
            <p:ph type="body" sz="quarter" idx="23"/>
          </p:nvPr>
        </p:nvSpPr>
        <p:spPr>
          <a:xfrm>
            <a:off x="5685201" y="381000"/>
            <a:ext cx="1403350" cy="228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vert="horz"/>
          <a:lstStyle>
            <a:lvl1pPr marL="0" indent="0">
              <a:buNone/>
              <a:defRPr sz="900"/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4" name="Text Placeholder 8"/>
          <p:cNvSpPr>
            <a:spLocks noGrp="1"/>
          </p:cNvSpPr>
          <p:nvPr>
            <p:ph type="body" sz="quarter" idx="24"/>
          </p:nvPr>
        </p:nvSpPr>
        <p:spPr>
          <a:xfrm>
            <a:off x="7759700" y="381000"/>
            <a:ext cx="1155700" cy="228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vert="horz"/>
          <a:lstStyle>
            <a:lvl1pPr marL="0" indent="0">
              <a:buNone/>
              <a:defRPr sz="900"/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5" name="Text Placeholder 8"/>
          <p:cNvSpPr>
            <a:spLocks noGrp="1"/>
          </p:cNvSpPr>
          <p:nvPr>
            <p:ph type="body" sz="quarter" idx="25"/>
          </p:nvPr>
        </p:nvSpPr>
        <p:spPr>
          <a:xfrm>
            <a:off x="9245600" y="381000"/>
            <a:ext cx="412750" cy="228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vert="horz"/>
          <a:lstStyle>
            <a:lvl1pPr marL="0" indent="0">
              <a:buNone/>
              <a:defRPr sz="900"/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0605412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Relationship Id="rId14" Type="http://schemas.openxmlformats.org/officeDocument/2006/relationships/image" Target="../media/image1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1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CC84F1C2-0B46-B162-FE42-C5225AD927A2}"/>
              </a:ext>
            </a:extLst>
          </p:cNvPr>
          <p:cNvSpPr/>
          <p:nvPr userDrawn="1"/>
        </p:nvSpPr>
        <p:spPr>
          <a:xfrm>
            <a:off x="244475" y="762000"/>
            <a:ext cx="9407525" cy="5638800"/>
          </a:xfrm>
          <a:prstGeom prst="rect">
            <a:avLst/>
          </a:prstGeom>
          <a:solidFill>
            <a:srgbClr val="FFFFFF"/>
          </a:solidFill>
          <a:ln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GB" dirty="0"/>
          </a:p>
        </p:txBody>
      </p:sp>
      <p:sp>
        <p:nvSpPr>
          <p:cNvPr id="1027" name="TextBox 6">
            <a:extLst>
              <a:ext uri="{FF2B5EF4-FFF2-40B4-BE49-F238E27FC236}">
                <a16:creationId xmlns:a16="http://schemas.microsoft.com/office/drawing/2014/main" id="{F3BFAA12-12FD-C2F9-1E2C-BF97E57328D4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247650" y="304800"/>
            <a:ext cx="2063750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GB" sz="1600" b="1">
                <a:latin typeface="Arial" charset="0"/>
                <a:cs typeface="Arial" charset="0"/>
              </a:rPr>
              <a:t>The Lean Canvas</a:t>
            </a:r>
          </a:p>
        </p:txBody>
      </p:sp>
      <p:sp>
        <p:nvSpPr>
          <p:cNvPr id="1028" name="TextBox 7">
            <a:extLst>
              <a:ext uri="{FF2B5EF4-FFF2-40B4-BE49-F238E27FC236}">
                <a16:creationId xmlns:a16="http://schemas.microsoft.com/office/drawing/2014/main" id="{C2B8C91F-6C90-EA11-4093-EB80C3A8F607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3860800" y="184150"/>
            <a:ext cx="1403350" cy="200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GB" sz="700" i="1">
                <a:latin typeface="Arial" charset="0"/>
                <a:cs typeface="Arial" charset="0"/>
              </a:rPr>
              <a:t>Designed for:</a:t>
            </a:r>
          </a:p>
        </p:txBody>
      </p:sp>
      <p:sp>
        <p:nvSpPr>
          <p:cNvPr id="1029" name="TextBox 8">
            <a:extLst>
              <a:ext uri="{FF2B5EF4-FFF2-40B4-BE49-F238E27FC236}">
                <a16:creationId xmlns:a16="http://schemas.microsoft.com/office/drawing/2014/main" id="{36CEB69F-27B7-52B0-2B0C-0DD4B9844B00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5586413" y="180975"/>
            <a:ext cx="1403350" cy="200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GB" sz="700" i="1">
                <a:latin typeface="Arial" charset="0"/>
                <a:cs typeface="Arial" charset="0"/>
              </a:rPr>
              <a:t>Designed by:</a:t>
            </a:r>
          </a:p>
        </p:txBody>
      </p:sp>
      <p:sp>
        <p:nvSpPr>
          <p:cNvPr id="1030" name="TextBox 9">
            <a:extLst>
              <a:ext uri="{FF2B5EF4-FFF2-40B4-BE49-F238E27FC236}">
                <a16:creationId xmlns:a16="http://schemas.microsoft.com/office/drawing/2014/main" id="{42C956DE-DB6E-5B0A-C12D-6D8FF7E7DDCC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7664450" y="180975"/>
            <a:ext cx="1214438" cy="203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GB" sz="700" i="1">
                <a:latin typeface="Arial" charset="0"/>
                <a:cs typeface="Arial" charset="0"/>
              </a:rPr>
              <a:t>Date:</a:t>
            </a:r>
          </a:p>
        </p:txBody>
      </p:sp>
      <p:sp>
        <p:nvSpPr>
          <p:cNvPr id="1031" name="TextBox 10">
            <a:extLst>
              <a:ext uri="{FF2B5EF4-FFF2-40B4-BE49-F238E27FC236}">
                <a16:creationId xmlns:a16="http://schemas.microsoft.com/office/drawing/2014/main" id="{E73D9424-159B-FAC8-84EF-B66615DF6048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9142413" y="180975"/>
            <a:ext cx="620712" cy="200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GB" sz="700" i="1">
                <a:latin typeface="Arial" charset="0"/>
                <a:cs typeface="Arial" charset="0"/>
              </a:rPr>
              <a:t>Version:</a:t>
            </a:r>
          </a:p>
        </p:txBody>
      </p:sp>
      <p:sp>
        <p:nvSpPr>
          <p:cNvPr id="1032" name="TextBox 11">
            <a:extLst>
              <a:ext uri="{FF2B5EF4-FFF2-40B4-BE49-F238E27FC236}">
                <a16:creationId xmlns:a16="http://schemas.microsoft.com/office/drawing/2014/main" id="{9AE1E47F-F3DA-4262-21E9-7FE54A845B26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244475" y="788988"/>
            <a:ext cx="1749425" cy="246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GB" sz="1000" b="1">
                <a:latin typeface="Arial" charset="0"/>
                <a:cs typeface="Arial" charset="0"/>
              </a:rPr>
              <a:t>Problem</a:t>
            </a:r>
          </a:p>
        </p:txBody>
      </p:sp>
      <p:sp>
        <p:nvSpPr>
          <p:cNvPr id="1033" name="TextBox 12">
            <a:extLst>
              <a:ext uri="{FF2B5EF4-FFF2-40B4-BE49-F238E27FC236}">
                <a16:creationId xmlns:a16="http://schemas.microsoft.com/office/drawing/2014/main" id="{DDE8EC7B-057E-B698-C102-3CEA872380AD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244475" y="2649538"/>
            <a:ext cx="1749425" cy="246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GB" sz="1000" b="1">
                <a:latin typeface="Arial" charset="0"/>
                <a:cs typeface="Arial" charset="0"/>
              </a:rPr>
              <a:t>Existing Alternatives</a:t>
            </a:r>
          </a:p>
        </p:txBody>
      </p:sp>
      <p:sp>
        <p:nvSpPr>
          <p:cNvPr id="1034" name="TextBox 13">
            <a:extLst>
              <a:ext uri="{FF2B5EF4-FFF2-40B4-BE49-F238E27FC236}">
                <a16:creationId xmlns:a16="http://schemas.microsoft.com/office/drawing/2014/main" id="{68D655AE-8B79-4DC9-EEF4-EC1C2E25EC0A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244475" y="4572000"/>
            <a:ext cx="1749425" cy="246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GB" sz="1000" b="1">
                <a:latin typeface="Arial" charset="0"/>
                <a:cs typeface="Arial" charset="0"/>
              </a:rPr>
              <a:t>Cost Structure</a:t>
            </a:r>
          </a:p>
        </p:txBody>
      </p:sp>
      <p:sp>
        <p:nvSpPr>
          <p:cNvPr id="1035" name="TextBox 14">
            <a:extLst>
              <a:ext uri="{FF2B5EF4-FFF2-40B4-BE49-F238E27FC236}">
                <a16:creationId xmlns:a16="http://schemas.microsoft.com/office/drawing/2014/main" id="{A083B10B-4FBB-721E-C68A-39B73FB5972E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2124075" y="788988"/>
            <a:ext cx="1751013" cy="246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GB" sz="1000" b="1">
                <a:latin typeface="Arial" charset="0"/>
                <a:cs typeface="Arial" charset="0"/>
              </a:rPr>
              <a:t>Solution</a:t>
            </a:r>
          </a:p>
        </p:txBody>
      </p:sp>
      <p:sp>
        <p:nvSpPr>
          <p:cNvPr id="1036" name="TextBox 15">
            <a:extLst>
              <a:ext uri="{FF2B5EF4-FFF2-40B4-BE49-F238E27FC236}">
                <a16:creationId xmlns:a16="http://schemas.microsoft.com/office/drawing/2014/main" id="{BCF70DB2-5222-8944-A207-6B880FB12867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2124075" y="2649538"/>
            <a:ext cx="1751013" cy="246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GB" sz="1000" b="1">
                <a:latin typeface="Arial" charset="0"/>
                <a:cs typeface="Arial" charset="0"/>
              </a:rPr>
              <a:t>Key Metrics</a:t>
            </a:r>
          </a:p>
        </p:txBody>
      </p:sp>
      <p:sp>
        <p:nvSpPr>
          <p:cNvPr id="1037" name="TextBox 16">
            <a:extLst>
              <a:ext uri="{FF2B5EF4-FFF2-40B4-BE49-F238E27FC236}">
                <a16:creationId xmlns:a16="http://schemas.microsoft.com/office/drawing/2014/main" id="{BD346FC0-6CC4-6870-D8FC-E1E4793CF236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4025900" y="788988"/>
            <a:ext cx="1749425" cy="246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GB" sz="1000" b="1">
                <a:latin typeface="Arial" charset="0"/>
                <a:cs typeface="Arial" charset="0"/>
              </a:rPr>
              <a:t>Unique Value Prop.</a:t>
            </a:r>
          </a:p>
        </p:txBody>
      </p:sp>
      <p:sp>
        <p:nvSpPr>
          <p:cNvPr id="1038" name="TextBox 17">
            <a:extLst>
              <a:ext uri="{FF2B5EF4-FFF2-40B4-BE49-F238E27FC236}">
                <a16:creationId xmlns:a16="http://schemas.microsoft.com/office/drawing/2014/main" id="{1E83E6FB-5A20-3F84-0BFE-53737A4B7C1D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4025900" y="2649538"/>
            <a:ext cx="1749425" cy="246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GB" sz="1000" b="1">
                <a:latin typeface="Arial" charset="0"/>
                <a:cs typeface="Arial" charset="0"/>
              </a:rPr>
              <a:t>High-Level Concept</a:t>
            </a:r>
          </a:p>
        </p:txBody>
      </p:sp>
      <p:sp>
        <p:nvSpPr>
          <p:cNvPr id="1039" name="TextBox 18">
            <a:extLst>
              <a:ext uri="{FF2B5EF4-FFF2-40B4-BE49-F238E27FC236}">
                <a16:creationId xmlns:a16="http://schemas.microsoft.com/office/drawing/2014/main" id="{FAF2C10C-9DA3-FACC-1AAD-ED7852F51774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5919788" y="782638"/>
            <a:ext cx="1749425" cy="246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GB" sz="1000" b="1">
                <a:latin typeface="Arial" charset="0"/>
                <a:cs typeface="Arial" charset="0"/>
              </a:rPr>
              <a:t>Unfair Advantage</a:t>
            </a:r>
          </a:p>
        </p:txBody>
      </p:sp>
      <p:sp>
        <p:nvSpPr>
          <p:cNvPr id="1040" name="TextBox 19">
            <a:extLst>
              <a:ext uri="{FF2B5EF4-FFF2-40B4-BE49-F238E27FC236}">
                <a16:creationId xmlns:a16="http://schemas.microsoft.com/office/drawing/2014/main" id="{FCB6FF1F-0A24-F20B-973C-FB680FEE381F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5919788" y="2643188"/>
            <a:ext cx="1749425" cy="247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GB" sz="1000" b="1">
                <a:latin typeface="Arial" charset="0"/>
                <a:cs typeface="Arial" charset="0"/>
              </a:rPr>
              <a:t>Channels</a:t>
            </a:r>
          </a:p>
        </p:txBody>
      </p:sp>
      <p:sp>
        <p:nvSpPr>
          <p:cNvPr id="1041" name="TextBox 20">
            <a:extLst>
              <a:ext uri="{FF2B5EF4-FFF2-40B4-BE49-F238E27FC236}">
                <a16:creationId xmlns:a16="http://schemas.microsoft.com/office/drawing/2014/main" id="{027A9CAF-E9CA-12C9-24CB-2672E2DC5DB1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7818438" y="788988"/>
            <a:ext cx="1749425" cy="246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GB" sz="1000" b="1">
                <a:latin typeface="Arial" charset="0"/>
                <a:cs typeface="Arial" charset="0"/>
              </a:rPr>
              <a:t>Customer Segments</a:t>
            </a:r>
          </a:p>
        </p:txBody>
      </p:sp>
      <p:sp>
        <p:nvSpPr>
          <p:cNvPr id="1042" name="TextBox 21">
            <a:extLst>
              <a:ext uri="{FF2B5EF4-FFF2-40B4-BE49-F238E27FC236}">
                <a16:creationId xmlns:a16="http://schemas.microsoft.com/office/drawing/2014/main" id="{F991EE49-93D4-33CC-9329-70711BE67C48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7818438" y="2649538"/>
            <a:ext cx="1749425" cy="246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GB" sz="1000" b="1">
                <a:latin typeface="Arial" charset="0"/>
                <a:cs typeface="Arial" charset="0"/>
              </a:rPr>
              <a:t>Early Adopters</a:t>
            </a:r>
          </a:p>
        </p:txBody>
      </p:sp>
      <p:sp>
        <p:nvSpPr>
          <p:cNvPr id="1043" name="TextBox 22">
            <a:extLst>
              <a:ext uri="{FF2B5EF4-FFF2-40B4-BE49-F238E27FC236}">
                <a16:creationId xmlns:a16="http://schemas.microsoft.com/office/drawing/2014/main" id="{FB24E147-5720-FD26-54BD-431C0C212B60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4973638" y="4572000"/>
            <a:ext cx="1749425" cy="246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GB" sz="1000" b="1">
                <a:latin typeface="Arial" charset="0"/>
                <a:cs typeface="Arial" charset="0"/>
              </a:rPr>
              <a:t>Revenue Streams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846A5FBE-559C-E63B-A39E-C07A2C88CB16}"/>
              </a:ext>
            </a:extLst>
          </p:cNvPr>
          <p:cNvSpPr/>
          <p:nvPr userDrawn="1"/>
        </p:nvSpPr>
        <p:spPr>
          <a:xfrm>
            <a:off x="244475" y="762000"/>
            <a:ext cx="1879600" cy="3810000"/>
          </a:xfrm>
          <a:prstGeom prst="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GB" dirty="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44734D1C-730D-7D75-E426-BB0DDDD03E93}"/>
              </a:ext>
            </a:extLst>
          </p:cNvPr>
          <p:cNvSpPr/>
          <p:nvPr userDrawn="1"/>
        </p:nvSpPr>
        <p:spPr>
          <a:xfrm>
            <a:off x="2124075" y="760413"/>
            <a:ext cx="1881188" cy="1882775"/>
          </a:xfrm>
          <a:prstGeom prst="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GB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013E5E55-A991-22FA-62D5-EB920F2D67F6}"/>
              </a:ext>
            </a:extLst>
          </p:cNvPr>
          <p:cNvSpPr/>
          <p:nvPr userDrawn="1"/>
        </p:nvSpPr>
        <p:spPr>
          <a:xfrm>
            <a:off x="2124075" y="2643188"/>
            <a:ext cx="1881188" cy="1928812"/>
          </a:xfrm>
          <a:prstGeom prst="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GB" dirty="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9B6679BD-3E20-C2D2-EC5D-1CA11EAB9649}"/>
              </a:ext>
            </a:extLst>
          </p:cNvPr>
          <p:cNvSpPr/>
          <p:nvPr userDrawn="1"/>
        </p:nvSpPr>
        <p:spPr>
          <a:xfrm>
            <a:off x="4005263" y="762000"/>
            <a:ext cx="1879600" cy="3810000"/>
          </a:xfrm>
          <a:prstGeom prst="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GB" dirty="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37222894-960C-0E63-B68C-46ACC744AB4D}"/>
              </a:ext>
            </a:extLst>
          </p:cNvPr>
          <p:cNvSpPr/>
          <p:nvPr userDrawn="1"/>
        </p:nvSpPr>
        <p:spPr>
          <a:xfrm>
            <a:off x="5884863" y="762000"/>
            <a:ext cx="1879600" cy="1882775"/>
          </a:xfrm>
          <a:prstGeom prst="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GB" dirty="0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78535D2E-F45E-A274-780B-8D8CA251FC19}"/>
              </a:ext>
            </a:extLst>
          </p:cNvPr>
          <p:cNvSpPr/>
          <p:nvPr userDrawn="1"/>
        </p:nvSpPr>
        <p:spPr>
          <a:xfrm>
            <a:off x="5884863" y="2643188"/>
            <a:ext cx="1879600" cy="1928812"/>
          </a:xfrm>
          <a:prstGeom prst="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GB" dirty="0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5685E534-21B9-9382-2D95-C4FB98D10774}"/>
              </a:ext>
            </a:extLst>
          </p:cNvPr>
          <p:cNvSpPr/>
          <p:nvPr userDrawn="1"/>
        </p:nvSpPr>
        <p:spPr>
          <a:xfrm>
            <a:off x="7770813" y="762000"/>
            <a:ext cx="1881187" cy="3810000"/>
          </a:xfrm>
          <a:prstGeom prst="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GB" dirty="0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3C03B74E-33DE-3416-7B08-A9A305E0CC40}"/>
              </a:ext>
            </a:extLst>
          </p:cNvPr>
          <p:cNvSpPr/>
          <p:nvPr userDrawn="1"/>
        </p:nvSpPr>
        <p:spPr>
          <a:xfrm>
            <a:off x="244475" y="4579938"/>
            <a:ext cx="4713288" cy="1820862"/>
          </a:xfrm>
          <a:prstGeom prst="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GB" dirty="0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8FEFD34B-CD71-5262-AF49-3809DB874A52}"/>
              </a:ext>
            </a:extLst>
          </p:cNvPr>
          <p:cNvSpPr/>
          <p:nvPr userDrawn="1"/>
        </p:nvSpPr>
        <p:spPr>
          <a:xfrm>
            <a:off x="4957763" y="4579938"/>
            <a:ext cx="4692650" cy="1820862"/>
          </a:xfrm>
          <a:prstGeom prst="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GB" dirty="0"/>
          </a:p>
        </p:txBody>
      </p:sp>
      <p:pic>
        <p:nvPicPr>
          <p:cNvPr id="1053" name="Picture 37" descr="channels.png">
            <a:extLst>
              <a:ext uri="{FF2B5EF4-FFF2-40B4-BE49-F238E27FC236}">
                <a16:creationId xmlns:a16="http://schemas.microsoft.com/office/drawing/2014/main" id="{9BF5487E-C325-C02B-260C-00849D4DC625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26313" y="2625725"/>
            <a:ext cx="288925" cy="28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54" name="Picture 38" descr="cost-structure.png">
            <a:extLst>
              <a:ext uri="{FF2B5EF4-FFF2-40B4-BE49-F238E27FC236}">
                <a16:creationId xmlns:a16="http://schemas.microsoft.com/office/drawing/2014/main" id="{213590D6-C309-DA16-1847-B27AF7DBCA00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05338" y="4572000"/>
            <a:ext cx="288925" cy="287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55" name="Picture 39" descr="customer-segments.png">
            <a:extLst>
              <a:ext uri="{FF2B5EF4-FFF2-40B4-BE49-F238E27FC236}">
                <a16:creationId xmlns:a16="http://schemas.microsoft.com/office/drawing/2014/main" id="{89C148CA-D10B-05B3-13E0-0433C615101D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55125" y="762000"/>
            <a:ext cx="288925" cy="287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56" name="Picture 40" descr="early-adopters.png">
            <a:extLst>
              <a:ext uri="{FF2B5EF4-FFF2-40B4-BE49-F238E27FC236}">
                <a16:creationId xmlns:a16="http://schemas.microsoft.com/office/drawing/2014/main" id="{CC999145-59CB-5894-221C-B5EA8C52A173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55125" y="2606675"/>
            <a:ext cx="288925" cy="287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57" name="Picture 41" descr="existing-alternatives.png">
            <a:extLst>
              <a:ext uri="{FF2B5EF4-FFF2-40B4-BE49-F238E27FC236}">
                <a16:creationId xmlns:a16="http://schemas.microsoft.com/office/drawing/2014/main" id="{6DE2CA3A-450F-0ABE-E66D-83443691CBC2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52600" y="2625725"/>
            <a:ext cx="287338" cy="28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58" name="Picture 42" descr="high-level-concept.png">
            <a:extLst>
              <a:ext uri="{FF2B5EF4-FFF2-40B4-BE49-F238E27FC236}">
                <a16:creationId xmlns:a16="http://schemas.microsoft.com/office/drawing/2014/main" id="{1A62DAF1-A9A6-973B-9C40-C4C46AE22412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32438" y="2625725"/>
            <a:ext cx="288925" cy="28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59" name="Picture 44" descr="key-metrics.png">
            <a:extLst>
              <a:ext uri="{FF2B5EF4-FFF2-40B4-BE49-F238E27FC236}">
                <a16:creationId xmlns:a16="http://schemas.microsoft.com/office/drawing/2014/main" id="{F67CA98B-2CBE-5467-9559-CB04BF6E3AFA}"/>
              </a:ext>
            </a:extLst>
          </p:cNvPr>
          <p:cNvPicPr>
            <a:picLocks noChangeAspect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52838" y="2625725"/>
            <a:ext cx="288925" cy="28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60" name="Picture 45" descr="problem.png">
            <a:extLst>
              <a:ext uri="{FF2B5EF4-FFF2-40B4-BE49-F238E27FC236}">
                <a16:creationId xmlns:a16="http://schemas.microsoft.com/office/drawing/2014/main" id="{8B9AB40E-517C-B9A7-5232-C81C0CA83D8A}"/>
              </a:ext>
            </a:extLst>
          </p:cNvPr>
          <p:cNvPicPr>
            <a:picLocks noChangeAspect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52600" y="762000"/>
            <a:ext cx="287338" cy="287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61" name="Picture 46" descr="revenue-streams.png">
            <a:extLst>
              <a:ext uri="{FF2B5EF4-FFF2-40B4-BE49-F238E27FC236}">
                <a16:creationId xmlns:a16="http://schemas.microsoft.com/office/drawing/2014/main" id="{D3F58C26-4A8B-7F5A-CE2B-3E0DF781315A}"/>
              </a:ext>
            </a:extLst>
          </p:cNvPr>
          <p:cNvPicPr>
            <a:picLocks noChangeAspect="1"/>
          </p:cNvPicPr>
          <p:nvPr userDrawn="1"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55125" y="4572000"/>
            <a:ext cx="288925" cy="287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62" name="Picture 47" descr="solution.png">
            <a:extLst>
              <a:ext uri="{FF2B5EF4-FFF2-40B4-BE49-F238E27FC236}">
                <a16:creationId xmlns:a16="http://schemas.microsoft.com/office/drawing/2014/main" id="{7F934967-AE1E-735B-4F0F-9FBFC877D8F2}"/>
              </a:ext>
            </a:extLst>
          </p:cNvPr>
          <p:cNvPicPr>
            <a:picLocks noChangeAspect="1"/>
          </p:cNvPicPr>
          <p:nvPr userDrawn="1"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52838" y="768350"/>
            <a:ext cx="288925" cy="287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63" name="Picture 48" descr="unfair-advantage.png">
            <a:extLst>
              <a:ext uri="{FF2B5EF4-FFF2-40B4-BE49-F238E27FC236}">
                <a16:creationId xmlns:a16="http://schemas.microsoft.com/office/drawing/2014/main" id="{49869DB2-5653-932E-3A08-DB00E2216887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26313" y="762000"/>
            <a:ext cx="288925" cy="287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64" name="Picture 49" descr="unique-value-proposition.png">
            <a:extLst>
              <a:ext uri="{FF2B5EF4-FFF2-40B4-BE49-F238E27FC236}">
                <a16:creationId xmlns:a16="http://schemas.microsoft.com/office/drawing/2014/main" id="{7C9CBF37-60F2-D528-A508-62C4C5540F1A}"/>
              </a:ext>
            </a:extLst>
          </p:cNvPr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32438" y="762000"/>
            <a:ext cx="288925" cy="287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Arial"/>
          <a:ea typeface="ＭＳ Ｐゴシック" charset="0"/>
          <a:cs typeface="Arial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Arial"/>
          <a:ea typeface="ＭＳ Ｐゴシック" charset="0"/>
          <a:cs typeface="Arial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Arial"/>
          <a:ea typeface="ＭＳ Ｐゴシック" charset="0"/>
          <a:cs typeface="Arial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rial"/>
          <a:ea typeface="ＭＳ Ｐゴシック" charset="0"/>
          <a:cs typeface="Arial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Arial"/>
          <a:ea typeface="ＭＳ Ｐゴシック" charset="0"/>
          <a:cs typeface="Arial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Arial"/>
          <a:ea typeface="ＭＳ Ｐゴシック" charset="0"/>
          <a:cs typeface="Arial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9" name="Text Placeholder 52">
            <a:extLst>
              <a:ext uri="{FF2B5EF4-FFF2-40B4-BE49-F238E27FC236}">
                <a16:creationId xmlns:a16="http://schemas.microsoft.com/office/drawing/2014/main" id="{9EB42E21-3DEB-5E98-967A-6101401DE43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 bwMode="auto">
          <a:xfrm>
            <a:off x="309563" y="1066800"/>
            <a:ext cx="1754187" cy="1530350"/>
          </a:xfrm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342900" lvl="0" indent="-342900" fontAlgn="t">
              <a:buFont typeface="+mj-lt"/>
              <a:buAutoNum type="arabicPeriod"/>
            </a:pPr>
            <a:r>
              <a:rPr lang="en-US" sz="700" dirty="0"/>
              <a:t>EPR recycling certificates are mostly accepted based on submitted documents. </a:t>
            </a:r>
          </a:p>
          <a:p>
            <a:pPr marL="342900" lvl="0" indent="-342900" fontAlgn="t">
              <a:buFont typeface="+mj-lt"/>
              <a:buAutoNum type="arabicPeriod"/>
            </a:pPr>
            <a:r>
              <a:rPr lang="en-US" sz="700" dirty="0"/>
              <a:t>Incorrect or fake claims can reduce trust in the recycling process. </a:t>
            </a:r>
          </a:p>
          <a:p>
            <a:pPr marL="342900" lvl="0" indent="-342900" fontAlgn="t">
              <a:buFont typeface="+mj-lt"/>
              <a:buAutoNum type="arabicPeriod"/>
            </a:pPr>
            <a:r>
              <a:rPr lang="en-US" sz="700" dirty="0"/>
              <a:t>Manual verification is slow and difficult when large numbers of certificates are involved.</a:t>
            </a:r>
          </a:p>
          <a:p>
            <a:pPr marL="228600" indent="-228600" eaLnBrk="1" hangingPunct="1">
              <a:buAutoNum type="arabicPeriod"/>
            </a:pPr>
            <a:endParaRPr lang="en-GB" altLang="en-US" sz="700" dirty="0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2050" name="Text Placeholder 53">
            <a:extLst>
              <a:ext uri="{FF2B5EF4-FFF2-40B4-BE49-F238E27FC236}">
                <a16:creationId xmlns:a16="http://schemas.microsoft.com/office/drawing/2014/main" id="{3BE7DC66-590D-34A6-AD07-C82F1B1DBA3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 bwMode="auto">
          <a:xfrm>
            <a:off x="2185988" y="1066800"/>
            <a:ext cx="1754187" cy="1530350"/>
          </a:xfrm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342900" lvl="0" indent="-342900" fontAlgn="t">
              <a:buFont typeface="+mj-lt"/>
              <a:buAutoNum type="arabicPeriod"/>
            </a:pPr>
            <a:r>
              <a:rPr lang="en-US" sz="700" dirty="0"/>
              <a:t>An AI-based verification system for EPR recycling certificates.</a:t>
            </a:r>
          </a:p>
          <a:p>
            <a:pPr marL="342900" lvl="0" indent="-342900" fontAlgn="t">
              <a:buFont typeface="+mj-lt"/>
              <a:buAutoNum type="arabicPeriod"/>
            </a:pPr>
            <a:r>
              <a:rPr lang="en-US" sz="700" dirty="0"/>
              <a:t>Checks invoices, transport records, weighbridge slips and supporting documents.</a:t>
            </a:r>
          </a:p>
          <a:p>
            <a:pPr marL="342900" lvl="0" indent="-342900" fontAlgn="t">
              <a:buFont typeface="+mj-lt"/>
              <a:buAutoNum type="arabicPeriod"/>
            </a:pPr>
            <a:r>
              <a:rPr lang="en-US" sz="700" dirty="0"/>
              <a:t>Identifies mismatches in capacity, material flow and reported recycling data.</a:t>
            </a:r>
          </a:p>
          <a:p>
            <a:pPr marL="342900" lvl="0" indent="-342900" fontAlgn="t">
              <a:buFont typeface="+mj-lt"/>
              <a:buAutoNum type="arabicPeriod"/>
            </a:pPr>
            <a:r>
              <a:rPr lang="en-US" sz="700" dirty="0"/>
              <a:t>Generates a simple verification report for regulators and companies.</a:t>
            </a:r>
          </a:p>
          <a:p>
            <a:pPr marL="228600" indent="-228600" eaLnBrk="1" hangingPunct="1">
              <a:buFont typeface="+mj-lt"/>
              <a:buAutoNum type="arabicPeriod"/>
            </a:pPr>
            <a:endParaRPr lang="en-GB" altLang="en-US" sz="700" dirty="0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2051" name="Text Placeholder 54">
            <a:extLst>
              <a:ext uri="{FF2B5EF4-FFF2-40B4-BE49-F238E27FC236}">
                <a16:creationId xmlns:a16="http://schemas.microsoft.com/office/drawing/2014/main" id="{4F72CEF1-1748-2A14-4C58-ADC8D62E0E5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 bwMode="auto">
          <a:xfrm>
            <a:off x="4067175" y="1066800"/>
            <a:ext cx="1754188" cy="1530350"/>
          </a:xfrm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fontAlgn="t"/>
            <a:r>
              <a:rPr lang="en-US" sz="700" b="1" dirty="0"/>
              <a:t>Making recycling certificate verification simple, transparent and reliable.</a:t>
            </a:r>
            <a:endParaRPr lang="en-US" sz="700" dirty="0"/>
          </a:p>
          <a:p>
            <a:pPr marL="342900" lvl="0" indent="-342900" fontAlgn="t">
              <a:buFont typeface="Arial" panose="020B0604020202020204" pitchFamily="34" charset="0"/>
              <a:buChar char="•"/>
            </a:pPr>
            <a:r>
              <a:rPr lang="en-US" sz="700" dirty="0"/>
              <a:t>Faster than manual audits.</a:t>
            </a:r>
          </a:p>
          <a:p>
            <a:pPr marL="342900" lvl="0" indent="-342900" fontAlgn="t">
              <a:buFont typeface="Arial" panose="020B0604020202020204" pitchFamily="34" charset="0"/>
              <a:buChar char="•"/>
            </a:pPr>
            <a:r>
              <a:rPr lang="en-US" sz="700" dirty="0"/>
              <a:t>Uses AI to analyze multiple documents together.</a:t>
            </a:r>
          </a:p>
          <a:p>
            <a:pPr marL="342900" lvl="0" indent="-342900" fontAlgn="t">
              <a:buFont typeface="Arial" panose="020B0604020202020204" pitchFamily="34" charset="0"/>
              <a:buChar char="•"/>
            </a:pPr>
            <a:r>
              <a:rPr lang="en-US" sz="700" dirty="0"/>
              <a:t>Supports responsible waste management.</a:t>
            </a:r>
          </a:p>
          <a:p>
            <a:pPr marL="342900" lvl="0" indent="-342900" fontAlgn="t">
              <a:buFont typeface="Arial" panose="020B0604020202020204" pitchFamily="34" charset="0"/>
              <a:buChar char="•"/>
            </a:pPr>
            <a:r>
              <a:rPr lang="en-US" sz="700" dirty="0"/>
              <a:t>Provides evidence-backed verification.</a:t>
            </a:r>
          </a:p>
          <a:p>
            <a:pPr marL="228600" indent="-228600" eaLnBrk="1" hangingPunct="1">
              <a:buAutoNum type="arabicPeriod"/>
            </a:pPr>
            <a:endParaRPr lang="en-GB" altLang="en-US" sz="700" dirty="0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2052" name="Text Placeholder 55">
            <a:extLst>
              <a:ext uri="{FF2B5EF4-FFF2-40B4-BE49-F238E27FC236}">
                <a16:creationId xmlns:a16="http://schemas.microsoft.com/office/drawing/2014/main" id="{BB9A4103-6491-9D2C-2E75-6AFA70A5D39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 bwMode="auto">
          <a:xfrm>
            <a:off x="5948363" y="1055688"/>
            <a:ext cx="1754187" cy="1530350"/>
          </a:xfrm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342900" lvl="0" indent="-342900" fontAlgn="t">
              <a:buFont typeface="Arial" panose="020B0604020202020204" pitchFamily="34" charset="0"/>
              <a:buChar char="•"/>
            </a:pPr>
            <a:r>
              <a:rPr lang="en-US" sz="700" dirty="0"/>
              <a:t>Combination of AI analysis and rule-based validation.</a:t>
            </a:r>
          </a:p>
          <a:p>
            <a:pPr marL="342900" lvl="0" indent="-342900" fontAlgn="t">
              <a:buFont typeface="Arial" panose="020B0604020202020204" pitchFamily="34" charset="0"/>
              <a:buChar char="•"/>
            </a:pPr>
            <a:r>
              <a:rPr lang="en-US" sz="700" dirty="0"/>
              <a:t>Built specifically for EPR certificate verification.</a:t>
            </a:r>
          </a:p>
          <a:p>
            <a:pPr marL="342900" lvl="0" indent="-342900" fontAlgn="t">
              <a:buFont typeface="Arial" panose="020B0604020202020204" pitchFamily="34" charset="0"/>
              <a:buChar char="•"/>
            </a:pPr>
            <a:r>
              <a:rPr lang="en-US" sz="700" dirty="0"/>
              <a:t>Independent verification approach.</a:t>
            </a:r>
          </a:p>
          <a:p>
            <a:pPr marL="342900" lvl="0" indent="-342900" fontAlgn="t">
              <a:buFont typeface="Arial" panose="020B0604020202020204" pitchFamily="34" charset="0"/>
              <a:buChar char="•"/>
            </a:pPr>
            <a:r>
              <a:rPr lang="en-US" sz="700" dirty="0"/>
              <a:t>Supports SDG 12: Responsible Consumption and Production.</a:t>
            </a:r>
          </a:p>
          <a:p>
            <a:pPr eaLnBrk="1" hangingPunct="1"/>
            <a:endParaRPr lang="en-GB" altLang="en-US" sz="700" dirty="0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2053" name="Text Placeholder 56">
            <a:extLst>
              <a:ext uri="{FF2B5EF4-FFF2-40B4-BE49-F238E27FC236}">
                <a16:creationId xmlns:a16="http://schemas.microsoft.com/office/drawing/2014/main" id="{9DCB60E2-C15C-0755-F4AC-1FA2D622F8F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 bwMode="auto">
          <a:xfrm>
            <a:off x="7835900" y="1055688"/>
            <a:ext cx="1754188" cy="1530350"/>
          </a:xfrm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342900" lvl="0" indent="-342900" fontAlgn="t">
              <a:buFont typeface="Arial" panose="020B0604020202020204" pitchFamily="34" charset="0"/>
              <a:buChar char="•"/>
            </a:pPr>
            <a:r>
              <a:rPr lang="en-US" sz="700" dirty="0"/>
              <a:t>FMCG companies.</a:t>
            </a:r>
          </a:p>
          <a:p>
            <a:pPr marL="342900" lvl="0" indent="-342900" fontAlgn="t">
              <a:buFont typeface="Arial" panose="020B0604020202020204" pitchFamily="34" charset="0"/>
              <a:buChar char="•"/>
            </a:pPr>
            <a:r>
              <a:rPr lang="en-US" sz="700" dirty="0"/>
              <a:t>Beverage and packaging companies.</a:t>
            </a:r>
          </a:p>
          <a:p>
            <a:pPr marL="342900" lvl="0" indent="-342900" fontAlgn="t">
              <a:buFont typeface="Arial" panose="020B0604020202020204" pitchFamily="34" charset="0"/>
              <a:buChar char="•"/>
            </a:pPr>
            <a:r>
              <a:rPr lang="en-US" sz="700" dirty="0"/>
              <a:t>E-commerce businesses.</a:t>
            </a:r>
          </a:p>
          <a:p>
            <a:pPr marL="342900" lvl="0" indent="-342900" fontAlgn="t">
              <a:buFont typeface="Arial" panose="020B0604020202020204" pitchFamily="34" charset="0"/>
              <a:buChar char="•"/>
            </a:pPr>
            <a:r>
              <a:rPr lang="en-US" sz="700" dirty="0"/>
              <a:t>CPCB and State Pollution Control Boards.</a:t>
            </a:r>
          </a:p>
          <a:p>
            <a:pPr marL="342900" lvl="0" indent="-342900" fontAlgn="t">
              <a:buFont typeface="Arial" panose="020B0604020202020204" pitchFamily="34" charset="0"/>
              <a:buChar char="•"/>
            </a:pPr>
            <a:r>
              <a:rPr lang="en-US" sz="700" dirty="0"/>
              <a:t>Recyclers and </a:t>
            </a:r>
            <a:r>
              <a:rPr lang="en-US" sz="700" dirty="0" err="1"/>
              <a:t>PROs.</a:t>
            </a:r>
            <a:endParaRPr lang="en-US" sz="700" dirty="0"/>
          </a:p>
          <a:p>
            <a:pPr eaLnBrk="1" hangingPunct="1"/>
            <a:endParaRPr lang="en-GB" altLang="en-US" sz="700" dirty="0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2054" name="Text Placeholder 57">
            <a:extLst>
              <a:ext uri="{FF2B5EF4-FFF2-40B4-BE49-F238E27FC236}">
                <a16:creationId xmlns:a16="http://schemas.microsoft.com/office/drawing/2014/main" id="{2C957823-F770-D6FB-72AF-107DED05943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 bwMode="auto">
          <a:xfrm>
            <a:off x="309563" y="2978150"/>
            <a:ext cx="1754187" cy="1517650"/>
          </a:xfrm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342900" lvl="0" indent="-342900" fontAlgn="t">
              <a:buFont typeface="Arial" panose="020B0604020202020204" pitchFamily="34" charset="0"/>
              <a:buChar char="•"/>
            </a:pPr>
            <a:r>
              <a:rPr lang="en-US" sz="700" dirty="0"/>
              <a:t>Self-declaration through EPR portals.</a:t>
            </a:r>
          </a:p>
          <a:p>
            <a:pPr marL="342900" lvl="0" indent="-342900" fontAlgn="t">
              <a:buFont typeface="Arial" panose="020B0604020202020204" pitchFamily="34" charset="0"/>
              <a:buChar char="•"/>
            </a:pPr>
            <a:r>
              <a:rPr lang="en-US" sz="700" dirty="0"/>
              <a:t>Manual audits and inspections.</a:t>
            </a:r>
          </a:p>
          <a:p>
            <a:pPr marL="342900" lvl="0" indent="-342900" fontAlgn="t">
              <a:buFont typeface="Arial" panose="020B0604020202020204" pitchFamily="34" charset="0"/>
              <a:buChar char="•"/>
            </a:pPr>
            <a:r>
              <a:rPr lang="en-US" sz="700" dirty="0"/>
              <a:t>Compliance consulting services.</a:t>
            </a:r>
          </a:p>
          <a:p>
            <a:pPr marL="342900" lvl="0" indent="-342900" fontAlgn="t">
              <a:buFont typeface="Arial" panose="020B0604020202020204" pitchFamily="34" charset="0"/>
              <a:buChar char="•"/>
            </a:pPr>
            <a:r>
              <a:rPr lang="en-US" sz="700" dirty="0"/>
              <a:t>Basic document verification processes.</a:t>
            </a:r>
          </a:p>
          <a:p>
            <a:pPr marL="342900" lvl="0" indent="-342900" fontAlgn="t">
              <a:buFont typeface="Arial" panose="020B0604020202020204" pitchFamily="34" charset="0"/>
              <a:buChar char="•"/>
            </a:pPr>
            <a:r>
              <a:rPr lang="en-US" sz="700" dirty="0"/>
              <a:t>Traditional assurance methods.</a:t>
            </a:r>
          </a:p>
        </p:txBody>
      </p:sp>
      <p:sp>
        <p:nvSpPr>
          <p:cNvPr id="2055" name="Text Placeholder 58">
            <a:extLst>
              <a:ext uri="{FF2B5EF4-FFF2-40B4-BE49-F238E27FC236}">
                <a16:creationId xmlns:a16="http://schemas.microsoft.com/office/drawing/2014/main" id="{6A3978B2-CCFD-850D-C6E9-E3AD246588D0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 bwMode="auto">
          <a:xfrm>
            <a:off x="2197100" y="2965450"/>
            <a:ext cx="1754188" cy="1530350"/>
          </a:xfrm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342900" lvl="0" indent="-342900" fontAlgn="t">
              <a:buFont typeface="Arial" panose="020B0604020202020204" pitchFamily="34" charset="0"/>
              <a:buChar char="•"/>
            </a:pPr>
            <a:r>
              <a:rPr lang="en-US" sz="700" dirty="0"/>
              <a:t>Certificates verified.</a:t>
            </a:r>
          </a:p>
          <a:p>
            <a:pPr marL="342900" lvl="0" indent="-342900" fontAlgn="t">
              <a:buFont typeface="Arial" panose="020B0604020202020204" pitchFamily="34" charset="0"/>
              <a:buChar char="•"/>
            </a:pPr>
            <a:r>
              <a:rPr lang="en-US" sz="700" dirty="0"/>
              <a:t>Fraudulent claims identified.</a:t>
            </a:r>
          </a:p>
          <a:p>
            <a:pPr marL="342900" lvl="0" indent="-342900" fontAlgn="t">
              <a:buFont typeface="Arial" panose="020B0604020202020204" pitchFamily="34" charset="0"/>
              <a:buChar char="•"/>
            </a:pPr>
            <a:r>
              <a:rPr lang="en-US" sz="700" dirty="0"/>
              <a:t>Verification accuracy.</a:t>
            </a:r>
          </a:p>
          <a:p>
            <a:pPr marL="342900" lvl="0" indent="-342900" fontAlgn="t">
              <a:buFont typeface="Arial" panose="020B0604020202020204" pitchFamily="34" charset="0"/>
              <a:buChar char="•"/>
            </a:pPr>
            <a:r>
              <a:rPr lang="en-US" sz="700" dirty="0"/>
              <a:t>Processing time reduced.</a:t>
            </a:r>
          </a:p>
          <a:p>
            <a:pPr marL="342900" lvl="0" indent="-342900" fontAlgn="t">
              <a:buFont typeface="Arial" panose="020B0604020202020204" pitchFamily="34" charset="0"/>
              <a:buChar char="•"/>
            </a:pPr>
            <a:r>
              <a:rPr lang="en-US" sz="700" dirty="0"/>
              <a:t>Reports generated.</a:t>
            </a:r>
          </a:p>
          <a:p>
            <a:pPr marL="342900" lvl="0" indent="-342900" fontAlgn="t">
              <a:buFont typeface="Arial" panose="020B0604020202020204" pitchFamily="34" charset="0"/>
              <a:buChar char="•"/>
            </a:pPr>
            <a:r>
              <a:rPr lang="en-US" sz="700" dirty="0"/>
              <a:t>Organizations onboarded.</a:t>
            </a:r>
          </a:p>
        </p:txBody>
      </p:sp>
      <p:sp>
        <p:nvSpPr>
          <p:cNvPr id="2056" name="Text Placeholder 59">
            <a:extLst>
              <a:ext uri="{FF2B5EF4-FFF2-40B4-BE49-F238E27FC236}">
                <a16:creationId xmlns:a16="http://schemas.microsoft.com/office/drawing/2014/main" id="{886A9CB8-A73F-1C02-A75B-17FCAAB2EFA9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 bwMode="auto">
          <a:xfrm>
            <a:off x="4071938" y="2965450"/>
            <a:ext cx="1755775" cy="1530350"/>
          </a:xfrm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fontAlgn="t"/>
            <a:r>
              <a:rPr lang="en-US" sz="700" b="1" dirty="0" err="1"/>
              <a:t>Pramaan</a:t>
            </a:r>
            <a:r>
              <a:rPr lang="en-US" sz="700" b="1" dirty="0"/>
              <a:t> AI = Trust Layer for Plastic Recycling Verification</a:t>
            </a:r>
            <a:endParaRPr lang="en-US" sz="700" dirty="0"/>
          </a:p>
          <a:p>
            <a:pPr marL="342900" lvl="0" indent="-342900" fontAlgn="t">
              <a:buFont typeface="Arial" panose="020B0604020202020204" pitchFamily="34" charset="0"/>
              <a:buChar char="•"/>
            </a:pPr>
            <a:r>
              <a:rPr lang="en-US" sz="700" dirty="0"/>
              <a:t>Verifies recycling claims using AI.</a:t>
            </a:r>
          </a:p>
          <a:p>
            <a:pPr marL="342900" lvl="0" indent="-342900" fontAlgn="t">
              <a:buFont typeface="Arial" panose="020B0604020202020204" pitchFamily="34" charset="0"/>
              <a:buChar char="•"/>
            </a:pPr>
            <a:r>
              <a:rPr lang="en-US" sz="700" dirty="0"/>
              <a:t>Improves transparency in EPR compliance.</a:t>
            </a:r>
          </a:p>
          <a:p>
            <a:pPr marL="342900" lvl="0" indent="-342900" fontAlgn="t">
              <a:buFont typeface="Arial" panose="020B0604020202020204" pitchFamily="34" charset="0"/>
              <a:buChar char="•"/>
            </a:pPr>
            <a:r>
              <a:rPr lang="en-US" sz="700" dirty="0"/>
              <a:t>Helps stakeholders make informed decisions.</a:t>
            </a:r>
          </a:p>
        </p:txBody>
      </p:sp>
      <p:sp>
        <p:nvSpPr>
          <p:cNvPr id="2057" name="Text Placeholder 60">
            <a:extLst>
              <a:ext uri="{FF2B5EF4-FFF2-40B4-BE49-F238E27FC236}">
                <a16:creationId xmlns:a16="http://schemas.microsoft.com/office/drawing/2014/main" id="{7D8183E9-0119-A7FF-9959-7A0F08F66B5C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 bwMode="auto">
          <a:xfrm>
            <a:off x="5951538" y="2965450"/>
            <a:ext cx="1754187" cy="1530350"/>
          </a:xfrm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342900" lvl="0" indent="-342900" fontAlgn="t">
              <a:buFont typeface="Arial" panose="020B0604020202020204" pitchFamily="34" charset="0"/>
              <a:buChar char="•"/>
            </a:pPr>
            <a:r>
              <a:rPr lang="en-US" sz="700" dirty="0"/>
              <a:t>Direct outreach to compliance teams.</a:t>
            </a:r>
          </a:p>
          <a:p>
            <a:pPr marL="342900" lvl="0" indent="-342900" fontAlgn="t">
              <a:buFont typeface="Arial" panose="020B0604020202020204" pitchFamily="34" charset="0"/>
              <a:buChar char="•"/>
            </a:pPr>
            <a:r>
              <a:rPr lang="en-US" sz="700" dirty="0"/>
              <a:t>Industry associations (CII, FICCI).</a:t>
            </a:r>
          </a:p>
          <a:p>
            <a:pPr marL="342900" lvl="0" indent="-342900" fontAlgn="t">
              <a:buFont typeface="Arial" panose="020B0604020202020204" pitchFamily="34" charset="0"/>
              <a:buChar char="•"/>
            </a:pPr>
            <a:r>
              <a:rPr lang="en-US" sz="700" dirty="0"/>
              <a:t>Sustainability conferences and forums.</a:t>
            </a:r>
          </a:p>
          <a:p>
            <a:pPr marL="342900" lvl="0" indent="-342900" fontAlgn="t">
              <a:buFont typeface="Arial" panose="020B0604020202020204" pitchFamily="34" charset="0"/>
              <a:buChar char="•"/>
            </a:pPr>
            <a:r>
              <a:rPr lang="en-US" sz="700" dirty="0"/>
              <a:t>University innovation programs.</a:t>
            </a:r>
          </a:p>
          <a:p>
            <a:pPr marL="342900" lvl="0" indent="-342900" fontAlgn="t">
              <a:buFont typeface="Arial" panose="020B0604020202020204" pitchFamily="34" charset="0"/>
              <a:buChar char="•"/>
            </a:pPr>
            <a:r>
              <a:rPr lang="en-US" sz="700" dirty="0"/>
              <a:t>Regulatory partnerships.</a:t>
            </a:r>
          </a:p>
        </p:txBody>
      </p:sp>
      <p:sp>
        <p:nvSpPr>
          <p:cNvPr id="2058" name="Text Placeholder 61">
            <a:extLst>
              <a:ext uri="{FF2B5EF4-FFF2-40B4-BE49-F238E27FC236}">
                <a16:creationId xmlns:a16="http://schemas.microsoft.com/office/drawing/2014/main" id="{45939F40-8A5D-5CEC-17B8-D7029CFEF5A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 bwMode="auto">
          <a:xfrm>
            <a:off x="7835900" y="2965450"/>
            <a:ext cx="1754188" cy="1530350"/>
          </a:xfrm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342900" lvl="0" indent="-342900" fontAlgn="t">
              <a:buFont typeface="Arial" panose="020B0604020202020204" pitchFamily="34" charset="0"/>
              <a:buChar char="•"/>
            </a:pPr>
            <a:r>
              <a:rPr lang="en-US" sz="700" dirty="0"/>
              <a:t>Companies handling large volumes of plastic packaging.</a:t>
            </a:r>
          </a:p>
          <a:p>
            <a:pPr marL="342900" lvl="0" indent="-342900" fontAlgn="t">
              <a:buFont typeface="Arial" panose="020B0604020202020204" pitchFamily="34" charset="0"/>
              <a:buChar char="•"/>
            </a:pPr>
            <a:r>
              <a:rPr lang="en-US" sz="700" dirty="0"/>
              <a:t>Organizations with strict compliance requirements.</a:t>
            </a:r>
          </a:p>
          <a:p>
            <a:pPr marL="342900" lvl="0" indent="-342900" fontAlgn="t">
              <a:buFont typeface="Arial" panose="020B0604020202020204" pitchFamily="34" charset="0"/>
              <a:buChar char="•"/>
            </a:pPr>
            <a:r>
              <a:rPr lang="en-US" sz="700" dirty="0"/>
              <a:t>Recyclers interested in transparent operations.</a:t>
            </a:r>
          </a:p>
          <a:p>
            <a:pPr marL="342900" lvl="0" indent="-342900" fontAlgn="t">
              <a:buFont typeface="Arial" panose="020B0604020202020204" pitchFamily="34" charset="0"/>
              <a:buChar char="•"/>
            </a:pPr>
            <a:r>
              <a:rPr lang="en-US" sz="700" dirty="0"/>
              <a:t>Pilot partners in the EPR ecosystem</a:t>
            </a:r>
          </a:p>
        </p:txBody>
      </p:sp>
      <p:sp>
        <p:nvSpPr>
          <p:cNvPr id="2059" name="Text Placeholder 62">
            <a:extLst>
              <a:ext uri="{FF2B5EF4-FFF2-40B4-BE49-F238E27FC236}">
                <a16:creationId xmlns:a16="http://schemas.microsoft.com/office/drawing/2014/main" id="{A7C46A6A-6CFB-7764-3455-1325915363B5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 bwMode="auto">
          <a:xfrm>
            <a:off x="309563" y="4876800"/>
            <a:ext cx="1876425" cy="1447800"/>
          </a:xfrm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en-GB" altLang="en-US" sz="700" dirty="0">
                <a:latin typeface="Arial" panose="020B0604020202020204" pitchFamily="34" charset="0"/>
                <a:ea typeface="ＭＳ Ｐゴシック" panose="020B0600070205080204" pitchFamily="34" charset="-128"/>
              </a:rPr>
              <a:t>Field sampling ₹5.00 a tonne (67% of cost)</a:t>
            </a:r>
          </a:p>
          <a:p>
            <a:pPr eaLnBrk="1" hangingPunct="1"/>
            <a:r>
              <a:rPr lang="en-GB" altLang="en-US" sz="700" dirty="0">
                <a:latin typeface="Arial" panose="020B0604020202020204" pitchFamily="34" charset="0"/>
                <a:ea typeface="ＭＳ Ｐゴシック" panose="020B0600070205080204" pitchFamily="34" charset="-128"/>
              </a:rPr>
              <a:t>Reading documents ₹0.45</a:t>
            </a:r>
          </a:p>
          <a:p>
            <a:pPr eaLnBrk="1" hangingPunct="1"/>
            <a:r>
              <a:rPr lang="en-GB" altLang="en-US" sz="700" dirty="0">
                <a:latin typeface="Arial" panose="020B0604020202020204" pitchFamily="34" charset="0"/>
                <a:ea typeface="ＭＳ Ｐゴシック" panose="020B0600070205080204" pitchFamily="34" charset="-128"/>
              </a:rPr>
              <a:t>Human review ₹0.32</a:t>
            </a:r>
          </a:p>
          <a:p>
            <a:pPr eaLnBrk="1" hangingPunct="1"/>
            <a:r>
              <a:rPr lang="en-GB" altLang="en-US" sz="700" dirty="0">
                <a:latin typeface="Arial" panose="020B0604020202020204" pitchFamily="34" charset="0"/>
                <a:ea typeface="ＭＳ Ｐゴシック" panose="020B0600070205080204" pitchFamily="34" charset="-128"/>
              </a:rPr>
              <a:t>Platform and hosting ₹0.20</a:t>
            </a:r>
          </a:p>
          <a:p>
            <a:pPr eaLnBrk="1" hangingPunct="1"/>
            <a:r>
              <a:rPr lang="en-GB" altLang="en-US" sz="700" dirty="0">
                <a:latin typeface="Arial" panose="020B0604020202020204" pitchFamily="34" charset="0"/>
                <a:ea typeface="ＭＳ Ｐゴシック" panose="020B0600070205080204" pitchFamily="34" charset="-128"/>
              </a:rPr>
              <a:t>Onboarding ₹1.50</a:t>
            </a:r>
          </a:p>
          <a:p>
            <a:pPr eaLnBrk="1" hangingPunct="1"/>
            <a:r>
              <a:rPr lang="en-GB" altLang="en-US" sz="700" dirty="0">
                <a:latin typeface="Arial" panose="020B0604020202020204" pitchFamily="34" charset="0"/>
                <a:ea typeface="ＭＳ Ｐゴシック" panose="020B0600070205080204" pitchFamily="34" charset="-128"/>
              </a:rPr>
              <a:t>Total ₹7.50 per verified tonne</a:t>
            </a:r>
          </a:p>
        </p:txBody>
      </p:sp>
      <p:sp>
        <p:nvSpPr>
          <p:cNvPr id="2060" name="Text Placeholder 63">
            <a:extLst>
              <a:ext uri="{FF2B5EF4-FFF2-40B4-BE49-F238E27FC236}">
                <a16:creationId xmlns:a16="http://schemas.microsoft.com/office/drawing/2014/main" id="{DF45C4D1-9FB6-4312-4D2E-612D8640ED96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 bwMode="auto">
          <a:xfrm>
            <a:off x="5056188" y="4876800"/>
            <a:ext cx="3402012" cy="1447800"/>
          </a:xfrm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en-GB" altLang="en-US" sz="700" dirty="0">
                <a:latin typeface="Arial" panose="020B0604020202020204" pitchFamily="34" charset="0"/>
                <a:ea typeface="ＭＳ Ｐゴシック" panose="020B0600070205080204" pitchFamily="34" charset="-128"/>
              </a:rPr>
              <a:t>₹25 per verified tonne (price not yet tested)</a:t>
            </a:r>
          </a:p>
          <a:p>
            <a:pPr eaLnBrk="1" hangingPunct="1"/>
            <a:r>
              <a:rPr lang="en-GB" altLang="en-US" sz="700" dirty="0">
                <a:latin typeface="Arial" panose="020B0604020202020204" pitchFamily="34" charset="0"/>
                <a:ea typeface="ＭＳ Ｐゴシック" panose="020B0600070205080204" pitchFamily="34" charset="-128"/>
              </a:rPr>
              <a:t>Annual subscription for 2026 compliance reporting</a:t>
            </a:r>
          </a:p>
          <a:p>
            <a:pPr eaLnBrk="1" hangingPunct="1"/>
            <a:r>
              <a:rPr lang="en-GB" altLang="en-US" sz="700" dirty="0">
                <a:latin typeface="Arial" panose="020B0604020202020204" pitchFamily="34" charset="0"/>
                <a:ea typeface="ＭＳ Ｐゴシック" panose="020B0600070205080204" pitchFamily="34" charset="-128"/>
              </a:rPr>
              <a:t>Fee per plant rated, refreshed each year</a:t>
            </a:r>
          </a:p>
          <a:p>
            <a:pPr eaLnBrk="1" hangingPunct="1"/>
            <a:r>
              <a:rPr lang="en-GB" altLang="en-US" sz="700" dirty="0">
                <a:latin typeface="Arial" panose="020B0604020202020204" pitchFamily="34" charset="0"/>
                <a:ea typeface="ＭＳ Ｐゴシック" panose="020B0600070205080204" pitchFamily="34" charset="-128"/>
              </a:rPr>
              <a:t>Data for lenders and insurers</a:t>
            </a:r>
          </a:p>
          <a:p>
            <a:pPr eaLnBrk="1" hangingPunct="1"/>
            <a:r>
              <a:rPr lang="en-GB" altLang="en-US" sz="700" dirty="0">
                <a:latin typeface="Arial" panose="020B0604020202020204" pitchFamily="34" charset="0"/>
                <a:ea typeface="ＭＳ Ｐゴシック" panose="020B0600070205080204" pitchFamily="34" charset="-128"/>
              </a:rPr>
              <a:t>Analytics licence for CPCB and State Boards</a:t>
            </a:r>
          </a:p>
          <a:p>
            <a:pPr eaLnBrk="1" hangingPunct="1"/>
            <a:endParaRPr lang="en-GB" altLang="en-US" sz="700" dirty="0">
              <a:latin typeface="Arial" panose="020B0604020202020204" pitchFamily="34" charset="0"/>
              <a:ea typeface="ＭＳ Ｐゴシック" panose="020B0600070205080204" pitchFamily="34" charset="-128"/>
            </a:endParaRPr>
          </a:p>
          <a:p>
            <a:pPr marL="342900" lvl="0" indent="-342900" fontAlgn="t">
              <a:buFont typeface="Arial" panose="020B0604020202020204" pitchFamily="34" charset="0"/>
              <a:buChar char="•"/>
            </a:pPr>
            <a:r>
              <a:rPr lang="en-US" sz="700" dirty="0"/>
              <a:t>Verification fee per certificate.</a:t>
            </a:r>
          </a:p>
          <a:p>
            <a:pPr marL="342900" lvl="0" indent="-342900" fontAlgn="t">
              <a:buFont typeface="Arial" panose="020B0604020202020204" pitchFamily="34" charset="0"/>
              <a:buChar char="•"/>
            </a:pPr>
            <a:r>
              <a:rPr lang="en-US" sz="700" dirty="0"/>
              <a:t>Subscription plans for organizations.</a:t>
            </a:r>
          </a:p>
          <a:p>
            <a:pPr marL="342900" lvl="0" indent="-342900" fontAlgn="t">
              <a:buFont typeface="Arial" panose="020B0604020202020204" pitchFamily="34" charset="0"/>
              <a:buChar char="•"/>
            </a:pPr>
            <a:r>
              <a:rPr lang="en-US" sz="700" dirty="0"/>
              <a:t>Compliance reporting services.</a:t>
            </a:r>
          </a:p>
          <a:p>
            <a:pPr marL="342900" lvl="0" indent="-342900" fontAlgn="t">
              <a:buFont typeface="Arial" panose="020B0604020202020204" pitchFamily="34" charset="0"/>
              <a:buChar char="•"/>
            </a:pPr>
            <a:r>
              <a:rPr lang="en-US" sz="700" dirty="0"/>
              <a:t>Analytics and dashboard access.</a:t>
            </a:r>
          </a:p>
          <a:p>
            <a:pPr marL="342900" lvl="0" indent="-342900" fontAlgn="t">
              <a:buFont typeface="Arial" panose="020B0604020202020204" pitchFamily="34" charset="0"/>
              <a:buChar char="•"/>
            </a:pPr>
            <a:r>
              <a:rPr lang="en-US" sz="700" dirty="0"/>
              <a:t>Future enterprise partnerships.</a:t>
            </a:r>
          </a:p>
          <a:p>
            <a:pPr eaLnBrk="1" hangingPunct="1"/>
            <a:endParaRPr lang="en-GB" altLang="en-US" sz="700" dirty="0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2061" name="Text Placeholder 64">
            <a:extLst>
              <a:ext uri="{FF2B5EF4-FFF2-40B4-BE49-F238E27FC236}">
                <a16:creationId xmlns:a16="http://schemas.microsoft.com/office/drawing/2014/main" id="{A8B65CBC-4801-2011-2EDE-1CDA3184ABDA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 bwMode="auto"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en-GB" altLang="en-US" sz="600" dirty="0">
                <a:latin typeface="Arial" panose="020B0604020202020204" pitchFamily="34" charset="0"/>
                <a:ea typeface="ＭＳ Ｐゴシック" panose="020B0600070205080204" pitchFamily="34" charset="-128"/>
              </a:rPr>
              <a:t>Pramaan AI</a:t>
            </a:r>
          </a:p>
        </p:txBody>
      </p:sp>
      <p:sp>
        <p:nvSpPr>
          <p:cNvPr id="2062" name="Text Placeholder 65">
            <a:extLst>
              <a:ext uri="{FF2B5EF4-FFF2-40B4-BE49-F238E27FC236}">
                <a16:creationId xmlns:a16="http://schemas.microsoft.com/office/drawing/2014/main" id="{BF6D44DF-B86D-2FB7-4B75-260991E1D333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 bwMode="auto">
          <a:xfrm>
            <a:off x="5684838" y="381000"/>
            <a:ext cx="1403350" cy="228600"/>
          </a:xfrm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sz="600"/>
              <a:t>Disha Pirodiya</a:t>
            </a:r>
            <a:endParaRPr lang="en-GB" altLang="en-US" sz="600" dirty="0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2063" name="Text Placeholder 66">
            <a:extLst>
              <a:ext uri="{FF2B5EF4-FFF2-40B4-BE49-F238E27FC236}">
                <a16:creationId xmlns:a16="http://schemas.microsoft.com/office/drawing/2014/main" id="{51CBA239-DF76-D4D8-7530-9EBBE36DA8FD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 bwMode="auto"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en-GB" altLang="en-US" sz="600" dirty="0">
                <a:latin typeface="Arial" panose="020B0604020202020204" pitchFamily="34" charset="0"/>
                <a:ea typeface="ＭＳ Ｐゴシック" panose="020B0600070205080204" pitchFamily="34" charset="-128"/>
              </a:rPr>
              <a:t>5 October 2026</a:t>
            </a:r>
          </a:p>
        </p:txBody>
      </p:sp>
      <p:sp>
        <p:nvSpPr>
          <p:cNvPr id="2064" name="Text Placeholder 67">
            <a:extLst>
              <a:ext uri="{FF2B5EF4-FFF2-40B4-BE49-F238E27FC236}">
                <a16:creationId xmlns:a16="http://schemas.microsoft.com/office/drawing/2014/main" id="{05454115-7289-DE9A-7842-38533E566125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 bwMode="auto"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en-GB" altLang="en-US" sz="600" dirty="0">
                <a:latin typeface="Arial" panose="020B0604020202020204" pitchFamily="34" charset="0"/>
                <a:ea typeface="ＭＳ Ｐゴシック" panose="020B0600070205080204" pitchFamily="34" charset="-128"/>
              </a:rPr>
              <a:t>2.0</a:t>
            </a:r>
          </a:p>
        </p:txBody>
      </p:sp>
      <p:sp>
        <p:nvSpPr>
          <p:cNvPr id="2065" name="Rectangle 51">
            <a:extLst>
              <a:ext uri="{FF2B5EF4-FFF2-40B4-BE49-F238E27FC236}">
                <a16:creationId xmlns:a16="http://schemas.microsoft.com/office/drawing/2014/main" id="{7FD50C1A-E81C-2164-D1BA-E3FED81F5C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7650" y="6457950"/>
            <a:ext cx="941070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lvl="0" fontAlgn="t">
              <a:lnSpc>
                <a:spcPct val="100000"/>
              </a:lnSpc>
            </a:pPr>
            <a:r>
              <a:rPr lang="en-US" sz="1000" b="1" dirty="0"/>
              <a:t>     Designed For:</a:t>
            </a:r>
            <a:r>
              <a:rPr lang="en-US" sz="1000" dirty="0"/>
              <a:t> </a:t>
            </a:r>
            <a:r>
              <a:rPr lang="en-US" sz="1000" dirty="0" err="1"/>
              <a:t>Pramaan</a:t>
            </a:r>
            <a:r>
              <a:rPr lang="en-US" sz="1000" dirty="0"/>
              <a:t> AI                                                    </a:t>
            </a:r>
            <a:r>
              <a:rPr lang="en-US" sz="1000" b="1" dirty="0"/>
              <a:t>Designed By:</a:t>
            </a:r>
            <a:r>
              <a:rPr lang="en-US" sz="1000" dirty="0"/>
              <a:t> Disha Pirodiya                                                           </a:t>
            </a:r>
            <a:r>
              <a:rPr lang="en-US" sz="1000" b="1" dirty="0"/>
              <a:t>Date:</a:t>
            </a:r>
            <a:r>
              <a:rPr lang="en-US" sz="1000" dirty="0"/>
              <a:t> 5 October 2026                                              </a:t>
            </a:r>
            <a:r>
              <a:rPr lang="en-US" sz="1000" b="1" dirty="0"/>
              <a:t>Version:</a:t>
            </a:r>
            <a:r>
              <a:rPr lang="en-US" sz="1000" dirty="0"/>
              <a:t> 2.0 </a:t>
            </a:r>
          </a:p>
          <a:p>
            <a:pPr eaLnBrk="1" hangingPunct="1"/>
            <a:r>
              <a:rPr lang="en-GB" altLang="en-US" sz="1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</p:txBody>
      </p:sp>
      <p:sp>
        <p:nvSpPr>
          <p:cNvPr id="5" name="Text Placeholder 62">
            <a:extLst>
              <a:ext uri="{FF2B5EF4-FFF2-40B4-BE49-F238E27FC236}">
                <a16:creationId xmlns:a16="http://schemas.microsoft.com/office/drawing/2014/main" id="{D7D7792B-7966-08F1-BC80-292E13C95A4A}"/>
              </a:ext>
            </a:extLst>
          </p:cNvPr>
          <p:cNvSpPr txBox="1">
            <a:spLocks/>
          </p:cNvSpPr>
          <p:nvPr/>
        </p:nvSpPr>
        <p:spPr bwMode="auto">
          <a:xfrm>
            <a:off x="2514600" y="4842998"/>
            <a:ext cx="2057400" cy="1447800"/>
          </a:xfrm>
          <a:prstGeom prst="rect">
            <a:avLst/>
          </a:prstGeom>
          <a:solidFill>
            <a:srgbClr val="FFFFFF"/>
          </a:solidFill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0" indent="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900" kern="1200" baseline="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1pPr>
            <a:lvl2pPr marL="742950" indent="-28575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2pPr>
            <a:lvl3pPr marL="11430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3pPr>
            <a:lvl4pPr marL="16002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4pPr>
            <a:lvl5pPr marL="20574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/>
            <a:r>
              <a:rPr lang="en-GB" altLang="en-US" sz="700" dirty="0">
                <a:latin typeface="Arial" panose="020B0604020202020204" pitchFamily="34" charset="0"/>
                <a:ea typeface="ＭＳ Ｐゴシック" panose="020B0600070205080204" pitchFamily="34" charset="-128"/>
              </a:rPr>
              <a:t>Engineering and product</a:t>
            </a:r>
          </a:p>
          <a:p>
            <a:pPr eaLnBrk="1" hangingPunct="1"/>
            <a:r>
              <a:rPr lang="en-GB" altLang="en-US" sz="700" dirty="0">
                <a:latin typeface="Arial" panose="020B0604020202020204" pitchFamily="34" charset="0"/>
                <a:ea typeface="ＭＳ Ｐゴシック" panose="020B0600070205080204" pitchFamily="34" charset="-128"/>
              </a:rPr>
              <a:t>Legal review of ratings</a:t>
            </a:r>
          </a:p>
          <a:p>
            <a:pPr eaLnBrk="1" hangingPunct="1"/>
            <a:r>
              <a:rPr lang="en-GB" altLang="en-US" sz="700" dirty="0">
                <a:latin typeface="Arial" panose="020B0604020202020204" pitchFamily="34" charset="0"/>
                <a:ea typeface="ＭＳ Ｐゴシック" panose="020B0600070205080204" pitchFamily="34" charset="-128"/>
              </a:rPr>
              <a:t>Sales and partnerships</a:t>
            </a:r>
          </a:p>
          <a:p>
            <a:pPr lvl="0" fontAlgn="t"/>
            <a:r>
              <a:rPr lang="en-GB" altLang="en-US" sz="700" dirty="0">
                <a:latin typeface="Arial" panose="020B0604020202020204" pitchFamily="34" charset="0"/>
                <a:ea typeface="ＭＳ Ｐゴシック" panose="020B0600070205080204" pitchFamily="34" charset="-128"/>
              </a:rPr>
              <a:t>Field partner payments</a:t>
            </a:r>
          </a:p>
          <a:p>
            <a:pPr lvl="0" fontAlgn="t"/>
            <a:r>
              <a:rPr lang="en-US" sz="700" dirty="0"/>
              <a:t>AI model development.</a:t>
            </a:r>
          </a:p>
          <a:p>
            <a:pPr lvl="0" fontAlgn="t"/>
            <a:r>
              <a:rPr lang="en-US" sz="700" dirty="0"/>
              <a:t>Cloud infrastructure.</a:t>
            </a:r>
          </a:p>
          <a:p>
            <a:pPr lvl="0" fontAlgn="t"/>
            <a:r>
              <a:rPr lang="en-US" sz="700" dirty="0"/>
              <a:t>Document processing.</a:t>
            </a:r>
          </a:p>
          <a:p>
            <a:pPr lvl="0" fontAlgn="t"/>
            <a:r>
              <a:rPr lang="en-US" sz="700" dirty="0"/>
              <a:t>Testing and validation.</a:t>
            </a:r>
          </a:p>
          <a:p>
            <a:pPr lvl="0" fontAlgn="t"/>
            <a:r>
              <a:rPr lang="en-US" sz="700" dirty="0"/>
              <a:t>Human review support.</a:t>
            </a:r>
          </a:p>
          <a:p>
            <a:pPr lvl="0" fontAlgn="t"/>
            <a:r>
              <a:rPr lang="en-US" sz="700" dirty="0"/>
              <a:t>Outreach and awareness activities.</a:t>
            </a:r>
          </a:p>
          <a:p>
            <a:pPr eaLnBrk="1" hangingPunct="1"/>
            <a:endParaRPr lang="en-GB" altLang="en-US" sz="700" dirty="0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Neos Chronos">
      <a:dk1>
        <a:srgbClr val="444444"/>
      </a:dk1>
      <a:lt1>
        <a:sysClr val="window" lastClr="FFFFFF"/>
      </a:lt1>
      <a:dk2>
        <a:srgbClr val="222222"/>
      </a:dk2>
      <a:lt2>
        <a:srgbClr val="F3F3F3"/>
      </a:lt2>
      <a:accent1>
        <a:srgbClr val="669933"/>
      </a:accent1>
      <a:accent2>
        <a:srgbClr val="38BEEA"/>
      </a:accent2>
      <a:accent3>
        <a:srgbClr val="EA38C0"/>
      </a:accent3>
      <a:accent4>
        <a:srgbClr val="EABB38"/>
      </a:accent4>
      <a:accent5>
        <a:srgbClr val="788C92"/>
      </a:accent5>
      <a:accent6>
        <a:srgbClr val="EA6238"/>
      </a:accent6>
      <a:hlink>
        <a:srgbClr val="787828"/>
      </a:hlink>
      <a:folHlink>
        <a:srgbClr val="9AA291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310</TotalTime>
  <Words>441</Words>
  <Application>Microsoft Office PowerPoint</Application>
  <PresentationFormat>A4 Paper (210x297 mm)</PresentationFormat>
  <Paragraphs>78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PowerPoint Presentation</vt:lpstr>
    </vt:vector>
  </TitlesOfParts>
  <Manager/>
  <Company>Neos Chronos Limited</Company>
  <LinksUpToDate>false</LinksUpToDate>
  <SharedDoc>false</SharedDoc>
  <HyperlinkBase>https://neoschronos.com/assets/</HyperlinkBase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Lean Canvas Template PPT</dc:title>
  <dc:subject/>
  <dc:creator>Thomas Papanikolaou</dc:creator>
  <cp:keywords>Lean Canvas, Template, Powerpoint, ppt, pptx, English, Free</cp:keywords>
  <dc:description>Lean Canvas is adapted from The Business Model Canvas (www.businessmodelgeneration.com/canvas). This work is licensed under the Creative Commons Attribution-Share Alike 3.0 Unported License.</dc:description>
  <cp:lastModifiedBy>Disha Pirodiya</cp:lastModifiedBy>
  <cp:revision>42</cp:revision>
  <cp:lastPrinted>2019-04-01T19:25:48Z</cp:lastPrinted>
  <dcterms:created xsi:type="dcterms:W3CDTF">2019-04-01T16:49:19Z</dcterms:created>
  <dcterms:modified xsi:type="dcterms:W3CDTF">2026-10-01T16:14:06Z</dcterms:modified>
  <cp:category>PowerPoint Template PPT</cp:category>
</cp:coreProperties>
</file>